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f1f7886474320" /><Relationship Type="http://schemas.openxmlformats.org/officeDocument/2006/relationships/extended-properties" Target="/docProps/app.xml" Id="Raa4b33c0b0974c36" /><Relationship Type="http://schemas.openxmlformats.org/officeDocument/2006/relationships/officeDocument" Target="/ppt/presentation.xml" Id="Rffd26c34ce814a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7daeb0dca640fb"/>
  </p:sldMasterIdLst>
  <p:notesMasterIdLst>
    <p:notesMasterId xmlns:r="http://schemas.openxmlformats.org/officeDocument/2006/relationships" r:id="R2fb37ad28ee840ba"/>
  </p:notesMasterIdLst>
  <p:sldIdLst>
    <p:sldId xmlns:r="http://schemas.openxmlformats.org/officeDocument/2006/relationships" id="256" r:id="Rea021a43dff54770"/>
    <p:sldId xmlns:r="http://schemas.openxmlformats.org/officeDocument/2006/relationships" id="257" r:id="R78bddb11824a4a22"/>
    <p:sldId xmlns:r="http://schemas.openxmlformats.org/officeDocument/2006/relationships" id="258" r:id="Rb8b6c61cc37c4357"/>
    <p:sldId xmlns:r="http://schemas.openxmlformats.org/officeDocument/2006/relationships" id="259" r:id="Ra2a8fef2c13f4be7"/>
    <p:sldId xmlns:r="http://schemas.openxmlformats.org/officeDocument/2006/relationships" id="260" r:id="R41236039b0c2444d"/>
    <p:sldId xmlns:r="http://schemas.openxmlformats.org/officeDocument/2006/relationships" id="261" r:id="R05cff8474c0c41e9"/>
    <p:sldId xmlns:r="http://schemas.openxmlformats.org/officeDocument/2006/relationships" id="262" r:id="R495661ed89294bf9"/>
    <p:sldId xmlns:r="http://schemas.openxmlformats.org/officeDocument/2006/relationships" id="263" r:id="R7e175b41d9344b3c"/>
    <p:sldId xmlns:r="http://schemas.openxmlformats.org/officeDocument/2006/relationships" id="264" r:id="Ra8f8e125930a40b8"/>
    <p:sldId xmlns:r="http://schemas.openxmlformats.org/officeDocument/2006/relationships" id="265" r:id="R10367ed867684ab5"/>
    <p:sldId xmlns:r="http://schemas.openxmlformats.org/officeDocument/2006/relationships" id="266" r:id="R6fd9a67745f7472e"/>
    <p:sldId xmlns:r="http://schemas.openxmlformats.org/officeDocument/2006/relationships" id="267" r:id="R6de2fc550fdf47aa"/>
    <p:sldId xmlns:r="http://schemas.openxmlformats.org/officeDocument/2006/relationships" id="268" r:id="Rac8cd3e68ea14b60"/>
    <p:sldId xmlns:r="http://schemas.openxmlformats.org/officeDocument/2006/relationships" id="269" r:id="Raeee02e9034c4b84"/>
    <p:sldId xmlns:r="http://schemas.openxmlformats.org/officeDocument/2006/relationships" id="270" r:id="Ra7a8d0b472124b9c"/>
    <p:sldId xmlns:r="http://schemas.openxmlformats.org/officeDocument/2006/relationships" id="271" r:id="R453591329ab7441c"/>
    <p:sldId xmlns:r="http://schemas.openxmlformats.org/officeDocument/2006/relationships" id="272" r:id="R4c24422faf774736"/>
    <p:sldId xmlns:r="http://schemas.openxmlformats.org/officeDocument/2006/relationships" id="273" r:id="R2f11c439d3484a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d8c96ef3c4406c" /><Relationship Type="http://schemas.openxmlformats.org/officeDocument/2006/relationships/slideMaster" Target="/ppt/slideMasters/slideMaster1.xml" Id="Rfd7daeb0dca640fb" /><Relationship Type="http://schemas.openxmlformats.org/officeDocument/2006/relationships/notesMaster" Target="/ppt/notesMasters/notesMaster1.xml" Id="R2fb37ad28ee840ba" /><Relationship Type="http://schemas.openxmlformats.org/officeDocument/2006/relationships/presProps" Target="/ppt/presProps.xml" Id="R5346a893928b4d19" /><Relationship Type="http://schemas.openxmlformats.org/officeDocument/2006/relationships/viewProps" Target="/ppt/viewProps.xml" Id="Rc1072f4fd821405b" /><Relationship Type="http://schemas.openxmlformats.org/officeDocument/2006/relationships/tableStyles" Target="/ppt/tableStyles.xml" Id="R05ba3000d5c84b7c" /><Relationship Type="http://schemas.openxmlformats.org/officeDocument/2006/relationships/slide" Target="/ppt/slides/slide1.xml" Id="Rea021a43dff54770" /><Relationship Type="http://schemas.openxmlformats.org/officeDocument/2006/relationships/slide" Target="/ppt/slides/slide2.xml" Id="R78bddb11824a4a22" /><Relationship Type="http://schemas.openxmlformats.org/officeDocument/2006/relationships/slide" Target="/ppt/slides/slide3.xml" Id="Rb8b6c61cc37c4357" /><Relationship Type="http://schemas.openxmlformats.org/officeDocument/2006/relationships/slide" Target="/ppt/slides/slide4.xml" Id="Ra2a8fef2c13f4be7" /><Relationship Type="http://schemas.openxmlformats.org/officeDocument/2006/relationships/slide" Target="/ppt/slides/slide5.xml" Id="R41236039b0c2444d" /><Relationship Type="http://schemas.openxmlformats.org/officeDocument/2006/relationships/slide" Target="/ppt/slides/slide6.xml" Id="R05cff8474c0c41e9" /><Relationship Type="http://schemas.openxmlformats.org/officeDocument/2006/relationships/slide" Target="/ppt/slides/slide7.xml" Id="R495661ed89294bf9" /><Relationship Type="http://schemas.openxmlformats.org/officeDocument/2006/relationships/slide" Target="/ppt/slides/slide8.xml" Id="R7e175b41d9344b3c" /><Relationship Type="http://schemas.openxmlformats.org/officeDocument/2006/relationships/slide" Target="/ppt/slides/slide9.xml" Id="Ra8f8e125930a40b8" /><Relationship Type="http://schemas.openxmlformats.org/officeDocument/2006/relationships/slide" Target="/ppt/slides/slide10.xml" Id="R10367ed867684ab5" /><Relationship Type="http://schemas.openxmlformats.org/officeDocument/2006/relationships/slide" Target="/ppt/slides/slide11.xml" Id="R6fd9a67745f7472e" /><Relationship Type="http://schemas.openxmlformats.org/officeDocument/2006/relationships/slide" Target="/ppt/slides/slide12.xml" Id="R6de2fc550fdf47aa" /><Relationship Type="http://schemas.openxmlformats.org/officeDocument/2006/relationships/slide" Target="/ppt/slides/slide13.xml" Id="Rac8cd3e68ea14b60" /><Relationship Type="http://schemas.openxmlformats.org/officeDocument/2006/relationships/slide" Target="/ppt/slides/slide14.xml" Id="Raeee02e9034c4b84" /><Relationship Type="http://schemas.openxmlformats.org/officeDocument/2006/relationships/slide" Target="/ppt/slides/slide15.xml" Id="Ra7a8d0b472124b9c" /><Relationship Type="http://schemas.openxmlformats.org/officeDocument/2006/relationships/slide" Target="/ppt/slides/slide16.xml" Id="R453591329ab7441c" /><Relationship Type="http://schemas.openxmlformats.org/officeDocument/2006/relationships/slide" Target="/ppt/slides/slide17.xml" Id="R4c24422faf774736" /><Relationship Type="http://schemas.openxmlformats.org/officeDocument/2006/relationships/slide" Target="/ppt/slides/slide18.xml" Id="R2f11c439d3484a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395c20cb29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ae09597864d3d" /><Relationship Type="http://schemas.openxmlformats.org/officeDocument/2006/relationships/notesMaster" Target="/ppt/notesMasters/notesMaster1.xml" Id="R277603632df6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3a0dae3f5a4f07" /><Relationship Type="http://schemas.openxmlformats.org/officeDocument/2006/relationships/notesMaster" Target="/ppt/notesMasters/notesMaster1.xml" Id="R03898d78a884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1db4a2faf4b03" /><Relationship Type="http://schemas.openxmlformats.org/officeDocument/2006/relationships/notesMaster" Target="/ppt/notesMasters/notesMaster1.xml" Id="Rd61bc8eeb7474a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8ffedbdad34683" /><Relationship Type="http://schemas.openxmlformats.org/officeDocument/2006/relationships/notesMaster" Target="/ppt/notesMasters/notesMaster1.xml" Id="Raf1c0e4ce7af4e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70e113eb90450e" /><Relationship Type="http://schemas.openxmlformats.org/officeDocument/2006/relationships/notesMaster" Target="/ppt/notesMasters/notesMaster1.xml" Id="Rce5c862e95c745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9b21921844941" /><Relationship Type="http://schemas.openxmlformats.org/officeDocument/2006/relationships/notesMaster" Target="/ppt/notesMasters/notesMaster1.xml" Id="Rc1f6ac6514f44d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4f68c545454567" /><Relationship Type="http://schemas.openxmlformats.org/officeDocument/2006/relationships/notesMaster" Target="/ppt/notesMasters/notesMaster1.xml" Id="Rd7984cea073f4a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807a499bd84f97" /><Relationship Type="http://schemas.openxmlformats.org/officeDocument/2006/relationships/notesMaster" Target="/ppt/notesMasters/notesMaster1.xml" Id="Rf11d64ef8e8a42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00baf92e794ca2" /><Relationship Type="http://schemas.openxmlformats.org/officeDocument/2006/relationships/notesMaster" Target="/ppt/notesMasters/notesMaster1.xml" Id="R59413664a3184e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9170d548f94791" /><Relationship Type="http://schemas.openxmlformats.org/officeDocument/2006/relationships/notesMaster" Target="/ppt/notesMasters/notesMaster1.xml" Id="Re69e89489ae141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ef124a4fdb4e68" /><Relationship Type="http://schemas.openxmlformats.org/officeDocument/2006/relationships/notesMaster" Target="/ppt/notesMasters/notesMaster1.xml" Id="R31216e3aff694b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b66c1cecfa477b" /><Relationship Type="http://schemas.openxmlformats.org/officeDocument/2006/relationships/notesMaster" Target="/ppt/notesMasters/notesMaster1.xml" Id="R6c9b2b99d46a43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b4dbbcb2e144b3" /><Relationship Type="http://schemas.openxmlformats.org/officeDocument/2006/relationships/notesMaster" Target="/ppt/notesMasters/notesMaster1.xml" Id="R3d36a11ffe9042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61e3abc386407d" /><Relationship Type="http://schemas.openxmlformats.org/officeDocument/2006/relationships/notesMaster" Target="/ppt/notesMasters/notesMaster1.xml" Id="R4be5d312879d4f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53ec5f35fb44ad" /><Relationship Type="http://schemas.openxmlformats.org/officeDocument/2006/relationships/notesMaster" Target="/ppt/notesMasters/notesMaster1.xml" Id="R2f285eac739b4b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0e22e8fd3945b1" /><Relationship Type="http://schemas.openxmlformats.org/officeDocument/2006/relationships/notesMaster" Target="/ppt/notesMasters/notesMaster1.xml" Id="R10cb613f0a7142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8f559c61a34402" /><Relationship Type="http://schemas.openxmlformats.org/officeDocument/2006/relationships/notesMaster" Target="/ppt/notesMasters/notesMaster1.xml" Id="Rf57312a626974b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58c25adbe44406" /><Relationship Type="http://schemas.openxmlformats.org/officeDocument/2006/relationships/notesMaster" Target="/ppt/notesMasters/notesMaster1.xml" Id="Rd529285cf293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2b62a6140473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40422608b4a37" /><Relationship Type="http://schemas.openxmlformats.org/officeDocument/2006/relationships/slideLayout" Target="/ppt/slideLayouts/slideLayout1.xml" Id="R8c7a9aace92e4ff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a9aace92e4ff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221dc09e744d4" /><Relationship Type="http://schemas.openxmlformats.org/officeDocument/2006/relationships/image" Target="/ppt/media/image.jpeg" Id="Rf03ce5f1bcdc44bf" /><Relationship Type="http://schemas.openxmlformats.org/officeDocument/2006/relationships/notesSlide" Target="/ppt/notesSlides/notesSlide1.xml" Id="Rf9814d8026ac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8f071c5c4438f" /><Relationship Type="http://schemas.openxmlformats.org/officeDocument/2006/relationships/image" Target="/ppt/media/image2.jpeg" Id="R77e5fab23b0e4806" /><Relationship Type="http://schemas.openxmlformats.org/officeDocument/2006/relationships/notesSlide" Target="/ppt/notesSlides/notesSlide2.xml" Id="Ra91b657d4e12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06830dcd24d24" /><Relationship Type="http://schemas.openxmlformats.org/officeDocument/2006/relationships/image" Target="/ppt/media/image3.jpeg" Id="Rd053e1a32d574319" /><Relationship Type="http://schemas.openxmlformats.org/officeDocument/2006/relationships/notesSlide" Target="/ppt/notesSlides/notesSlide3.xml" Id="R28041762c25d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732f336c64a7d" /><Relationship Type="http://schemas.openxmlformats.org/officeDocument/2006/relationships/image" Target="/ppt/media/image4.jpeg" Id="Rd924b07a04c64b2f" /><Relationship Type="http://schemas.openxmlformats.org/officeDocument/2006/relationships/notesSlide" Target="/ppt/notesSlides/notesSlide4.xml" Id="R1b363270f4124a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25851ef4441ab" /><Relationship Type="http://schemas.openxmlformats.org/officeDocument/2006/relationships/image" Target="/ppt/media/image5.jpeg" Id="Rd7f33f379db34599" /><Relationship Type="http://schemas.openxmlformats.org/officeDocument/2006/relationships/notesSlide" Target="/ppt/notesSlides/notesSlide5.xml" Id="Re909fa12197d46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58c9a134846e5" /><Relationship Type="http://schemas.openxmlformats.org/officeDocument/2006/relationships/image" Target="/ppt/media/image6.jpeg" Id="R322b88ab35d347ea" /><Relationship Type="http://schemas.openxmlformats.org/officeDocument/2006/relationships/notesSlide" Target="/ppt/notesSlides/notesSlide6.xml" Id="Ra9ff2078fd8042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f769a355b4c0d" /><Relationship Type="http://schemas.openxmlformats.org/officeDocument/2006/relationships/image" Target="/ppt/media/image7.jpeg" Id="R01c54d7f06a64174" /><Relationship Type="http://schemas.openxmlformats.org/officeDocument/2006/relationships/notesSlide" Target="/ppt/notesSlides/notesSlide7.xml" Id="R745fa1b8eac54a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9ec2a11004cce" /><Relationship Type="http://schemas.openxmlformats.org/officeDocument/2006/relationships/image" Target="/ppt/media/image8.jpeg" Id="Rdab8a3e5374f44e9" /><Relationship Type="http://schemas.openxmlformats.org/officeDocument/2006/relationships/notesSlide" Target="/ppt/notesSlides/notesSlide8.xml" Id="R6be5f6b19ff446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9be2baa274ce2" /><Relationship Type="http://schemas.openxmlformats.org/officeDocument/2006/relationships/image" Target="/ppt/media/image9.jpeg" Id="R5a14eb5cafb64bcd" /><Relationship Type="http://schemas.openxmlformats.org/officeDocument/2006/relationships/notesSlide" Target="/ppt/notesSlides/notesSlide9.xml" Id="R3933dd76c27e44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b9cab92b74c5e" /><Relationship Type="http://schemas.openxmlformats.org/officeDocument/2006/relationships/image" Target="/ppt/media/image10.jpeg" Id="Rb10c750870004ca6" /><Relationship Type="http://schemas.openxmlformats.org/officeDocument/2006/relationships/notesSlide" Target="/ppt/notesSlides/notesSlide10.xml" Id="R236ab0cd6b8e47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2d34889ff4b1c" /><Relationship Type="http://schemas.openxmlformats.org/officeDocument/2006/relationships/image" Target="/ppt/media/image11.jpeg" Id="R29a3c2635fec4ecd" /><Relationship Type="http://schemas.openxmlformats.org/officeDocument/2006/relationships/notesSlide" Target="/ppt/notesSlides/notesSlide11.xml" Id="R8dc8db9c21dd4f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48cf615424add" /><Relationship Type="http://schemas.openxmlformats.org/officeDocument/2006/relationships/image" Target="/ppt/media/image12.jpeg" Id="Rd27ad0603b5e4f69" /><Relationship Type="http://schemas.openxmlformats.org/officeDocument/2006/relationships/notesSlide" Target="/ppt/notesSlides/notesSlide12.xml" Id="R238c6ccb6c264c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ebe9ec3554c62" /><Relationship Type="http://schemas.openxmlformats.org/officeDocument/2006/relationships/image" Target="/ppt/media/image13.jpeg" Id="Rdbe00c7be77b4e6c" /><Relationship Type="http://schemas.openxmlformats.org/officeDocument/2006/relationships/notesSlide" Target="/ppt/notesSlides/notesSlide13.xml" Id="R7cdb8bfbf4c24e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d10c8d8b14f9c" /><Relationship Type="http://schemas.openxmlformats.org/officeDocument/2006/relationships/image" Target="/ppt/media/image4.jpeg" Id="R0a5fcdebb6064551" /><Relationship Type="http://schemas.openxmlformats.org/officeDocument/2006/relationships/notesSlide" Target="/ppt/notesSlides/notesSlide14.xml" Id="R285d6869b8aa4b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14d3a25f24208" /><Relationship Type="http://schemas.openxmlformats.org/officeDocument/2006/relationships/image" Target="/ppt/media/image14.jpeg" Id="R9caeae13e98c42e4" /><Relationship Type="http://schemas.openxmlformats.org/officeDocument/2006/relationships/notesSlide" Target="/ppt/notesSlides/notesSlide15.xml" Id="Rca247a9a319c45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6f3799a0c4e2d" /><Relationship Type="http://schemas.openxmlformats.org/officeDocument/2006/relationships/image" Target="/ppt/media/image15.jpeg" Id="R29f1bbd5175d4f63" /><Relationship Type="http://schemas.openxmlformats.org/officeDocument/2006/relationships/notesSlide" Target="/ppt/notesSlides/notesSlide16.xml" Id="Rf46d7a0ff4e349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03cea968a4751" /><Relationship Type="http://schemas.openxmlformats.org/officeDocument/2006/relationships/image" Target="/ppt/media/image16.jpeg" Id="R1d7f367933954996" /><Relationship Type="http://schemas.openxmlformats.org/officeDocument/2006/relationships/notesSlide" Target="/ppt/notesSlides/notesSlide17.xml" Id="Rc6d06489316143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77b440b8d44e6" /><Relationship Type="http://schemas.openxmlformats.org/officeDocument/2006/relationships/image" Target="/ppt/media/image.jpeg" Id="R9d437b50642f4a68" /><Relationship Type="http://schemas.openxmlformats.org/officeDocument/2006/relationships/notesSlide" Target="/ppt/notesSlides/notesSlide18.xml" Id="R0639a03d9fef469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03ce5f1bcdc44b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20202D-5CE4-4E90-9289-C02CC97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>
              <a:alpha val="20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C07B6A-7716-4D6F-A551-8350F3D4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E0AC"/>
                </a:solidFill>
                <a:latin typeface="Calibri"/>
                <a:ea typeface="Calibri"/>
                <a:cs typeface="Calibri"/>
              </a:rPr>
              <a:t>AI PROJECT  · 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AB5B3D-69D4-4CC8-A3D9-C81E999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5953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SENTIO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666E46-54AE-40AF-9C45-42FD747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2384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FFC24B"/>
                </a:solidFill>
                <a:latin typeface="Cambria"/>
                <a:ea typeface="Cambria"/>
                <a:cs typeface="Cambria"/>
              </a:rPr>
              <a:t>An Emotion-Adaptive Chess AI Agent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3651E0-2AB1-4105-92E0-124FE65B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12464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C6CBD3"/>
                </a:solidFill>
                <a:latin typeface="Calibri"/>
                <a:ea typeface="Calibri"/>
                <a:cs typeface="Calibri"/>
              </a:rPr>
              <a:t>Latin for "I feel" — a chess engine that reads your emotions and adapts in real time.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DD7C34-BA0F-4B6A-BFEF-B468364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0832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E912B6-9BD9-42F1-9830-D3F3EBA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Presented by  Group-X   ·   Section-C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C2E8AF-7EAF-4A71-90AE-4A8337B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01184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EB4BD"/>
                </a:solidFill>
                <a:latin typeface="Calibri"/>
                <a:ea typeface="Calibri"/>
                <a:cs typeface="Calibri"/>
              </a:rPr>
              <a:t>University of Information Technology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123CCBD-9B4A-4041-B096-8220DEF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>
              <a:alpha val="14000"/>
            </a:srgbClr>
          </a:solidFill>
          <a:ln xmlns:a="http://schemas.openxmlformats.org/drawingml/2006/main" w="15875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3D9322-FD6A-481E-8BE9-CB25044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♞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AB9E3A-1D58-46BF-BFFB-A28F29E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365548-960A-4BDC-87CE-0727D7F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9774163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7e5fab23b0e480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9848D0-78B9-4137-BCC3-C9479E0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GROUP-X  ·  SECTION-C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FD972B-556A-47D8-A801-C706F6C7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Team &amp; Responsibilities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5C770E-A2DB-4603-81C1-4EFF3D28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40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EEB9C94-7D3A-4E41-B535-1047C675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56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E7B37F-A2B7-4964-A9EB-7DD807EA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56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362F7D-BC8E-4443-A2F4-CC1D4378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8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 Name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EE3A7A-37A0-4EB3-8525-06E06D0F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8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8A3D"/>
                </a:solidFill>
                <a:latin typeface="Courier New"/>
                <a:ea typeface="Courier New"/>
                <a:cs typeface="Courier New"/>
              </a:rPr>
              <a:t>TNT - 0000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2B1119C-A238-4120-A42C-B35062C0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20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724268-252D-41CA-A9C4-AC289C7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20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System development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Emotion detection module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F08FE0-ABF1-43EC-AC90-F7BDE2E3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68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8A3D"/>
                </a:solidFill>
                <a:latin typeface="Calibri"/>
                <a:ea typeface="Calibri"/>
                <a:cs typeface="Calibri"/>
              </a:rPr>
              <a:t>Presenter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8B6E022-2666-49EC-8D48-277C9F6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368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3FA313C-81A7-4138-A46D-BF995EC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184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5E9D37-9548-4EAD-937C-F536B7A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184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49E7F4-3EDA-4CA2-9EF2-ECC747C5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96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 Name 2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1269C2A-3198-4010-AD7B-76B4703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96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C24B"/>
                </a:solidFill>
                <a:latin typeface="Courier New"/>
                <a:ea typeface="Courier New"/>
                <a:cs typeface="Courier New"/>
              </a:rPr>
              <a:t>TNT - 0000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47985D4-976D-4538-844E-36F40BCF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448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779E41-3A3F-4B2D-BAF9-0C08155C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248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Backend development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Stockfish integration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55D25A4-D53D-49E9-9D28-3F25F133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8096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Presenter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A6AD4D-9A88-4A84-9D1F-7BE1F5BF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296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AA12B5D-83E2-4FE3-9934-6776DCA6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112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0D732B5-2FE2-43E8-ADEE-8C00BD7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112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B5D264A-8FEB-46C1-BEA1-D1CF220D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024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 Name 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1D272AA-B541-43DB-A6A7-2A5FC34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024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2705A"/>
                </a:solidFill>
                <a:latin typeface="Courier New"/>
                <a:ea typeface="Courier New"/>
                <a:cs typeface="Courier New"/>
              </a:rPr>
              <a:t>TNT - 0000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D71AB78-EDFF-4FEE-B33F-F946E076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376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C96BA58-111F-4AA6-9B71-6D10C092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176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Prolog knowledge base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Logician panel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10D0F1E-D29D-45B1-B579-9A2E148D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1024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2705A"/>
                </a:solidFill>
                <a:latin typeface="Calibri"/>
                <a:ea typeface="Calibri"/>
                <a:cs typeface="Calibri"/>
              </a:rPr>
              <a:t>Presenter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DA073EC-0DBB-4747-949D-7FAD58AD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224" y="1737360"/>
            <a:ext cx="2542032" cy="3703320"/>
          </a:xfrm>
          <a:prstGeom xmlns:a="http://schemas.openxmlformats.org/drawingml/2006/main" prst="roundRect">
            <a:avLst>
              <a:gd name="adj" fmla="val 395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7ACCBDD-64D2-46DF-9029-DFB9502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040" y="201168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AA90391-A3D9-4E3D-A0F6-65454600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040" y="2011680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9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5056A0B-D777-4755-BA52-8A2689D0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2" y="3090672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 Name 4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2CC142D-F33E-4904-A08B-4E2A18E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2" y="3419856"/>
            <a:ext cx="23225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8FA6C4"/>
                </a:solidFill>
                <a:latin typeface="Courier New"/>
                <a:ea typeface="Courier New"/>
                <a:cs typeface="Courier New"/>
              </a:rPr>
              <a:t>TNT - 0000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28D7AC2-88ED-41B8-B6DD-5444310A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304" y="3822192"/>
            <a:ext cx="1261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96069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D4D4A87-63E6-44B9-9F6B-F59D0D4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104" y="3968496"/>
            <a:ext cx="217627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Frontend UI · voice module</a:t>
            </a:r>
          </a:p>
          <a:p xmlns:a="http://schemas.openxmlformats.org/drawingml/2006/main">
            <a:pPr marL="0" indent="0" algn="ctr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Documentation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2F5D010-9CB8-4530-B90D-1B30D919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952" y="497433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Presenter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61CD63E-6168-4854-89EF-A2DB561B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14416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Replace the placeholder names and roll numbers before presenting.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3B4F260-862C-4D48-9123-1754565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42426EE7-EACC-496A-B82B-C8C225E0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2561172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53e1a32d5743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9C77BF-1F5C-48A1-86B8-6A92D645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WHAT WE WILL COVER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48F105-5458-48CC-8D2B-F0186EFD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Contents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E1764B0-4196-467C-A044-A3AB0E5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28800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08DCF94-4075-4318-AAAB-EC1C7C1F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659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D4A3175-619A-4B81-82E3-40270E8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6596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A7F362-2884-4FF2-B515-3DCA092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2011680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27F8C5-1B51-4248-B3AE-A750CC85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1828800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B05DA4F-7386-4D19-920B-0FF6F4BC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196596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899C054-86BF-43E6-8C9C-89A53FA8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196596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299CAF3-D520-4353-94C0-11129129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2011680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System Objectives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55BC7A7-4FC5-4BCD-A5CB-454A7EE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0048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F0AC250-F98D-4A04-91A6-4BDBAE8E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0720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7E9DD5-A5AC-4AB4-B8C7-5C502F3A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0720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9AD007-9C36-4BE9-BE17-08743E35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2852928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Functional Requirements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9F4ED6F-CA53-46E0-96AE-2E7EF792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670048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ADC909C-97B3-4B45-8B9B-B00D589C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80720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B8831C0-69EB-4F1A-B550-815A24A8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80720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984BADD-BD12-44BB-844A-469923EF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2852928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6B5B00D-5071-43CC-BC92-6BA0591E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11296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8CA9BE9-2651-43D9-B873-34219C5B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4845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2A0BA8-9D21-450E-8754-97A33D8E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66E24A5-4C2D-4BD6-9D81-0E8A433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3694176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Methodology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8DA6F61-A42E-4FAE-905B-DA7C2E76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511296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7CEA911-A062-4F6F-B783-99EE8614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64845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B2B7779-81B0-47B1-9171-7C906E55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695E11C-F5DC-487B-BE85-2F9EB061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3694176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Code Example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5EE8591-212C-4348-8BC8-3D2F4CB3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131948C-89FD-48B3-81BF-4DFDDAE0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897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15ABC54-D895-48B4-9CDD-CC97D6CC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897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6F98680-0976-411A-9C71-0BC9AA04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535424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System UI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7F30249-A106-4050-8894-C52BF2F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352544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20E85AC-C529-40EB-AC6B-78ED4F8B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4897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DFEC974-AED7-4AD3-82ED-48E84E55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4897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B5279DF-D0D4-460D-8115-0DE81BB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4535424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Benefits &amp; Limitations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72293D0-3FAE-4B9C-949B-655BF2BC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93792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DE8BEAB-B5AD-4B84-A00E-9C3B38AF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309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FEEF5A3-861D-4D81-8BB4-5FA1AB7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309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8930C4D-2A1A-45C8-869C-5F5B7ED9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5376672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17BC08C-128B-4AE6-AF1B-EEA62CF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93792"/>
            <a:ext cx="5300320" cy="676656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17C6D71-147F-457F-987F-ED01FF4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33095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BBC9894C-03D9-4B08-ABF4-42E86131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33095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5FD6559-0B17-420F-A6BC-C7DE32F8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4256" y="5376672"/>
            <a:ext cx="438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Conclusion &amp; References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ED82F489-691E-433C-8376-462D747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0F7D634-DC9A-4597-B7B1-A2B66109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1827717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924b07a04c64b2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CAA2B8-571B-43AC-8AD7-D6489AAC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THE INTERFACE IN USE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09CAE8-89B7-4EC4-9366-8D5867B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System UI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A8C219-7E41-4080-A149-6DA9A7AD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6858000" cy="4069080"/>
          </a:xfrm>
          <a:prstGeom xmlns:a="http://schemas.openxmlformats.org/drawingml/2006/main" prst="roundRect">
            <a:avLst>
              <a:gd name="adj" fmla="val 2472"/>
            </a:avLst>
          </a:prstGeom>
          <a:solidFill xmlns:a="http://schemas.openxmlformats.org/drawingml/2006/main">
            <a:srgbClr val="31353C"/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1033B7-0739-4378-A4B2-7207645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6858000" cy="384048"/>
          </a:xfrm>
          <a:prstGeom xmlns:a="http://schemas.openxmlformats.org/drawingml/2006/main" prst="roundRect">
            <a:avLst>
              <a:gd name="adj" fmla="val 26190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12700">
            <a:solidFill>
              <a:srgbClr val="23262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D15030-EEC8-4E0C-BD9F-353B462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55648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198A1"/>
                </a:solidFill>
                <a:latin typeface="Courier New"/>
                <a:ea typeface="Courier New"/>
                <a:cs typeface="Courier New"/>
              </a:rPr>
              <a:t>Sentio  —  localhost:3000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4CEA67-A2DC-4D82-BC6F-9081EC62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14630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12700">
            <a:solidFill>
              <a:srgbClr val="EFEDE8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6848A78-F782-4BF2-8BF6-9B01AEF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146304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62B"/>
          </a:solidFill>
          <a:ln xmlns:a="http://schemas.openxmlformats.org/drawingml/2006/main" w="12700">
            <a:solidFill>
              <a:srgbClr val="23262B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3EF969F-372D-4902-B7F0-1253164C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30A12-22AE-4250-8103-B40E2611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748ADFA-642B-4430-8E1B-2E95BA3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C626B5E-AA4D-493F-BEF0-4470E489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79F343F-E51B-465B-8197-1552EFD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F80D879-988B-4AB0-A071-706E39C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CC39AB7-6830-45AD-ADD5-0F87F91B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FF1CC74-C2D6-4189-BDAC-A5D72E3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26B3C21-2BC1-4236-90A9-240A92B8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7D27A60-C121-401E-944F-EF0B3B2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E4615F1-38FD-4CB5-818D-61B6BE14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B37F4BA-C1B6-418A-8E50-DAB60615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1212849-93A4-4889-9AA7-B544CEBC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E6B7964-1C6C-4B9E-9B23-8D1DE545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5917B43-DCDB-4817-B39D-B5BCCB66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03E562A-BB07-4376-A03F-C1613CA8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A7AF14B-1736-450C-B0A7-3981C8A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A09224B-5C2A-410B-8E7B-36EFC9E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F2DB941-6EDB-4053-BB92-7307AA44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8FA985F-51D8-42A3-BAAE-5C65600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4FDA574-619A-4E87-BEA9-F6334EB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59F0B40-27F8-4E1B-8820-ADE6730C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E513AE1-1811-48F1-B4F4-F928CE3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BFF621F-100A-4B91-B641-EE515E18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A5ACE6E-A94E-4335-97DE-C78F7E4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0B6876C-742B-4688-A809-DC6D7C22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239767A-6AE5-4B01-B039-351B0505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3063011-CE95-466A-9878-F3204F45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48CDEB00-1E05-4971-B1F5-677D85B2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3C1D0B3-97F2-46FA-A1E3-B7064D53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E3F8F79-54A9-4F75-924F-C66309E3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8533ED6-3725-46B6-BDC1-200202D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92048D4-983F-4F7D-B5BF-1BFA6E0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9807F0C-5E67-474B-8B45-C748FE63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AE2D9DCA-63EE-4CDE-8FE1-5783B63D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51F290B-9202-47C0-A6ED-91D6731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1D33016F-3870-4EAE-BA97-790D8FC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5CC3A942-690D-4B7F-B2E5-35D21BF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C804013-4D6A-4B7C-9B15-D1AC1229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AD9B326-B83E-4AEB-B4DE-8B7C848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D16F983-A85D-45ED-BBFF-1DAAADFE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1875780F-4B73-4E7F-8EE7-7192174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3EC8B09-F417-44EA-9750-2A544054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E15D5B9-8526-410B-B0A6-F2607D16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9189C688-1FB9-43C3-B14F-24740331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FFF8E83-8A41-4F3C-857D-2C1D4258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3767F87B-0C4A-459D-9B4F-17EDE95C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72A5822F-4262-4265-8C00-652E7761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B6D28F1E-2635-43B6-B7CF-E76317F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8A7A681-0328-4311-9B14-3DE727F7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9D26654-8B3A-4EEC-B745-3E077DE0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DA4D0B8B-2717-4105-AE1E-7A57115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1413C942-FC82-43FE-AF47-CC80C4DD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0C85A966-3986-4691-A5C9-734E431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ECD31AB3-A8B9-48D7-9252-F063A4D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9CA464F9-8D77-47BB-BE3E-9A52D886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48476EBD-8B57-4541-B301-084C4DD1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113480F5-6E27-4E4C-AABB-6D0A58F9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550E94AF-C72B-462B-89A8-67032C07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D19BCCBA-FD77-449A-8D05-E3258C1F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28E6A187-8666-4904-9D88-DEB803F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6937B15B-ADDB-4806-BE14-43E00C1E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570B2BEA-F71E-43F9-8DE7-0AD5ACD4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705978E2-3685-470E-A3F6-88CDEA8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60BA0141-145A-4859-A22C-701D5031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>
              <a:alpha val="60000"/>
            </a:srgbClr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993DA82-2238-422F-B716-740A9FE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>
              <a:alpha val="60000"/>
            </a:srgbClr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4D69A1BE-74C4-45BF-BD68-29F9C179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9572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♜</a:t>
            </a:r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55FAE324-28DB-4166-80CE-BF89541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239572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♞</a:t>
            </a:r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ECD7F2D9-5F72-44EE-83E5-074B4D61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239572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♚</a:t>
            </a:r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7AB659CA-BE08-4178-BF18-2B67F85C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2772461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♟</a:t>
            </a:r>
          </a:p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51580453-E12F-405A-AECA-04ABCC9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4656125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♙</a:t>
            </a:r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C56B4EB9-AD7C-434A-935B-49536EF8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503285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♗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47BDEAC8-8492-42B3-B561-BA927933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503285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♔</a:t>
            </a:r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8CB820D9-C020-4926-9690-205CAC90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2395728"/>
            <a:ext cx="872947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B1282F10-29FE-4350-9350-F7EBCBDA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2395728"/>
            <a:ext cx="8729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Coach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2175ED0F-85F0-477E-B60D-3C65546F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274" y="2395728"/>
            <a:ext cx="872947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3B4048"/>
            </a:solidFill>
            <a:prstDash val="solid"/>
          </a:ln>
        </p:spPr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E3938AF3-3B9E-470D-B12D-A13C994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274" y="2395728"/>
            <a:ext cx="8729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Logician</a:t>
            </a:r>
          </a:p>
        </p:txBody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CF222B55-E1F4-400E-97F6-EBD1BBB4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085" y="2395728"/>
            <a:ext cx="872947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3B4048"/>
            </a:solidFill>
            <a:prstDash val="solid"/>
          </a:ln>
        </p:spPr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D3437E57-D199-48B4-93E1-FD9C8DE0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085" y="2395728"/>
            <a:ext cx="8729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Speech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98999EA-A5B6-4F6C-947E-6A8595F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2834640"/>
            <a:ext cx="278343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C24B">
              <a:alpha val="22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7DC1AA22-F818-4FB4-A666-C842F0A6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478" y="2834640"/>
            <a:ext cx="252740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Emotion:  focused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ELO 2600  ·  depth 8</a:t>
            </a:r>
          </a:p>
        </p:txBody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F5748038-65B6-4B06-B320-F2B8B410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3529584"/>
            <a:ext cx="27834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1CB23FD-55FF-4319-AC68-58B4A7C8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3913632"/>
            <a:ext cx="23262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EB5FFDB4-DE69-4B8F-A208-66C037DA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4297680"/>
            <a:ext cx="27834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4AA73311-D08B-47A4-A9F2-05F1FACD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4681728"/>
            <a:ext cx="23262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8ABF2DAE-8D3B-4D41-A952-701329F0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5065776"/>
            <a:ext cx="27834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6A63D241-2DCC-43A7-BF0D-B6D038B0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190" y="5458968"/>
            <a:ext cx="278343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Ruy Lopez (C60)</a:t>
            </a:r>
          </a:p>
        </p:txBody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B093FC3E-1D47-42D4-93F0-A562EA4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564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C59A7961-061B-4A36-BDA3-DB02049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93852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F65D8D4D-F4C1-4693-AFDB-60F5D2C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93852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EB4A7C25-3C97-4980-9878-CCE2FD5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93852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Interactive board</a:t>
            </a:r>
          </a:p>
        </p:txBody>
      </p:sp>
      <p:sp>
        <p:nvSpPr>
          <p:cNvPr id="100" name="Text 98">
            <a:extLst xmlns:a="http://schemas.openxmlformats.org/drawingml/2006/main">
              <a:ext uri="{FF2B5EF4-FFF2-40B4-BE49-F238E27FC236}">
                <a16:creationId xmlns:a16="http://schemas.microsoft.com/office/drawing/2014/main" id="{260B3FDE-E0A5-49E5-85B9-51D326B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1284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Legal-move highlighting, promotion picker and undo.</a:t>
            </a:r>
          </a:p>
        </p:txBody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32A34447-487A-4AB0-B45F-ECDE1C87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720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53B0939C-FEB4-494C-973C-C14A476F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99008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F84C0B39-E1A2-41E7-8523-D4D3BD57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99008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AA00D044-0898-4F74-9E27-FC99DB7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99008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Emotion monitor</a:t>
            </a:r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2587A5AC-74BD-482E-9072-97A6DE8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26440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Shows the detected state and the engine profile in use.</a:t>
            </a:r>
          </a:p>
        </p:txBody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7C63A311-DF95-4F15-A302-5A2E7E6C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876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03D8281E-1868-4064-ADED-957A584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416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08" name="Text 106">
            <a:extLst xmlns:a="http://schemas.openxmlformats.org/drawingml/2006/main">
              <a:ext uri="{FF2B5EF4-FFF2-40B4-BE49-F238E27FC236}">
                <a16:creationId xmlns:a16="http://schemas.microsoft.com/office/drawing/2014/main" id="{E38F7DB4-08F6-4B61-B06A-7176FD2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64EB684E-FCD8-46E1-8BDB-17EBA3BD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04164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bar</a:t>
            </a:r>
          </a:p>
        </p:txBody>
      </p:sp>
      <p:sp>
        <p:nvSpPr>
          <p:cNvPr id="110" name="Text 108">
            <a:extLst xmlns:a="http://schemas.openxmlformats.org/drawingml/2006/main">
              <a:ext uri="{FF2B5EF4-FFF2-40B4-BE49-F238E27FC236}">
                <a16:creationId xmlns:a16="http://schemas.microsoft.com/office/drawing/2014/main" id="{16BDD02C-6FB1-478C-8B44-5E2BDAB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31596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Live engine assessment beside the board.</a:t>
            </a:r>
          </a:p>
        </p:txBody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9403614D-2FB8-49B5-9E83-D719034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1032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CFF0CC3A-531E-48EA-A522-927DA1E2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7E9CEF40-A74E-44CC-8EB4-AE75C49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509320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14" name="Text 112">
            <a:extLst xmlns:a="http://schemas.openxmlformats.org/drawingml/2006/main">
              <a:ext uri="{FF2B5EF4-FFF2-40B4-BE49-F238E27FC236}">
                <a16:creationId xmlns:a16="http://schemas.microsoft.com/office/drawing/2014/main" id="{78010794-EC12-4FA6-AA46-5418E4C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09320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Tabbed panel</a:t>
            </a:r>
          </a:p>
        </p:txBody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49AB668A-706E-47BB-88EA-B110F53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36752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Coach, Logician, Speech, Benchmark and Training.</a:t>
            </a:r>
          </a:p>
        </p:txBody>
      </p:sp>
      <p:sp>
        <p:nvSpPr>
          <p:cNvPr id="116" name="Text 114">
            <a:extLst xmlns:a="http://schemas.openxmlformats.org/drawingml/2006/main">
              <a:ext uri="{FF2B5EF4-FFF2-40B4-BE49-F238E27FC236}">
                <a16:creationId xmlns:a16="http://schemas.microsoft.com/office/drawing/2014/main" id="{F29BB27D-13F6-461D-873D-FAE0FE1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85533176-6A70-46E4-B821-D5BA49A5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0504145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f33f379db3459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AACAB0-0CFF-40C7-8B5E-63B5C397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705A"/>
                </a:solidFill>
                <a:latin typeface="Calibri"/>
                <a:ea typeface="Calibri"/>
                <a:cs typeface="Calibri"/>
              </a:rPr>
              <a:t>WHY THIS PROJECT EXISTS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52471F-5525-4C76-8D28-31114696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Problem Statement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146C90-D4E5-4141-B4B2-240C08A4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D984BA-2A9C-4A5D-8E73-1262B8C8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14BC38-4476-4720-9D55-421D8778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D943FAA-7C74-4362-9E60-0FDE17DB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Fixed difficulty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8F6393C-4E8C-4672-A746-C407474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Engines play at one strength, chosen manually before the game starts, and it never changes.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E878861-A139-4803-A3B2-ADBDD962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EEC4C2E-D357-4C42-A90C-8052F2DD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09729A-499B-4BC0-BD3E-8BEB80F9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785268-2744-4A72-94C6-0BE6B37F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Beginners give up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44685B-138E-428B-9830-B55B3FF4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Weak players get crushed and lose motivation; strong players get bored at the same setting.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8BA3E67-BDA3-4204-8F67-BF60E39A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4C4A53-0211-45CA-91C5-DCCABCA7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937302-B5D6-4765-B879-162F4A30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3E60D7B-02EC-49BD-966B-D1AF4C84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Feelings are ignored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DB4A67E-8BE9-4779-8F17-B252184B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No engine notices that the player is stressed, tilted, or completely focused.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A7E6472-9510-49A8-BB51-19D52113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BDBB652-9F67-4BF0-82A6-FD0174A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75A723E-A85F-46DD-A20C-ACAAF37E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6C7362E-BBDA-4DF2-8306-C802F074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encouragement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CAA0A6C-B51B-44F2-9A0C-5811BE8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A frustrated player receives no support — only another losing position.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CD50C64-F0BD-4565-BC81-770F6491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66DDA39-D965-48DE-8B41-99AE00F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E2E4630-CB7E-416D-BD10-E7FB0A2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✕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461CBFC-03F3-4DC5-B86A-79D04B25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Language barrier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DD2B55-77BA-45EB-A17A-4ED9FC5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Chess coaching tools are English-only, closing them off to many local players.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C42008A-BEBA-4717-BCB0-D33DFCDD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7B7142A-6AD8-4C89-ACFE-066CAB02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885" y="3849624"/>
            <a:ext cx="2881274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100"/>
              </a:lnSpc>
              <a:buNone/>
            </a:pPr>
            <a:r>
              <a:rPr sz="1500" b="1" i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The engine should adapt to the player — not the other way around.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02F0EEF-7FF3-4BDC-8CC5-0F8C76F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4F98428-27C6-43F1-83EA-3E7480E0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2360219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22b88ab35d347e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29BF03-F44A-486D-BBE1-00B967ED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8A3D"/>
                </a:solidFill>
                <a:latin typeface="Calibri"/>
                <a:ea typeface="Calibri"/>
                <a:cs typeface="Calibri"/>
              </a:rPr>
              <a:t>WHAT WE SET OUT TO BUILD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84C6F0-6AB2-4FF6-A76C-5B829FD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System Objectives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628268-E176-494F-8D98-F5642EBB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60A35D6-547A-41FD-8351-112EFED8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EE2D68-EEA4-4971-AC22-FCA3DFB1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1984248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8A3D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35F0DAC-2DEB-4E32-B1E0-E5E1F45F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1965960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Detect emotion in real time from the player's webcam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28C8EC-1ABB-4620-86FC-E46DE570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9192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B34250B-84BD-4808-B8E2-6E211130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9192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FA492A6-92E1-4220-AB83-8ED357FD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880360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C24B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76A9BDD-207A-4046-8DCD-DC777FC4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862072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Adapt engine strength automatically to that emotional state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123C409-7385-42AF-A7AF-F8B9ACFB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75304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3B8B21A-3CE7-43E9-B1B4-C7B5409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75304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40181D4-B2DD-41ED-814B-10E92146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776472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2705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64BB94-60B4-46F5-8F25-D2976070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3758184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Give natural-language coaching through a large language model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82787A5-E49B-4128-9658-149D7681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71416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9868B31-91BC-4E42-8C8C-3C38CBB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71416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4B14548-D9EB-4FEE-905F-56F67C12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672584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D9663D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D81548-13D3-4732-BA47-5384490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654296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Give explainable, rule-based advice from a Prolog knowledge base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547679-0C9B-4E13-B5C4-1778F05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1057839" cy="786384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6C1DCCD-4737-417F-8554-4396E7D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67528"/>
            <a:ext cx="128016" cy="7863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1C3F7C7-FE9A-47CF-A791-A4590034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5568696"/>
            <a:ext cx="6400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8FA6C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E1942A5-6D2A-4172-A6BE-8EA35C75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5550408"/>
            <a:ext cx="95947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Accept Burmese voice input for both moves and coaching questions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259564B-EC99-4239-98CB-AD339E1E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3950EC1-B731-4DDF-A25E-BDCDCE1B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2738444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c54d7f06a6417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5CF967-3C05-4DCF-A8B9-1A8CDDB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WHAT THE SYSTEM MUST DO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BD88B2-C18B-45B3-915C-12F37C7C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Functional Requirements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84C63A-88AB-46E6-963E-80A1269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326D1B-89DD-4B1E-8DD3-7BA25B88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0E45EAE-64C5-48BB-B093-8D53310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♟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9B1A87-B587-4729-9B1C-F0F6EFE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legal chess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C5EBA5-FB80-4B7D-ADBC-AE8A64D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Move validation, promotion picker, undo and PGN export.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6D4093-0FC4-4482-8EF6-58C67B92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98D465D-8A23-4C16-B259-351BF780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E769D63-91DA-4260-ACF1-69BB508F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F37BE05-C2AD-4721-9094-9130914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Emotion capture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EB3427-33D4-4955-BCDB-AFBDE9A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Read webcam frames and classify them into six emotion labels.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7F5EFC8-FB00-4678-AB24-3B3E5278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1783080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F1A319E-7279-4EDD-A1FB-DD48A84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F9DE55-46CA-4110-B065-D6CBBB4B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200253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⚙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A224A4-8023-4C4C-8B96-340D46E6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1984248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Strength mapping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57407F9-50C7-4F7E-BC15-D64645DD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2258568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Turn the emotion into engine depth, skill level and ELO.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BB78C8-5EC4-4DA2-8390-F9C2B09C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E1CCEE6-2021-4BDB-944F-774365C9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A9F42AE-72E6-4B6E-A4EB-878A553A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⚑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D4196B0-242C-475A-95C5-5066E7B9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Coach chat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5DD815A-3E83-4719-AB0A-8D87E210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Answer position questions in the AI Coach panel.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9D7C90A-F8FA-446E-BFBB-5BB5E221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602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AE9F34E-A272-457D-9C1A-BDBFB3EA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3C45D22-2052-4494-8439-0CA05477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346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▶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38D8885-202C-4E70-8C8F-F82BE26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Voice moves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635C8A7-BE5E-410C-944D-ECA2CC7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274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Accept spoken moves in Burmese and in English.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4C44534-EE80-4FD3-A046-7F25068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277" y="3849624"/>
            <a:ext cx="3466490" cy="173736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F93E76A-3A7D-4B8F-834F-02B71AD6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40690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E75F6B4-BC5B-4A87-8D8D-97DA8707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021" y="40690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▦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A5AB17A-E2CE-4C68-BA79-09190EBD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4050792"/>
            <a:ext cx="246065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Live feedback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A54DFE8-0C11-436C-8CF9-3EDDF24F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949" y="4325112"/>
            <a:ext cx="2460650" cy="1133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Evaluation bar, opening names and move hints on demand.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4820AC4-6EDA-4A03-8B4E-469B9A10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CF91224-4C1B-4C48-9DE7-58BDD0A8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836379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b8a3e5374f44e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B028B1-FBE9-4631-83AD-E451C930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D9663D"/>
                </a:solidFill>
                <a:latin typeface="Calibri"/>
                <a:ea typeface="Calibri"/>
                <a:cs typeface="Calibri"/>
              </a:rPr>
              <a:t>HOW THE PIECES FIT TOGETHER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738D2A-B64D-4070-8305-076D1BB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System Architecture &amp; Stack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41A2EC-63EF-4A7E-AFF3-326D0F97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00784"/>
            <a:ext cx="11057839" cy="1170432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B44301-C2E1-49FC-8469-10CD222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01952"/>
            <a:ext cx="2148840" cy="768096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0E504D-4000-495F-A244-B954549A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01952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BROWSER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133243-F4CD-4A71-AB34-7E3CCC1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77039E-DFAA-4367-90FF-38AEA75C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React chessboard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9D970AC-B864-4C65-89CA-414F572F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117BE34-ADD3-46AD-B2C4-00B76F5E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face-api.js emotion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F79B97C-3151-4B52-A327-F3541E85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69AB9BD-236E-4309-8D45-AC8F6E22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Coach chat panel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D5423E6-BAB0-499C-B793-DF7C6139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1938528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F259C5-C684-4EC4-BB63-AE0C31F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1938528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Three.js 3D board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D86B2CD-1B10-4B64-9903-BFF1A4CC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832" y="2889504"/>
            <a:ext cx="256032" cy="25603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09D98B1-35BB-4D68-B909-67E822E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2898648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8C939C"/>
                </a:solidFill>
                <a:latin typeface="Courier New"/>
                <a:ea typeface="Courier New"/>
                <a:cs typeface="Courier New"/>
              </a:rPr>
              <a:t>HTTP / JSON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67666AD-8ADE-428D-8539-AF7D4788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82112"/>
            <a:ext cx="11057839" cy="1170432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8413C37-5BD0-42DE-A3B2-92FE97B7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83280"/>
            <a:ext cx="2148840" cy="768096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62E4D77-A3FF-465C-9DEE-4C9AF572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83280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NEXT.JS SERVER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315D866-E563-4413-BC81-D7CC5053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648410C-8D24-4EB8-AE0B-420D1B9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/api/bot-move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5AC0FC4-50C5-46CD-AF5C-6571420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180EE3A-1858-4613-854D-5D21A5C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/api/coach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CD2000B-C702-45DA-B865-005421B5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782402A-4DA1-43E9-9E23-4AA00F76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/api/transcribe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0BF3040-CA25-4579-A63B-96409CEF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3419856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CA01C4E-AD50-4725-A650-998C6342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3419856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/api/tts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AAB12B8-6588-4C32-97FE-0B59E4EA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832" y="4370832"/>
            <a:ext cx="256032" cy="25603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22698CB-C7E3-4BF6-AF5F-2AB8B2FB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304" y="4379976"/>
            <a:ext cx="1463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8C939C"/>
                </a:solidFill>
                <a:latin typeface="Courier New"/>
                <a:ea typeface="Courier New"/>
                <a:cs typeface="Courier New"/>
              </a:rPr>
              <a:t>HTTP / JSON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BBFBBCA-2063-4A80-A3FF-A6BEE997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3440"/>
            <a:ext cx="11057839" cy="1170432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965C41E-1B22-4BD3-BC82-44D7A25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64608"/>
            <a:ext cx="2148840" cy="768096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AE86753-35F0-4EB9-A4BC-DA715800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64608"/>
            <a:ext cx="21488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PYTHON BACKEND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FD51A1C-BC43-42F0-802A-8EB6F5E9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E7BD007-BC4C-47E7-9E92-96D3AAA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Stockfish pool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81D05C9-3A9D-493B-AE08-30ECA98E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4EE07AE-DF38-4E61-BB91-8799E7B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faster-whisper STT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3658BBC-8D0E-43BF-AF02-CD7833E5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56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A4F6793-3F19-4946-8550-71E39E8B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SWI-Prolog + pyswip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4E27400-5BA6-4DB5-B1A3-5E87F58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4901184"/>
            <a:ext cx="1874520" cy="694944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F5EB4D6E-6A1E-4565-AF62-5EDDBFC9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901184"/>
            <a:ext cx="172821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300"/>
              </a:lnSpc>
              <a:buNone/>
            </a:pPr>
            <a:r>
              <a:rPr sz="1100" b="1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FastAPI + Uvicorn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A82CDAD-8C2C-4545-B942-217296F4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108192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Next.js  ·  React  ·  TypeScript  ·  Tailwind  ·  chess.js  ·  Python  ·  FastAPI  ·  Stockfish  ·  SWI-Prolog  ·  Groq LLM  ·  Whisper  ·  Three.js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38D6792-D4DC-4036-9800-1938E4B2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3990220-9357-4210-9A10-3B29AF8A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6302299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a14eb5cafb64bc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7A232A7-8296-4619-B15C-465287A5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8A3D"/>
                </a:solidFill>
                <a:latin typeface="Calibri"/>
                <a:ea typeface="Calibri"/>
                <a:cs typeface="Calibri"/>
              </a:rPr>
              <a:t>HOW THE SYSTEM READS THE PLAYER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8C8195-6FDA-4852-9625-03D24385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Methodology 1 — Emotion Detection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C8FAB92-9D13-4FFA-8368-4E297C60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CA18DA1-8AE8-4C29-B35C-7294D42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4201D53-B3B3-4604-B74D-C538FFC8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67AD4C8-B256-4796-AC92-450F3A0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Capture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16248B0-6E4D-4082-8E68-3171766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A webcam frame every 2.2 seconds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8F37481-5CA8-4655-9BFC-7F771DAE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91B9B39-DC79-45E9-AF45-5C515F48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1122EDE-3C96-4733-AD36-3D69C103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6AA979-3A0A-4C02-BDB4-03FD9241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4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187160E-5C44-43EE-914B-7B8AC116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Detect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401E115-AD06-4C06-9F85-17C3A6D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TinyFaceDetector locates the face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4A751F-4283-4F50-82CE-57C300E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9B1AB13-217D-4C37-AC1F-BD15D01B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60D543B-9CB0-4D51-AFFE-2F1D1EC2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1514638-EA07-45E1-83B1-FD2F133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D084D8E-1E43-41FC-8583-E70DC01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9A85A89-6929-4447-8F5F-34439E02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FaceExpressionNet returns 7 expressions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20FDE4B-8B2D-44DB-A27F-73CC50AB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4940276-0CAE-49CA-BEF9-08EF1583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877D295-C279-4860-8350-DD51AA5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0A15B10-E56B-4D39-B203-53C69AA9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093BAB-A909-459D-A632-155AEAF2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6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Buffer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97C446F-FD1B-492F-9BAF-F9FB3AEB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The last 3 readings are stored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24BDE9F-9523-4E7F-AD3C-3FB9098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408" y="3200400"/>
            <a:ext cx="182880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889A362-1AF5-4836-9A48-678C4F1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152" y="1965960"/>
            <a:ext cx="1993392" cy="2606040"/>
          </a:xfrm>
          <a:prstGeom xmlns:a="http://schemas.openxmlformats.org/drawingml/2006/main" prst="roundRect">
            <a:avLst>
              <a:gd name="adj" fmla="val 50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05FF8DD-55A2-49F6-91A5-5E7C9142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088" y="2267712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5D8EAEF-E24D-41FE-ACBF-D0DBB66C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2088" y="2267712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1B8C9D5-DEC9-4B72-A589-912F7B3C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2592" y="3255264"/>
            <a:ext cx="181051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D8CF01A-8D95-4534-AD4E-70A6351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744" y="3621024"/>
            <a:ext cx="16642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Majority label becomes the emotion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E8A8977C-5B96-4C34-BC00-10400ECA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01184"/>
            <a:ext cx="11057839" cy="749808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8A99FEF-1AFF-4A10-AF70-4D992ECE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01184"/>
            <a:ext cx="10436047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If two labels tie, the previous emotion is kept — this stops the engine strength from flickering mid-game.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07870D5-8CA2-47E4-99EC-D2BD1B6B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28DE13-DE22-41AD-BA61-5CFA0FF8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6547012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0c750870004c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4D6990-E0DC-48FD-8E43-0B5B369B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THE CORE OF THE SYSTEM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65A172-78EF-4C7E-A960-759AF1D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Methodology 2 — Emotion to Engine Mapping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23EBFD4-AB62-4E06-818B-4EF1336D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27632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EMOTION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856C6B-17F4-499C-BE43-0C8F1C72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1627632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DEPTH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4A8391-BE13-4D73-9DE9-61309E2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627632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SKILL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DB475B-164A-4F9D-B4E9-84C62FA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27632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ELO RATING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350087-ED4D-4880-A0C0-76051059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E5A3BF6-C7A6-4844-A56C-F40ABDA7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47088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484B"/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45DE410-943E-4310-843E-A8C03E83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20824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Stressed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EBF4D94-E398-4E30-95E7-79B2D283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00253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9484B">
              <a:alpha val="22000"/>
            </a:srgbClr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748D4E8-1C55-4944-9376-7008757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00253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F38EA2-CC01-4C02-88B6-8A552265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00253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9484B">
              <a:alpha val="22000"/>
            </a:srgbClr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0DB284-13ED-46BA-8911-46EB2B56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00253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09B6A32-E274-4383-AA4C-39F27074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29968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17BA407-641B-4D8B-A110-3372D25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029968"/>
            <a:ext cx="1267294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84B"/>
          </a:solidFill>
          <a:ln xmlns:a="http://schemas.openxmlformats.org/drawingml/2006/main" w="12700">
            <a:solidFill>
              <a:srgbClr val="D9484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24ADF9-236B-4F3B-B845-C240F70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302" y="202996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23262B"/>
                </a:solidFill>
                <a:latin typeface="Courier New"/>
                <a:ea typeface="Courier New"/>
                <a:cs typeface="Courier New"/>
              </a:rPr>
              <a:t>1320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7BC9136-8557-4CBF-AA16-C237F467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23744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588BEC1-35B3-48DD-9C53-7B1DC19D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23744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8663C"/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D9F54FF-FB5D-4E4F-8CBB-116D0FC8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97480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Frustrated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A1982B9-E932-4A77-885D-52097B2B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679192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663C">
              <a:alpha val="22000"/>
            </a:srgbClr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98EE2A-FBBB-47A3-8616-8405690E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679192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F9CD4C4-1422-4865-94E3-897910B7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79192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8663C">
              <a:alpha val="22000"/>
            </a:srgbClr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2F99008-60B5-46F1-A2D3-FB8B06C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79192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1DA8087-6075-4081-AB16-8422951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706624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C7D4DA7-6CBE-4AA7-93C5-DCB4D73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706624"/>
            <a:ext cx="1267294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63C"/>
          </a:solidFill>
          <a:ln xmlns:a="http://schemas.openxmlformats.org/drawingml/2006/main" w="12700">
            <a:solidFill>
              <a:srgbClr val="E8663C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A851F27-BC30-4AA9-967D-C0AA3157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302" y="2706624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23262B"/>
                </a:solidFill>
                <a:latin typeface="Courier New"/>
                <a:ea typeface="Courier New"/>
                <a:cs typeface="Courier New"/>
              </a:rPr>
              <a:t>1320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E3D7928-A23E-48B1-B92D-15735628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351DB18A-8715-4071-A94A-65DAFAD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DBA05D6-7C33-4517-A2F3-4FDF63F0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374136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Calm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D5ECB773-4D11-4AE5-84FC-4F92C653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8A3D">
              <a:alpha val="22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84E0D92-4551-4312-858B-0357980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204E3E6-DFBF-4353-B6E6-5CA3FA9D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55848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8A3D">
              <a:alpha val="22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F8AEF41-2A0D-44A1-A28C-778C5A7E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5584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0985620-A54F-4B42-8918-385DB824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383280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33C5EE6-203D-4923-9F1A-19B161C7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3383280"/>
            <a:ext cx="2090714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1DD4635-E143-4AEB-80AA-2CB331E9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722" y="3383280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23262B"/>
                </a:solidFill>
                <a:latin typeface="Courier New"/>
                <a:ea typeface="Courier New"/>
                <a:cs typeface="Courier New"/>
              </a:rPr>
              <a:t>1600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6BEF433-B51E-4AC2-9FED-47EC15DE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77056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75F3FBC-7873-4E14-99CD-F28589D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77056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A83F"/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7313CCC-3E39-4371-8A0A-932CCA5C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050792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Neutral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3D6B948-8266-484B-8040-910E5358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32504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A83F">
              <a:alpha val="22000"/>
            </a:srgbClr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A34A546-04A1-4671-8B34-6BF97E5F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3250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E5C1CF7-DAC7-42AC-8A61-BA5B6958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032504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A83F">
              <a:alpha val="22000"/>
            </a:srgbClr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E226EB43-2FD2-47D1-9D87-0784D19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03250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6965329-1B88-45DF-97B8-10F88F96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59936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274323A4-8B33-4F3C-B45E-6CA72DB0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059936"/>
            <a:ext cx="326702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83F"/>
          </a:solidFill>
          <a:ln xmlns:a="http://schemas.openxmlformats.org/drawingml/2006/main" w="12700">
            <a:solidFill>
              <a:srgbClr val="FFA83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7ABA0AF-AB6E-40B8-AE48-AC8C44BB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035" y="4059936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23262B"/>
                </a:solidFill>
                <a:latin typeface="Courier New"/>
                <a:ea typeface="Courier New"/>
                <a:cs typeface="Courier New"/>
              </a:rPr>
              <a:t>2000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5ED2CB30-6255-489B-BEC7-5426DAA3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786056D-4CAA-456A-8677-BF007FC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59E89A1-2B76-4032-B316-278E5E99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727448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Focused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BF6F628-7115-40ED-B907-50D78C66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09160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C24B">
              <a:alpha val="22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E9772F25-2DDB-4DE7-9CC7-A211C7E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091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C946F63C-7776-4DBA-9D7E-02AF65ED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709160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C24B">
              <a:alpha val="22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F9882FCA-EB8A-4642-8763-B55E70E4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7091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96BE1F7-94E8-4469-AD9B-97635CF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736592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6EDFEC4-EA47-426A-A8FE-874CFAEB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736592"/>
            <a:ext cx="5031497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D332D0A3-742C-4555-9690-7F992E70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505" y="4736592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23262B"/>
                </a:solidFill>
                <a:latin typeface="Courier New"/>
                <a:ea typeface="Courier New"/>
                <a:cs typeface="Courier New"/>
              </a:rPr>
              <a:t>2600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6BBB8C62-BB67-4F24-B429-1ED630D2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11057839" cy="64008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5370205-94EB-42DB-B930-410AB598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128016" cy="64008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DE7A"/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62F44F98-96D4-4ED6-BA83-19FFD99F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04104"/>
            <a:ext cx="1645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Confident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E217D741-D356-4A82-AD08-6CF01A6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8581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DE7A">
              <a:alpha val="22000"/>
            </a:srgbClr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7F8DBFAA-6DEB-4F0C-A0F6-43513FAE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538581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F533D67D-1583-4E1F-BCC0-CA9C48D5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385816"/>
            <a:ext cx="566928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DE7A">
              <a:alpha val="22000"/>
            </a:srgbClr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9435A51C-A72F-446A-87F7-1EAEDE28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38581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0DE3481E-A0BA-4C60-8DFD-9DD9ACDB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5413248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375C021-DE6D-4FB4-A410-1129AE22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5413248"/>
            <a:ext cx="676656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E7A"/>
          </a:solidFill>
          <a:ln xmlns:a="http://schemas.openxmlformats.org/drawingml/2006/main" w="12700">
            <a:solidFill>
              <a:srgbClr val="F5DE7A"/>
            </a:solidFill>
            <a:prstDash val="solid"/>
          </a:ln>
        </p:spPr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9486713E-A3CC-4545-855D-CB4C900B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541324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23262B"/>
                </a:solidFill>
                <a:latin typeface="Courier New"/>
                <a:ea typeface="Courier New"/>
                <a:cs typeface="Courier New"/>
              </a:rPr>
              <a:t>3190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0271C3B8-B455-480F-86C2-2566D35C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98464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Stockfish accepts a UCI_Elo between 1320 and 3190 — the full supported range is used.</a:t>
            </a:r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B1588727-E770-4609-A360-53C81E0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34B614E4-9691-4B3C-AA73-CE0EB5F0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8394849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a3c2635fec4ec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8ADC4B-DB00-4E25-A699-43E5840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MOVE GENERATION AND EXPLAINABLE ADVICE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3AF495-F5EB-47B4-ABE1-65CF2A67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Methodology 3 — Stockfish &amp; The Logician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A5549F-19E8-4BDA-A907-11A972F4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8A3D"/>
                </a:solidFill>
                <a:latin typeface="Calibri"/>
                <a:ea typeface="Calibri"/>
                <a:cs typeface="Calibri"/>
              </a:rPr>
              <a:t>Stockfish engine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4C1886-67FF-4A89-9312-97BFA07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38528"/>
            <a:ext cx="5486400" cy="1965960"/>
          </a:xfrm>
          <a:prstGeom xmlns:a="http://schemas.openxmlformats.org/drawingml/2006/main" prst="roundRect">
            <a:avLst>
              <a:gd name="adj" fmla="val 511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00FBF84-0A1D-4BDD-BAEF-B1D814D9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8A3D">
              <a:alpha val="16000"/>
            </a:srgbClr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22E48FF-633B-4BDB-8207-4B69C64C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103120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3F1ED"/>
                </a:solidFill>
                <a:latin typeface="Courier New"/>
                <a:ea typeface="Courier New"/>
                <a:cs typeface="Courier New"/>
              </a:rPr>
              <a:t>fen + emotion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95B3110-420F-42AC-9A2F-4160E128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468880"/>
            <a:ext cx="164592" cy="1097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4AF9CD1-1BF4-4BE4-945D-E547E35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8FA6C4">
              <a:alpha val="16000"/>
            </a:srgbClr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0ABA685-5166-41A7-888E-9B2B97AC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578608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3F1ED"/>
                </a:solidFill>
                <a:latin typeface="Courier New"/>
                <a:ea typeface="Courier New"/>
                <a:cs typeface="Courier New"/>
              </a:rPr>
              <a:t>resolve_strength_profile()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5DCF2D4-BF49-4F21-901D-ABC2580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2944368"/>
            <a:ext cx="164592" cy="1097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8C0864-3423-4762-B171-D9A9D55D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54096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C24B">
              <a:alpha val="16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9B29BCC-F2F8-42EC-BEF0-748F8F6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054096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3F1ED"/>
                </a:solidFill>
                <a:latin typeface="Courier New"/>
                <a:ea typeface="Courier New"/>
                <a:cs typeface="Courier New"/>
              </a:rPr>
              <a:t>Stockfish engine pool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94ECF0C-B898-4B99-AD1C-628FEEA8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3419856"/>
            <a:ext cx="164592" cy="1097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C939C"/>
          </a:solidFill>
          <a:ln xmlns:a="http://schemas.openxmlformats.org/drawingml/2006/main" w="12700">
            <a:solidFill>
              <a:srgbClr val="8C939C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4A1A59C-3BA6-4CA0-B56E-E11A1415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9584"/>
            <a:ext cx="4974336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705A">
              <a:alpha val="16000"/>
            </a:srgbClr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5D27F3-0522-40B3-B676-5EF0B06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529584"/>
            <a:ext cx="46634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3F1ED"/>
                </a:solidFill>
                <a:latin typeface="Courier New"/>
                <a:ea typeface="Courier New"/>
                <a:cs typeface="Courier New"/>
              </a:rPr>
              <a:t>botMove returned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0A1E6E2-13F2-4831-8A81-4D4E149D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41648"/>
            <a:ext cx="53035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A pool of persistent engine instances keeps replies fast.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Each request sets UCI_Elo, skill level and depth from the profile.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F1BE575-0990-41B5-B1B0-79E13A7F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522396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2705A"/>
                </a:solidFill>
                <a:latin typeface="Calibri"/>
                <a:ea typeface="Calibri"/>
                <a:cs typeface="Calibri"/>
              </a:rPr>
              <a:t>The Logician — Prolog reasoning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1CA71A9-1027-45EF-88F4-0DE223C8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38528"/>
            <a:ext cx="5223967" cy="2615184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805E24B-EFD8-4ACA-90F2-05779871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121408"/>
            <a:ext cx="4748479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7EE3733-DD2F-4884-8888-048F5CF3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350008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FB63A63-A1A8-4852-941E-62D14AE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350008"/>
            <a:ext cx="786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2181B5-6A7E-45E1-A5C5-A8DB090A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121408"/>
            <a:ext cx="3669487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Your knight on f6 is hanging — attacked and undefended.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59DC999-E54C-4651-B78F-5EB45D1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944368"/>
            <a:ext cx="4748479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5961313-3AB7-4A9B-A1F9-6150DB49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172968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4FD6318-F15E-4EFA-BE74-D51332C0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172968"/>
            <a:ext cx="786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MEDIUM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C8F133C-6D3F-46CC-BF00-A1EDDA1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944368"/>
            <a:ext cx="3669487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You have not castled; your king is still in the centre.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249518C-8036-4DBA-B4BE-512DCFD2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3767328"/>
            <a:ext cx="4748479" cy="713232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976F06B-0B93-4A3A-B522-4E1493A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995928"/>
            <a:ext cx="786384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3299090-8FF1-4A25-84E6-AACB64D5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3995928"/>
            <a:ext cx="786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431F705-A334-49AE-8BAD-9997310B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3767328"/>
            <a:ext cx="3669487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Black controls d4 and e5 — good central presence.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2B4D4D4-D805-47AF-AC06-5BD17E2F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1728"/>
            <a:ext cx="5223967" cy="877824"/>
          </a:xfrm>
          <a:prstGeom xmlns:a="http://schemas.openxmlformats.org/drawingml/2006/main" prst="roundRect">
            <a:avLst>
              <a:gd name="adj" fmla="val 11458"/>
            </a:avLst>
          </a:prstGeom>
          <a:solidFill xmlns:a="http://schemas.openxmlformats.org/drawingml/2006/main">
            <a:srgbClr val="F2705A">
              <a:alpha val="18000"/>
            </a:srgbClr>
          </a:solidFill>
          <a:ln xmlns:a="http://schemas.openxmlformats.org/drawingml/2006/main" w="15875">
            <a:solidFill>
              <a:srgbClr val="F2705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613E9CB-B9FE-45DD-ADEC-9E3F5B5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681728"/>
            <a:ext cx="4675327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Every conclusion traces back to the exact rule that produced it — the advice is explainable, not a black box.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91BFFD8-797B-4E00-B665-6089844F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33C4FFF-A8F3-48CB-A2C5-0E014F81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5487509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7ad0603b5e4f6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5655F0-5664-41EA-A5DB-BF59D52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TALKING WITH THE ENGINE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51C5BD-2B10-4C1E-A3B4-36EF675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Methodology 4 — Coach &amp; Burmese Voice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2A478E-92DE-4F65-807C-18BB9563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LLM Coach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64E43E-9BEB-43C3-9010-37A20853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53035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Receives the current FEN, the detected emotion and the question.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Produces position analysis in plain language.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Suggested moves appear as clickable “Play” buttons.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●"/>
            </a:pPr>
            <a:r>
              <a:rPr sz="125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Tone follows emotion — encouragement or a challenge.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95C032A-3022-482C-865C-E332B989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49040"/>
            <a:ext cx="5486400" cy="20116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8CFF89-6E5F-4FDC-AF3B-BA9172E6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95344"/>
            <a:ext cx="2743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AI COACH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00F1AC4-83DC-4D75-A62C-163B026D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58768"/>
            <a:ext cx="118872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>
              <a:alpha val="24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2F48A5-0456-4C85-A842-3F38A44D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58768"/>
            <a:ext cx="1188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focused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6BDA378-7C6B-48D9-B803-50626A1C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456" y="4261104"/>
            <a:ext cx="329184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9EA7060-E627-4C65-9E49-3991549A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261104"/>
            <a:ext cx="2999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What is the best plan here?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08C6640-867B-49BF-8C1A-A060860A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466344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C3037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23E87E-5457-4844-AD4C-63B06EC0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919472"/>
            <a:ext cx="43708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Castle short first, then push d4 to open the centre.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861BDDA-5545-4D92-87B8-5454A583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522396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2705A"/>
                </a:solidFill>
                <a:latin typeface="Calibri"/>
                <a:ea typeface="Calibri"/>
                <a:cs typeface="Calibri"/>
              </a:rPr>
              <a:t>Burmese voice interface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D13F862-E842-4394-A878-02D42282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6816"/>
            <a:ext cx="5223967" cy="859536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27F8D32-48A2-4B77-8E51-4B9DBED8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13969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E9EB602-3164-4AA8-B00B-2E9CFCB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13969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3211F96-B684-4F3E-A3FB-839153F2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139696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3B19C81-F987-4548-A7BB-746CB4C0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414016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Push-to-talk in the browser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AD8D2D0-D7C8-473B-906B-E67BA20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07792"/>
            <a:ext cx="5223967" cy="859536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14AE97B-B232-4232-A0EE-828E7EF1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30906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D774065-CF8C-4A66-9EFC-8867995A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30906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◆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9368D5F-3CB3-487A-9829-4D7D3195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090672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Transcribe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5899DE-7F05-4904-9BAF-49D8FB0B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364992"/>
            <a:ext cx="42181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Local Whisper first, cloud as fallback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3016B36-467A-4967-8D68-C97ECDDB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7056"/>
            <a:ext cx="2474824" cy="1883664"/>
          </a:xfrm>
          <a:prstGeom xmlns:a="http://schemas.openxmlformats.org/drawingml/2006/main" prst="roundRect">
            <a:avLst>
              <a:gd name="adj" fmla="val 5340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FE1D2F2-0CF4-4A86-9141-D40D28FD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77056"/>
            <a:ext cx="2474824" cy="475488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CF84EEA-3AE8-442E-B474-D2C5187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77056"/>
            <a:ext cx="21090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Voice Moves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88D38B8-C8E8-4E67-B2F0-BC11E69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517136"/>
            <a:ext cx="1962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Parsed by speechParser.ts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Burmese chess vocabulary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Only legal moves are played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13DC680-BB7F-46FB-8C41-D085D134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944" y="3877056"/>
            <a:ext cx="2474824" cy="1883664"/>
          </a:xfrm>
          <a:prstGeom xmlns:a="http://schemas.openxmlformats.org/drawingml/2006/main" prst="roundRect">
            <a:avLst>
              <a:gd name="adj" fmla="val 5340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1686A23-9868-4A77-916F-C974924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944" y="3877056"/>
            <a:ext cx="2474824" cy="475488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CE90495-65D4-4C33-8E4A-061C92B8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877056"/>
            <a:ext cx="2109064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Voice Coach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CF7626A-9741-4150-A78B-6D5B1B0F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76" y="4517136"/>
            <a:ext cx="1962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Sent to /api/coach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Answered in Burmese</a:t>
            </a:r>
          </a:p>
          <a:p xmlns:a="http://schemas.openxmlformats.org/drawingml/2006/main"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●"/>
            </a:pPr>
            <a:r>
              <a:rPr sz="1100">
                <a:solidFill>
                  <a:srgbClr val="F3F1ED"/>
                </a:solidFill>
                <a:latin typeface="Calibri"/>
                <a:ea typeface="Calibri"/>
                <a:cs typeface="Calibri"/>
              </a:rPr>
              <a:t>Read aloud by Burmese TTS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F8B4783-D1C4-4294-905C-3875272D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B3724DE-71ED-4C2F-BBF5-E485179C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1206058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be00c7be77b4e6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C86C27-03B0-4107-B88E-C90D095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8A3D"/>
                </a:solidFill>
                <a:latin typeface="Calibri"/>
                <a:ea typeface="Calibri"/>
                <a:cs typeface="Calibri"/>
              </a:rPr>
              <a:t>THE MAPPING, IN TWO LANGUAGES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219C0B-4F8C-40B8-8744-979D04AC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Code Example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64FAC38-90F5-499A-99D0-D05FB1B9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00784"/>
            <a:ext cx="5669280" cy="4160520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15875">
            <a:solidFill>
              <a:srgbClr val="FF8A3D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012231-C29B-4D38-8462-CA52B3FB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B493578-7D38-4259-8D90-79CD1A86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8712600-DFAA-494C-B4BA-08FF3DB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D17E"/>
          </a:solidFill>
          <a:ln xmlns:a="http://schemas.openxmlformats.org/drawingml/2006/main" w="12700">
            <a:solidFill>
              <a:srgbClr val="9BD17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CC85E5-3299-4824-807E-87B15E80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1828800"/>
            <a:ext cx="4480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198A1"/>
                </a:solidFill>
                <a:latin typeface="Courier New"/>
                <a:ea typeface="Courier New"/>
                <a:cs typeface="Courier New"/>
              </a:rPr>
              <a:t>lib/engineProfiles.ts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ED1237B-1966-4B5C-A671-4AA6724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03120"/>
            <a:ext cx="5120640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B061"/>
                </a:solidFill>
                <a:latin typeface="Courier New"/>
                <a:ea typeface="Courier New"/>
                <a:cs typeface="Courier New"/>
              </a:rPr>
              <a:t>export const </a:t>
            </a: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EMOTION_PROFILES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= {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stressed:   { depth: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1320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frustrated: { depth: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2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3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1320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calm:       { depth: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4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1600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neutral:    { depth: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6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2000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focused:    { depth: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8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15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2600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confident:  { depth: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10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skill: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20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, elo: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3190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},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};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B061"/>
                </a:solidFill>
                <a:latin typeface="Courier New"/>
                <a:ea typeface="Courier New"/>
                <a:cs typeface="Courier New"/>
              </a:rPr>
              <a:t>export function </a:t>
            </a: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clampElo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(elo: number) {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B061"/>
                </a:solidFill>
                <a:latin typeface="Courier New"/>
                <a:ea typeface="Courier New"/>
                <a:cs typeface="Courier New"/>
              </a:rPr>
              <a:t>  return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Math.max(1320, Math.min(3190, elo));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73ABFDA-4176-46C4-8456-EE2E760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700784"/>
            <a:ext cx="5111496" cy="4160520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15875">
            <a:solidFill>
              <a:srgbClr val="F2705A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2767078-13A5-40BD-8841-D4164F6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21BD8DC-D76F-4658-A8EE-9A73C9F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7DAF47C-F398-45E0-9420-12BBDF66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190195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D17E"/>
          </a:solidFill>
          <a:ln xmlns:a="http://schemas.openxmlformats.org/drawingml/2006/main" w="12700">
            <a:solidFill>
              <a:srgbClr val="9BD17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876F968-FD6A-43A6-9E62-6A19845D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828800"/>
            <a:ext cx="39227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198A1"/>
                </a:solidFill>
                <a:latin typeface="Courier New"/>
                <a:ea typeface="Courier New"/>
                <a:cs typeface="Courier New"/>
              </a:rPr>
              <a:t>prolog/ai_system.pl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4FD03A2-B1C6-4EA3-A625-2EEBB94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103120"/>
            <a:ext cx="4562856" cy="3611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8C939C"/>
                </a:solidFill>
                <a:latin typeface="Courier New"/>
                <a:ea typeface="Courier New"/>
                <a:cs typeface="Courier New"/>
              </a:rPr>
              <a:t>% emotion to engine strength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(stressed,    1,  1, 1320).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(frustrated,  2,  3, 1320).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(calm,        4,  6, 1600).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profile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(confident,  10, 20, 3190).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8C939C"/>
                </a:solidFill>
                <a:latin typeface="Courier New"/>
                <a:ea typeface="Courier New"/>
                <a:cs typeface="Courier New"/>
              </a:rPr>
              <a:t>% face to emotion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expression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(happy, confident).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DA7B"/>
                </a:solidFill>
                <a:latin typeface="Courier New"/>
                <a:ea typeface="Courier New"/>
                <a:cs typeface="Courier New"/>
              </a:rPr>
              <a:t>expression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(angry, frustrated).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8C939C"/>
                </a:solidFill>
                <a:latin typeface="Courier New"/>
                <a:ea typeface="Courier New"/>
                <a:cs typeface="Courier New"/>
              </a:rPr>
              <a:t>% join the two together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FFB061"/>
                </a:solidFill>
                <a:latin typeface="Courier New"/>
                <a:ea typeface="Courier New"/>
                <a:cs typeface="Courier New"/>
              </a:rPr>
              <a:t>engine_for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(Expr, D, S, E) </a:t>
            </a:r>
            <a:r>
              <a:rPr sz="1150">
                <a:solidFill>
                  <a:srgbClr val="F2907A"/>
                </a:solidFill>
                <a:latin typeface="Courier New"/>
                <a:ea typeface="Courier New"/>
                <a:cs typeface="Courier New"/>
              </a:rPr>
              <a:t>:-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  expression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(Expr, Emo),</a:t>
            </a:r>
          </a:p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    profile</a:t>
            </a:r>
            <a:r>
              <a:rPr sz="1150">
                <a:solidFill>
                  <a:srgbClr val="DCD9D3"/>
                </a:solidFill>
                <a:latin typeface="Courier New"/>
                <a:ea typeface="Courier New"/>
                <a:cs typeface="Courier New"/>
              </a:rPr>
              <a:t>(Emo, D, S, E).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C3C764D-B56F-4ABD-AB03-BBF29257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53328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One source of truth in TypeScript; the same knowledge as declarative facts in Prolog.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0C5CA9E-CB17-4A3B-97D9-3224C05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B8BF894-1B1F-4EC3-8D96-B99555C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48581913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a5fcdebb606455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CAA2B8-571B-43AC-8AD7-D6489AAC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THE INTERFACE IN USE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09CAE8-89B7-4EC4-9366-8D5867B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System UI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A8C219-7E41-4080-A149-6DA9A7AD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6858000" cy="4069080"/>
          </a:xfrm>
          <a:prstGeom xmlns:a="http://schemas.openxmlformats.org/drawingml/2006/main" prst="roundRect">
            <a:avLst>
              <a:gd name="adj" fmla="val 2472"/>
            </a:avLst>
          </a:prstGeom>
          <a:solidFill xmlns:a="http://schemas.openxmlformats.org/drawingml/2006/main">
            <a:srgbClr val="31353C"/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1033B7-0739-4378-A4B2-7207645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6858000" cy="384048"/>
          </a:xfrm>
          <a:prstGeom xmlns:a="http://schemas.openxmlformats.org/drawingml/2006/main" prst="roundRect">
            <a:avLst>
              <a:gd name="adj" fmla="val 26190"/>
            </a:avLst>
          </a:prstGeom>
          <a:solidFill xmlns:a="http://schemas.openxmlformats.org/drawingml/2006/main">
            <a:srgbClr val="23262B"/>
          </a:solidFill>
          <a:ln xmlns:a="http://schemas.openxmlformats.org/drawingml/2006/main" w="12700">
            <a:solidFill>
              <a:srgbClr val="23262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D15030-EEC8-4E0C-BD9F-353B462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55648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198A1"/>
                </a:solidFill>
                <a:latin typeface="Courier New"/>
                <a:ea typeface="Courier New"/>
                <a:cs typeface="Courier New"/>
              </a:rPr>
              <a:t>Sentio  —  localhost:3000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4CEA67-A2DC-4D82-BC6F-9081EC62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146304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E8"/>
          </a:solidFill>
          <a:ln xmlns:a="http://schemas.openxmlformats.org/drawingml/2006/main" w="12700">
            <a:solidFill>
              <a:srgbClr val="EFEDE8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6848A78-F782-4BF2-8BF6-9B01AEF9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146304" cy="1298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62B"/>
          </a:solidFill>
          <a:ln xmlns:a="http://schemas.openxmlformats.org/drawingml/2006/main" w="12700">
            <a:solidFill>
              <a:srgbClr val="23262B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3EF969F-372D-4902-B7F0-1253164C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B030A12-22AE-4250-8103-B40E2611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748ADFA-642B-4430-8E1B-2E95BA3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C626B5E-AA4D-493F-BEF0-4470E489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79F343F-E51B-465B-8197-1552EFD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F80D879-988B-4AB0-A071-706E39C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CC39AB7-6830-45AD-ADD5-0F87F91B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FF1CC74-C2D6-4189-BDAC-A5D72E32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239572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26B3C21-2BC1-4236-90A9-240A92B8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7D27A60-C121-401E-944F-EF0B3B2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E4615F1-38FD-4CB5-818D-61B6BE14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B37F4BA-C1B6-418A-8E50-DAB60615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1212849-93A4-4889-9AA7-B544CEBC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E6B7964-1C6C-4B9E-9B23-8D1DE545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5917B43-DCDB-4817-B39D-B5BCCB66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03E562A-BB07-4376-A03F-C1613CA8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2772461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A7AF14B-1736-450C-B0A7-3981C8AB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A09224B-5C2A-410B-8E7B-36EFC9E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F2DB941-6EDB-4053-BB92-7307AA44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8FA985F-51D8-42A3-BAAE-5C65600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4FDA574-619A-4E87-BEA9-F6334EB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59F0B40-27F8-4E1B-8820-ADE6730C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E513AE1-1811-48F1-B4F4-F928CE30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BFF621F-100A-4B91-B641-EE515E18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3149194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A5ACE6E-A94E-4335-97DE-C78F7E44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0B6876C-742B-4688-A809-DC6D7C22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239767A-6AE5-4B01-B039-351B0505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A3063011-CE95-466A-9878-F3204F45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48CDEB00-1E05-4971-B1F5-677D85B2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3C1D0B3-97F2-46FA-A1E3-B7064D53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E3F8F79-54A9-4F75-924F-C66309E3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8533ED6-3725-46B6-BDC1-200202D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3525926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792048D4-983F-4F7D-B5BF-1BFA6E0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B9807F0C-5E67-474B-8B45-C748FE63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AE2D9DCA-63EE-4CDE-8FE1-5783B63D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51F290B-9202-47C0-A6ED-91D6731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1D33016F-3870-4EAE-BA97-790D8FC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5CC3A942-690D-4B7F-B2E5-35D21BF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C804013-4D6A-4B7C-9B15-D1AC1229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AD9B326-B83E-4AEB-B4DE-8B7C848A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D16F983-A85D-45ED-BBFF-1DAAADFE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1875780F-4B73-4E7F-8EE7-7192174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3EC8B09-F417-44EA-9750-2A544054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E15D5B9-8526-410B-B0A6-F2607D16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9189C688-1FB9-43C3-B14F-24740331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7FFF8E83-8A41-4F3C-857D-2C1D4258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3767F87B-0C4A-459D-9B4F-17EDE95C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72A5822F-4262-4265-8C00-652E7761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4279392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B6D28F1E-2635-43B6-B7CF-E76317F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8A7A681-0328-4311-9B14-3DE727F7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9D26654-8B3A-4EEC-B745-3E077DE0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DA4D0B8B-2717-4105-AE1E-7A57115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1413C942-FC82-43FE-AF47-CC80C4DD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0C85A966-3986-4691-A5C9-734E431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ECD31AB3-A8B9-48D7-9252-F063A4D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9CA464F9-8D77-47BB-BE3E-9A52D886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4656125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48476EBD-8B57-4541-B301-084C4DD1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113480F5-6E27-4E4C-AABB-6D0A58F9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89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550E94AF-C72B-462B-89A8-67032C07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D19BCCBA-FD77-449A-8D05-E3258C1F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28E6A187-8666-4904-9D88-DEB803F8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6937B15B-ADDB-4806-BE14-43E00C1E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570B2BEA-F71E-43F9-8DE7-0AD5ACD4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54"/>
          </a:solidFill>
          <a:ln xmlns:a="http://schemas.openxmlformats.org/drawingml/2006/main" w="12700">
            <a:solidFill>
              <a:srgbClr val="9A7B54"/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705978E2-3685-470E-A3F6-88CDEA8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986" y="5032858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6"/>
          </a:solidFill>
          <a:ln xmlns:a="http://schemas.openxmlformats.org/drawingml/2006/main" w="12700">
            <a:solidFill>
              <a:srgbClr val="E8DCC6"/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60BA0141-145A-4859-A22C-701D5031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>
              <a:alpha val="60000"/>
            </a:srgbClr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993DA82-2238-422F-B716-740A9FE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53" y="3902659"/>
            <a:ext cx="376733" cy="376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>
              <a:alpha val="60000"/>
            </a:srgbClr>
          </a:solidFill>
          <a:ln xmlns:a="http://schemas.openxmlformats.org/drawingml/2006/main" w="19050">
            <a:solidFill>
              <a:srgbClr val="FF8A3D"/>
            </a:solidFill>
            <a:prstDash val="solid"/>
          </a:ln>
        </p:spPr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4D69A1BE-74C4-45BF-BD68-29F9C179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39572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♜</a:t>
            </a:r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55FAE324-28DB-4166-80CE-BF89541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239572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♞</a:t>
            </a:r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ECD7F2D9-5F72-44EE-83E5-074B4D61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239572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♚</a:t>
            </a:r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7AB659CA-BE08-4178-BF18-2B67F85C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2772461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2A2419"/>
                </a:solidFill>
                <a:latin typeface="Calibri"/>
                <a:ea typeface="Calibri"/>
                <a:cs typeface="Calibri"/>
              </a:rPr>
              <a:t>♟</a:t>
            </a:r>
          </a:p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51580453-E12F-405A-AECA-04ABCC9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054" y="4656125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♙</a:t>
            </a:r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C56B4EB9-AD7C-434A-935B-49536EF8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322" y="503285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♗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47BDEAC8-8492-42B3-B561-BA927933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787" y="5032858"/>
            <a:ext cx="376733" cy="3767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♔</a:t>
            </a:r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8CB820D9-C020-4926-9690-205CAC90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2395728"/>
            <a:ext cx="872947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B1282F10-29FE-4350-9350-F7EBCBDA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2395728"/>
            <a:ext cx="8729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Coach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2175ED0F-85F0-477E-B60D-3C65546F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274" y="2395728"/>
            <a:ext cx="872947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3B4048"/>
            </a:solidFill>
            <a:prstDash val="solid"/>
          </a:ln>
        </p:spPr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E3938AF3-3B9E-470D-B12D-A13C994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274" y="2395728"/>
            <a:ext cx="8729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Logician</a:t>
            </a:r>
          </a:p>
        </p:txBody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CF222B55-E1F4-400E-97F6-EBD1BBB4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085" y="2395728"/>
            <a:ext cx="872947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3B4048"/>
            </a:solidFill>
            <a:prstDash val="solid"/>
          </a:ln>
        </p:spPr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D3437E57-D199-48B4-93E1-FD9C8DE0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085" y="2395728"/>
            <a:ext cx="872947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Speech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98999EA-A5B6-4F6C-947E-6A8595F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2834640"/>
            <a:ext cx="278343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C24B">
              <a:alpha val="22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7DC1AA22-F818-4FB4-A666-C842F0A6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478" y="2834640"/>
            <a:ext cx="252740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Emotion:  focused</a:t>
            </a:r>
          </a:p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ELO 2600  ·  depth 8</a:t>
            </a:r>
          </a:p>
        </p:txBody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F5748038-65B6-4B06-B320-F2B8B410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3529584"/>
            <a:ext cx="27834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1CB23FD-55FF-4319-AC68-58B4A7C8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3913632"/>
            <a:ext cx="23262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EB5FFDB4-DE69-4B8F-A208-66C037DA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4297680"/>
            <a:ext cx="27834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4AA73311-D08B-47A4-A9F2-05F1FACD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4681728"/>
            <a:ext cx="23262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8ABF2DAE-8D3B-4D41-A952-701329F0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462" y="5065776"/>
            <a:ext cx="2783434" cy="292608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B4048"/>
          </a:solidFill>
          <a:ln xmlns:a="http://schemas.openxmlformats.org/drawingml/2006/main" w="12700">
            <a:solidFill>
              <a:srgbClr val="4A505A"/>
            </a:solidFill>
            <a:prstDash val="solid"/>
          </a:ln>
        </p:spPr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6A63D241-2DCC-43A7-BF0D-B6D038B0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190" y="5458968"/>
            <a:ext cx="278343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8C939C"/>
                </a:solidFill>
                <a:latin typeface="Calibri"/>
                <a:ea typeface="Calibri"/>
                <a:cs typeface="Calibri"/>
              </a:rPr>
              <a:t>Ruy Lopez (C60)</a:t>
            </a:r>
          </a:p>
        </p:txBody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B093FC3E-1D47-42D4-93F0-A562EA4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564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C59A7961-061B-4A36-BDA3-DB02049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93852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F65D8D4D-F4C1-4693-AFDB-60F5D2C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93852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EB4A7C25-3C97-4980-9878-CCE2FD5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93852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Interactive board</a:t>
            </a:r>
          </a:p>
        </p:txBody>
      </p:sp>
      <p:sp>
        <p:nvSpPr>
          <p:cNvPr id="100" name="Text 98">
            <a:extLst xmlns:a="http://schemas.openxmlformats.org/drawingml/2006/main">
              <a:ext uri="{FF2B5EF4-FFF2-40B4-BE49-F238E27FC236}">
                <a16:creationId xmlns:a16="http://schemas.microsoft.com/office/drawing/2014/main" id="{260B3FDE-E0A5-49E5-85B9-51D326BA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21284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Legal-move highlighting, promotion picker and undo.</a:t>
            </a:r>
          </a:p>
        </p:txBody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32A34447-487A-4AB0-B45F-ECDE1C87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720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53B0939C-FEB4-494C-973C-C14A476F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99008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03" name="Text 101">
            <a:extLst xmlns:a="http://schemas.openxmlformats.org/drawingml/2006/main">
              <a:ext uri="{FF2B5EF4-FFF2-40B4-BE49-F238E27FC236}">
                <a16:creationId xmlns:a16="http://schemas.microsoft.com/office/drawing/2014/main" id="{F84C0B39-E1A2-41E7-8523-D4D3BD57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99008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04" name="Text 102">
            <a:extLst xmlns:a="http://schemas.openxmlformats.org/drawingml/2006/main">
              <a:ext uri="{FF2B5EF4-FFF2-40B4-BE49-F238E27FC236}">
                <a16:creationId xmlns:a16="http://schemas.microsoft.com/office/drawing/2014/main" id="{AA00D044-0898-4F74-9E27-FC99DB7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99008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Emotion monitor</a:t>
            </a:r>
          </a:p>
        </p:txBody>
      </p:sp>
      <p:sp>
        <p:nvSpPr>
          <p:cNvPr id="105" name="Text 103">
            <a:extLst xmlns:a="http://schemas.openxmlformats.org/drawingml/2006/main">
              <a:ext uri="{FF2B5EF4-FFF2-40B4-BE49-F238E27FC236}">
                <a16:creationId xmlns:a16="http://schemas.microsoft.com/office/drawing/2014/main" id="{2587A5AC-74BD-482E-9072-97A6DE8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26440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Shows the detected state and the engine profile in use.</a:t>
            </a:r>
          </a:p>
        </p:txBody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7C63A311-DF95-4F15-A302-5A2E7E6C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876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03D8281E-1868-4064-ADED-957A5840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416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08" name="Text 106">
            <a:extLst xmlns:a="http://schemas.openxmlformats.org/drawingml/2006/main">
              <a:ext uri="{FF2B5EF4-FFF2-40B4-BE49-F238E27FC236}">
                <a16:creationId xmlns:a16="http://schemas.microsoft.com/office/drawing/2014/main" id="{E38F7DB4-08F6-4B61-B06A-7176FD2F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09" name="Text 107">
            <a:extLst xmlns:a="http://schemas.openxmlformats.org/drawingml/2006/main">
              <a:ext uri="{FF2B5EF4-FFF2-40B4-BE49-F238E27FC236}">
                <a16:creationId xmlns:a16="http://schemas.microsoft.com/office/drawing/2014/main" id="{64EB684E-FCD8-46E1-8BDB-17EBA3BD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04164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Evaluation bar</a:t>
            </a:r>
          </a:p>
        </p:txBody>
      </p:sp>
      <p:sp>
        <p:nvSpPr>
          <p:cNvPr id="110" name="Text 108">
            <a:extLst xmlns:a="http://schemas.openxmlformats.org/drawingml/2006/main">
              <a:ext uri="{FF2B5EF4-FFF2-40B4-BE49-F238E27FC236}">
                <a16:creationId xmlns:a16="http://schemas.microsoft.com/office/drawing/2014/main" id="{16BDD02C-6FB1-478C-8B44-5E2BDAB3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31596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Live engine assessment beside the board.</a:t>
            </a:r>
          </a:p>
        </p:txBody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9403614D-2FB8-49B5-9E83-D719034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10328"/>
            <a:ext cx="3852367" cy="969264"/>
          </a:xfrm>
          <a:prstGeom xmlns:a="http://schemas.openxmlformats.org/drawingml/2006/main" prst="roundRect">
            <a:avLst>
              <a:gd name="adj" fmla="val 10377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CFF0CC3A-531E-48EA-A522-927DA1E2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50932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113" name="Text 111">
            <a:extLst xmlns:a="http://schemas.openxmlformats.org/drawingml/2006/main">
              <a:ext uri="{FF2B5EF4-FFF2-40B4-BE49-F238E27FC236}">
                <a16:creationId xmlns:a16="http://schemas.microsoft.com/office/drawing/2014/main" id="{7E9CEF40-A74E-44CC-8EB4-AE75C49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509320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●</a:t>
            </a:r>
          </a:p>
        </p:txBody>
      </p:sp>
      <p:sp>
        <p:nvSpPr>
          <p:cNvPr id="114" name="Text 112">
            <a:extLst xmlns:a="http://schemas.openxmlformats.org/drawingml/2006/main">
              <a:ext uri="{FF2B5EF4-FFF2-40B4-BE49-F238E27FC236}">
                <a16:creationId xmlns:a16="http://schemas.microsoft.com/office/drawing/2014/main" id="{78010794-EC12-4FA6-AA46-5418E4C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093208"/>
            <a:ext cx="284652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Tabbed panel</a:t>
            </a:r>
          </a:p>
        </p:txBody>
      </p:sp>
      <p:sp>
        <p:nvSpPr>
          <p:cNvPr id="115" name="Text 113">
            <a:extLst xmlns:a="http://schemas.openxmlformats.org/drawingml/2006/main">
              <a:ext uri="{FF2B5EF4-FFF2-40B4-BE49-F238E27FC236}">
                <a16:creationId xmlns:a16="http://schemas.microsoft.com/office/drawing/2014/main" id="{49AB668A-706E-47BB-88EA-B110F53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367528"/>
            <a:ext cx="2846527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Coach, Logician, Speech, Benchmark and Training.</a:t>
            </a:r>
          </a:p>
        </p:txBody>
      </p:sp>
      <p:sp>
        <p:nvSpPr>
          <p:cNvPr id="116" name="Text 114">
            <a:extLst xmlns:a="http://schemas.openxmlformats.org/drawingml/2006/main">
              <a:ext uri="{FF2B5EF4-FFF2-40B4-BE49-F238E27FC236}">
                <a16:creationId xmlns:a16="http://schemas.microsoft.com/office/drawing/2014/main" id="{F29BB27D-13F6-461D-873D-FAE0FE1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17" name="Text 115">
            <a:extLst xmlns:a="http://schemas.openxmlformats.org/drawingml/2006/main">
              <a:ext uri="{FF2B5EF4-FFF2-40B4-BE49-F238E27FC236}">
                <a16:creationId xmlns:a16="http://schemas.microsoft.com/office/drawing/2014/main" id="{85533176-6A70-46E4-B821-D5BA49A5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050414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aeae13e98c42e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256236-D392-4916-906F-25F458A4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AN HONEST ASSESSMENT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3BA325-062B-4165-91EE-9E75E0D7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Benefits &amp; Limitations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FB0631E-68D8-4B1F-B101-1BFD9DD2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460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C04CF5-C4FD-4122-8A1A-E375633A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488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BENEFITS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A9CF6AD-6195-4DAA-804E-CE3D837C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A208BE1-C56F-4C8A-A539-1888B64A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140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2C48243-A7E1-4643-A91B-CDF10BBF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4140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7BBC75F-90A0-4344-9704-E0FCEDE2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4016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Always the right challenge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E16812F-959D-4138-B911-EE5E0CC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8336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Difficulty follows the player, so the game stays winnable.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4CA3678-225F-402D-BAE7-B04EA679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0DBC16A-1194-4922-A5ED-3570CE50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3814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F736AC7-BCE1-449A-A327-AE9507F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3814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B24454-8EDF-4E25-A4D5-4956D4A6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38144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Beginners stay motivated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B72CC0-E774-4020-AA7C-6CAAAC4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2464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Emotion-aware feedback supports players through hard positions.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28DB105-2E85-4AB6-9924-96F58FB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44A0C19-08AB-463F-8018-51386BC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622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0950F1-D48A-4494-BFD3-CFA060A6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4622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992FD34-3C4E-43DA-8C02-B8E0ECCD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62272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Explainable advice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54FC69-7177-4D2E-9100-099D0D76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36592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Prolog shows why a move is suggested, not just that it is.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5D8346E-6EB1-4956-9C81-AB9A5383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0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351ACD9-4C75-429B-8E31-6CD8A37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8640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4D091F8-5A39-4456-A0F4-A7049D19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48640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F154AE4-89AC-451E-AE49-C22240B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86400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Accessible in Burmese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AD15978-0D8F-418E-9182-6F310CDA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60720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Voice moves and coaching remove the English-only barrier.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C2BE567-67EF-4AD4-B4E7-D544689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1645920"/>
            <a:ext cx="53460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CC827C1-F5BB-4F69-9CD8-E2C87F10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760" y="1645920"/>
            <a:ext cx="488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LIMITATIONS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408C511-97AB-4BD0-B17C-79704E7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2231136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007D4AA-0557-4ABA-BA98-805836D3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4140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FACB45B-C0DF-4FA6-ADCD-AD1043B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4140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57116E2-2369-46B9-8DB4-31A03B70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414016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Expression ≠ emotion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C64FF1E-978B-4A75-BF70-7D06C020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688336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A face is only an approximation of what a player feels.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D722BDE-7DEC-49EE-8AFA-FF8E67D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3255264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256181E-2C0A-4024-97E5-9161CDE1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43814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0283A99-A49E-453F-8B82-0DACDA7B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43814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440F225-5FF8-4D64-908A-D480B55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3438144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Environment sensitive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4BE23D6-9FDB-468C-8698-B7AF8E1E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3712464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Accuracy drops with poor lighting or a turned head.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0F33C2F-839D-4DC3-AE49-4C1F4D8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4279392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90DEABB-0C16-4875-A0AA-48EDF03A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44622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48EE2F3-2544-4F0C-A90D-6D47045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44622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0C0F1A7-6F54-4716-9CD1-801041C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4462272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Privacy concerns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82225C48-1823-4A99-A38D-95EF2973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4736592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The webcam requirement will not suit every setting.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3C5E7CD-6CFC-41A3-929D-8A79BAA9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728" y="5303520"/>
            <a:ext cx="5346040" cy="932688"/>
          </a:xfrm>
          <a:prstGeom xmlns:a="http://schemas.openxmlformats.org/drawingml/2006/main" prst="roundRect">
            <a:avLst>
              <a:gd name="adj" fmla="val 10784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E66125E-9025-41BB-8E78-E9A00350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548640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D3A8"/>
          </a:solidFill>
          <a:ln xmlns:a="http://schemas.openxmlformats.org/drawingml/2006/main" w="12700">
            <a:solidFill>
              <a:srgbClr val="E6D3A8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D145B6E-877B-43EE-AAFC-85E6640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548640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!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981FF3B-12D2-4439-9525-7E81F1F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5486400"/>
            <a:ext cx="434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Heavy on resources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3B0C5AD8-22B5-413B-895C-428A66DF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5760720"/>
            <a:ext cx="434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Local Whisper and Stockfish both need real memory and CPU.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D9EF339C-665A-4AD1-A169-3B194788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CE8856B-B4A6-4B9A-8B3B-EE60D887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1011166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9f1bbd5175d4f6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46BCBB-C32A-428C-9BAE-1047E7C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1057839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8FA6C4"/>
                </a:solidFill>
                <a:latin typeface="Calibri"/>
                <a:ea typeface="Calibri"/>
                <a:cs typeface="Calibri"/>
              </a:rPr>
              <a:t>WHERE IT GOES NEXT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C71E1D-65F7-47FC-9A8F-BABF74B4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Future Work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3D93C6-7DF8-4908-87CB-8216B731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136" y="2615184"/>
            <a:ext cx="91074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A707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87660A-7472-4246-BB64-1DC5D1C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04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127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1D0FCC0-6F8C-44CF-82EF-274ABBBA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104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EC9ADC4-2078-4F77-BB93-B8E74A44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36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97051CF-31FB-4A66-AD71-2C63007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16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Richer emotion signal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9D1CCF7-2FF4-4102-88BD-DA45B5B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04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Combine facial expression with move timing and blunder rate.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8BC6B8-1136-4E94-B79E-9DF648FE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960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FB6C97-4247-4CBF-91EF-76FF9356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960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6D33D5D-0A07-4943-932E-CE49615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292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E4765A9-5DE1-4F7F-9BE1-5EFBC61D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172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Better Burmese STT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B8126A-89EE-4426-BAF3-9966886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460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Train a custom model to improve spoken-move recognition.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6EEE1DD-BFB8-41E7-9902-8163A35C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816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05A"/>
          </a:solidFill>
          <a:ln xmlns:a="http://schemas.openxmlformats.org/drawingml/2006/main" w="12700">
            <a:solidFill>
              <a:srgbClr val="F2705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8A53F88-B86E-4CF3-AE8E-2A8110C3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816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C8942ED-8DA3-40B4-AC34-82AA6F6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148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1A43524-F4FE-4801-9E9D-9BD9FA90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028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Long-term player profile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6B0B3CB-CCB5-4273-84CD-97A82ABF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316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Track progress and weaknesses across many sessions.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CBC71A-9D15-41D3-AF94-192BFCC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672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63D"/>
          </a:solidFill>
          <a:ln xmlns:a="http://schemas.openxmlformats.org/drawingml/2006/main" w="12700">
            <a:solidFill>
              <a:srgbClr val="D9663D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AAA7E8-18AB-454B-8E88-641ACB5D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672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B03A9E8-4922-4D9E-89C3-4C39C34A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004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C0B0561-0DFF-4860-B3D7-6A72B6A8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884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Deeper knowledge base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FCE75ED-C334-4E65-B85A-446BB3BA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5172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Add tactical motifs and endgame theory to the Prolog rules.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622A53D-6CB2-4798-961D-D62D7A53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528" y="2359152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A6C4"/>
          </a:solidFill>
          <a:ln xmlns:a="http://schemas.openxmlformats.org/drawingml/2006/main" w="12700">
            <a:solidFill>
              <a:srgbClr val="8FA6C4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9EFB264-B297-46E4-A9A3-0AEEF9BA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528" y="2359152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3262B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AE8C20D-335D-4069-BAD0-3A26B6BC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860" y="3108960"/>
            <a:ext cx="2057400" cy="2286000"/>
          </a:xfrm>
          <a:prstGeom xmlns:a="http://schemas.openxmlformats.org/drawingml/2006/main" prst="roundRect">
            <a:avLst>
              <a:gd name="adj" fmla="val 4889"/>
            </a:avLst>
          </a:prstGeom>
          <a:solidFill xmlns:a="http://schemas.openxmlformats.org/drawingml/2006/main">
            <a:srgbClr val="3B4048">
              <a:alpha val="86000"/>
            </a:srgbClr>
          </a:solidFill>
          <a:ln xmlns:a="http://schemas.openxmlformats.org/drawingml/2006/main" w="12700">
            <a:solidFill>
              <a:srgbClr val="596069"/>
            </a:solidFill>
            <a:prstDash val="solid"/>
          </a:ln>
          <a:effectLst xmlns:a="http://schemas.openxmlformats.org/drawingml/2006/main">
            <a:outerShdw blurRad="203200" dist="38100" dir="5400000" sx="100000" sy="100000" kx="0" ky="0" algn="bl" rotWithShape="0">
              <a:srgbClr val="16181C">
                <a:alpha val="40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BD0BADF-DF8C-4CF3-8A3B-204CFD2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740" y="3346704"/>
            <a:ext cx="16916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7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deployment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8195D52-D004-4F7E-A479-355BEC0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2028" y="4041648"/>
            <a:ext cx="1655064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B4B9C0"/>
                </a:solidFill>
                <a:latin typeface="Calibri"/>
                <a:ea typeface="Calibri"/>
                <a:cs typeface="Calibri"/>
              </a:rPr>
              <a:t>Host the web app and ship an optional mobile version.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1B016E8-6164-4ED5-9EC2-FBC9E56A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21ED412-D856-43BC-B443-150CFFFD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8487018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d7f36793395499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6DF7B89-1D41-48CE-AD33-A6726078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3DA8E99-C41F-450A-A110-3FD5812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841248"/>
            <a:ext cx="8686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Three kinds of AI, one chessboard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30DB5F-E13D-48CE-9354-FED7E31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00784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EC4D8A-8571-48D2-B0A3-01D1F59B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D3F8F8-38E4-4338-9073-19E522D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8288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Computer vision </a:t>
            </a:r>
            <a:r>
              <a:rPr sz="1400">
                <a:solidFill>
                  <a:srgbClr val="EDEBE7"/>
                </a:solidFill>
                <a:latin typeface="Calibri"/>
                <a:ea typeface="Calibri"/>
                <a:cs typeface="Calibri"/>
              </a:rPr>
              <a:t>reads the player's emotional state in real time.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2C376EC-418F-42EC-81A3-B8B5921D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4016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CDFD541-7F85-40AC-91C6-0C8FD5F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3347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A9ABE2-F11B-417C-A20B-2ADC77D9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54203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Symbolic reasoning </a:t>
            </a:r>
            <a:r>
              <a:rPr sz="1400">
                <a:solidFill>
                  <a:srgbClr val="EDEBE7"/>
                </a:solidFill>
                <a:latin typeface="Calibri"/>
                <a:ea typeface="Calibri"/>
                <a:cs typeface="Calibri"/>
              </a:rPr>
              <a:t>explains every piece of advice through Prolog.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8DCE274-A656-45E6-BE6B-ED1D6E0B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27248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F16A520-8556-4D0B-8508-E7F06B59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34670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9961790-6862-46F2-A2FA-1FCEA63D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255264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Language models </a:t>
            </a:r>
            <a:r>
              <a:rPr sz="1400">
                <a:solidFill>
                  <a:srgbClr val="EDEBE7"/>
                </a:solidFill>
                <a:latin typeface="Calibri"/>
                <a:ea typeface="Calibri"/>
                <a:cs typeface="Calibri"/>
              </a:rPr>
              <a:t>turn a raw position into usable coaching.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9679F1-21EF-44E0-9A5D-6BE8BD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0"/>
            <a:ext cx="11057839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C8E0881-BC5B-48A0-A2D3-1DE6BD3C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5993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24B"/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DE8E88D-D860-4A3B-B1D3-9EEB97C4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9684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Burmese support </a:t>
            </a:r>
            <a:r>
              <a:rPr sz="1400">
                <a:solidFill>
                  <a:srgbClr val="EDEBE7"/>
                </a:solidFill>
                <a:latin typeface="Calibri"/>
                <a:ea typeface="Calibri"/>
                <a:cs typeface="Calibri"/>
              </a:rPr>
              <a:t>removes the language barrier for local players.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209B084-1017-4DB6-8DAE-582C622D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700016"/>
            <a:ext cx="1105783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E1371EE-A540-4779-B25B-4C2D1FC0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856979-A236-4DC9-AABD-5FE9DFF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4E1DC"/>
                </a:solidFill>
                <a:latin typeface="Courier New"/>
                <a:ea typeface="Courier New"/>
                <a:cs typeface="Courier New"/>
              </a:rPr>
              <a:t>stockfishchess.org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C8CD405-DEE1-4747-8F4C-57346809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026" y="50292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F8220B1-041D-42D4-BEF2-82F738F4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8" y="50292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4E1DC"/>
                </a:solidFill>
                <a:latin typeface="Courier New"/>
                <a:ea typeface="Courier New"/>
                <a:cs typeface="Courier New"/>
              </a:rPr>
              <a:t>github.com/vladmandic/face-api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B353B1C-1FDA-4D5B-AD1F-DE1FF5B5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125" y="50292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ACE190A-E8B6-4EE0-9B6E-10299F59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717" y="50292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4E1DC"/>
                </a:solidFill>
                <a:latin typeface="Courier New"/>
                <a:ea typeface="Courier New"/>
                <a:cs typeface="Courier New"/>
              </a:rPr>
              <a:t>swi-prolog.org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969268A-BCE1-452D-8D07-4515FE5F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354119B-9AA4-44CD-9A1E-0706476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4E1DC"/>
                </a:solidFill>
                <a:latin typeface="Courier New"/>
                <a:ea typeface="Courier New"/>
                <a:cs typeface="Courier New"/>
              </a:rPr>
              <a:t>github.com/SYSTRAN/faster-whisper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B82E886-371A-4F36-B92B-ED6F033C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026" y="54864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70C6E57-5BA7-4201-8682-F5EB5ABC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18" y="54864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4E1DC"/>
                </a:solidFill>
                <a:latin typeface="Courier New"/>
                <a:ea typeface="Courier New"/>
                <a:cs typeface="Courier New"/>
              </a:rPr>
              <a:t>github.com/jhlywa/chess.js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49576198-C3A0-4AA2-86CA-E56A367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125" y="5486400"/>
            <a:ext cx="3539642" cy="3657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9A8C78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96EBD0D-A00E-441A-AAA8-1FB7C425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717" y="5486400"/>
            <a:ext cx="321045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4E1DC"/>
                </a:solidFill>
                <a:latin typeface="Courier New"/>
                <a:ea typeface="Courier New"/>
                <a:cs typeface="Courier New"/>
              </a:rPr>
              <a:t>nextjs.org/docs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7592973-F299-406C-9DC5-8BFE3114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53328"/>
            <a:ext cx="1105783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Thank you — questions are welcome.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7A8AAAB-A856-4183-B1EC-DE9E2BB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5A344D4-AA9C-453C-A4DE-E4218D3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09334025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d437b50642f4a6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C20202D-5CE4-4E90-9289-C02CC97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24B">
              <a:alpha val="20000"/>
            </a:srgbClr>
          </a:solidFill>
          <a:ln xmlns:a="http://schemas.openxmlformats.org/drawingml/2006/main" w="12700">
            <a:solidFill>
              <a:srgbClr val="FFC24B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C07B6A-7716-4D6F-A551-8350F3D4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2286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E0AC"/>
                </a:solidFill>
                <a:latin typeface="Calibri"/>
                <a:ea typeface="Calibri"/>
                <a:cs typeface="Calibri"/>
              </a:rPr>
              <a:t>AI PROJECT  ·  2026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AB5B3D-69D4-4CC8-A3D9-C81E999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5953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SENTIO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666E46-54AE-40AF-9C45-42FD7479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2384"/>
            <a:ext cx="8595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FFC24B"/>
                </a:solidFill>
                <a:latin typeface="Cambria"/>
                <a:ea typeface="Cambria"/>
                <a:cs typeface="Cambria"/>
              </a:rPr>
              <a:t>An Emotion-Adaptive Chess AI Agent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3651E0-2AB1-4105-92E0-124FE65B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12464"/>
            <a:ext cx="7680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C6CBD3"/>
                </a:solidFill>
                <a:latin typeface="Calibri"/>
                <a:ea typeface="Calibri"/>
                <a:cs typeface="Calibri"/>
              </a:rPr>
              <a:t>Latin for "I feel" — a chess engine that reads your emotions and adapts in real time.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4DD7C34-BA0F-4B6A-BFEF-B468364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70832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E912B6-9BD9-42F1-9830-D3F3EBA3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6400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Presented by  Group-X   ·   Section-C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9C2E8AF-7EAF-4A71-90AE-4A8337B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01184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EB4BD"/>
                </a:solidFill>
                <a:latin typeface="Calibri"/>
                <a:ea typeface="Calibri"/>
                <a:cs typeface="Calibri"/>
              </a:rPr>
              <a:t>University of Information Technology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123CCBD-9B4A-4041-B096-8220DEF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>
              <a:alpha val="14000"/>
            </a:srgbClr>
          </a:solidFill>
          <a:ln xmlns:a="http://schemas.openxmlformats.org/drawingml/2006/main" w="15875">
            <a:solidFill>
              <a:srgbClr val="FF8A3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3D9322-FD6A-481E-8BE9-CB250444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83080"/>
            <a:ext cx="2743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♞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AB9E3A-1D58-46BF-BFFB-A28F29E2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382512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E858E"/>
                </a:solidFill>
                <a:latin typeface="Calibri"/>
                <a:ea typeface="Calibri"/>
                <a:cs typeface="Calibri"/>
              </a:rPr>
              <a:t>SENTIO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365548-960A-4BDC-87CE-0727D7F0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38251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 b="1">
                <a:solidFill>
                  <a:srgbClr val="FFC24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97741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2026-08-30T12:45:20.0750000Z</dcterms:created>
  <dcterms:modified xsi:type="dcterms:W3CDTF">2026-08-30T12:45:20.0750000Z</dcterms:modified>
</coreProperties>
</file>