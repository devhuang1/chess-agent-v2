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3b7ebc3064d4c" /><Relationship Type="http://schemas.openxmlformats.org/officeDocument/2006/relationships/extended-properties" Target="/docProps/app.xml" Id="Rdfb71c52b3f44d8b" /><Relationship Type="http://schemas.openxmlformats.org/officeDocument/2006/relationships/officeDocument" Target="/ppt/presentation.xml" Id="R096205f3b66b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50260113b4a28"/>
  </p:sldMasterIdLst>
  <p:notesMasterIdLst>
    <p:notesMasterId xmlns:r="http://schemas.openxmlformats.org/officeDocument/2006/relationships" r:id="R29d53ce35da64ef6"/>
  </p:notesMasterIdLst>
  <p:sldIdLst>
    <p:sldId xmlns:r="http://schemas.openxmlformats.org/officeDocument/2006/relationships" id="256" r:id="Rd397ec5b8b6a4c62"/>
    <p:sldId xmlns:r="http://schemas.openxmlformats.org/officeDocument/2006/relationships" id="257" r:id="R3eafc441803440f6"/>
    <p:sldId xmlns:r="http://schemas.openxmlformats.org/officeDocument/2006/relationships" id="258" r:id="Re1af2c58d82a4a93"/>
    <p:sldId xmlns:r="http://schemas.openxmlformats.org/officeDocument/2006/relationships" id="259" r:id="Re3ed93023f374038"/>
    <p:sldId xmlns:r="http://schemas.openxmlformats.org/officeDocument/2006/relationships" id="260" r:id="R841c40c1dd6f48c5"/>
    <p:sldId xmlns:r="http://schemas.openxmlformats.org/officeDocument/2006/relationships" id="261" r:id="Ra989f42d75144ba4"/>
    <p:sldId xmlns:r="http://schemas.openxmlformats.org/officeDocument/2006/relationships" id="262" r:id="Rd0eec9a4191140a3"/>
    <p:sldId xmlns:r="http://schemas.openxmlformats.org/officeDocument/2006/relationships" id="263" r:id="R9c3e08589b3948d2"/>
    <p:sldId xmlns:r="http://schemas.openxmlformats.org/officeDocument/2006/relationships" id="264" r:id="Rba95efa762b14dbe"/>
    <p:sldId xmlns:r="http://schemas.openxmlformats.org/officeDocument/2006/relationships" id="265" r:id="R566db9251f6c4217"/>
    <p:sldId xmlns:r="http://schemas.openxmlformats.org/officeDocument/2006/relationships" id="266" r:id="Rfc6f20d72eef4a81"/>
    <p:sldId xmlns:r="http://schemas.openxmlformats.org/officeDocument/2006/relationships" id="267" r:id="R65eaffe5752e465e"/>
    <p:sldId xmlns:r="http://schemas.openxmlformats.org/officeDocument/2006/relationships" id="268" r:id="R08f5752d913847ab"/>
    <p:sldId xmlns:r="http://schemas.openxmlformats.org/officeDocument/2006/relationships" id="269" r:id="R9f1fe12da7a54b77"/>
    <p:sldId xmlns:r="http://schemas.openxmlformats.org/officeDocument/2006/relationships" id="270" r:id="Rb0bd933231b5470c"/>
    <p:sldId xmlns:r="http://schemas.openxmlformats.org/officeDocument/2006/relationships" id="271" r:id="R6f9c673e02404d63"/>
    <p:sldId xmlns:r="http://schemas.openxmlformats.org/officeDocument/2006/relationships" id="272" r:id="Rad715156f1ab4536"/>
    <p:sldId xmlns:r="http://schemas.openxmlformats.org/officeDocument/2006/relationships" id="273" r:id="R88862b2e93cd4c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64be84cde48df" /><Relationship Type="http://schemas.openxmlformats.org/officeDocument/2006/relationships/slideMaster" Target="/ppt/slideMasters/slideMaster1.xml" Id="Rc1e50260113b4a28" /><Relationship Type="http://schemas.openxmlformats.org/officeDocument/2006/relationships/notesMaster" Target="/ppt/notesMasters/notesMaster1.xml" Id="R29d53ce35da64ef6" /><Relationship Type="http://schemas.openxmlformats.org/officeDocument/2006/relationships/presProps" Target="/ppt/presProps.xml" Id="R20e9c1da4a4a49a3" /><Relationship Type="http://schemas.openxmlformats.org/officeDocument/2006/relationships/tableStyles" Target="/ppt/tableStyles.xml" Id="R1ad9101e61614e53" /><Relationship Type="http://schemas.openxmlformats.org/officeDocument/2006/relationships/slide" Target="/ppt/slides/slide1.xml" Id="Rd397ec5b8b6a4c62" /><Relationship Type="http://schemas.openxmlformats.org/officeDocument/2006/relationships/slide" Target="/ppt/slides/slide2.xml" Id="R3eafc441803440f6" /><Relationship Type="http://schemas.openxmlformats.org/officeDocument/2006/relationships/slide" Target="/ppt/slides/slide3.xml" Id="Re1af2c58d82a4a93" /><Relationship Type="http://schemas.openxmlformats.org/officeDocument/2006/relationships/slide" Target="/ppt/slides/slide4.xml" Id="Re3ed93023f374038" /><Relationship Type="http://schemas.openxmlformats.org/officeDocument/2006/relationships/slide" Target="/ppt/slides/slide5.xml" Id="R841c40c1dd6f48c5" /><Relationship Type="http://schemas.openxmlformats.org/officeDocument/2006/relationships/slide" Target="/ppt/slides/slide6.xml" Id="Ra989f42d75144ba4" /><Relationship Type="http://schemas.openxmlformats.org/officeDocument/2006/relationships/slide" Target="/ppt/slides/slide7.xml" Id="Rd0eec9a4191140a3" /><Relationship Type="http://schemas.openxmlformats.org/officeDocument/2006/relationships/slide" Target="/ppt/slides/slide8.xml" Id="R9c3e08589b3948d2" /><Relationship Type="http://schemas.openxmlformats.org/officeDocument/2006/relationships/slide" Target="/ppt/slides/slide9.xml" Id="Rba95efa762b14dbe" /><Relationship Type="http://schemas.openxmlformats.org/officeDocument/2006/relationships/slide" Target="/ppt/slides/slide10.xml" Id="R566db9251f6c4217" /><Relationship Type="http://schemas.openxmlformats.org/officeDocument/2006/relationships/slide" Target="/ppt/slides/slide11.xml" Id="Rfc6f20d72eef4a81" /><Relationship Type="http://schemas.openxmlformats.org/officeDocument/2006/relationships/slide" Target="/ppt/slides/slide12.xml" Id="R65eaffe5752e465e" /><Relationship Type="http://schemas.openxmlformats.org/officeDocument/2006/relationships/slide" Target="/ppt/slides/slide13.xml" Id="R08f5752d913847ab" /><Relationship Type="http://schemas.openxmlformats.org/officeDocument/2006/relationships/slide" Target="/ppt/slides/slide14.xml" Id="R9f1fe12da7a54b77" /><Relationship Type="http://schemas.openxmlformats.org/officeDocument/2006/relationships/slide" Target="/ppt/slides/slide15.xml" Id="Rb0bd933231b5470c" /><Relationship Type="http://schemas.openxmlformats.org/officeDocument/2006/relationships/slide" Target="/ppt/slides/slide16.xml" Id="R6f9c673e02404d63" /><Relationship Type="http://schemas.openxmlformats.org/officeDocument/2006/relationships/slide" Target="/ppt/slides/slide17.xml" Id="Rad715156f1ab4536" /><Relationship Type="http://schemas.openxmlformats.org/officeDocument/2006/relationships/slide" Target="/ppt/slides/slide18.xml" Id="R88862b2e93cd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60d7da0a0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4d9ddc5e434c18" /><Relationship Type="http://schemas.openxmlformats.org/officeDocument/2006/relationships/notesMaster" Target="/ppt/notesMasters/notesMaster1.xml" Id="R29d07cfde68b40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7dff8bd4c14f90" /><Relationship Type="http://schemas.openxmlformats.org/officeDocument/2006/relationships/notesMaster" Target="/ppt/notesMasters/notesMaster1.xml" Id="R4a87e1fdb58b47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18fd8dfdb4b44" /><Relationship Type="http://schemas.openxmlformats.org/officeDocument/2006/relationships/notesMaster" Target="/ppt/notesMasters/notesMaster1.xml" Id="R703450cae90d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57d52ba994aaa" /><Relationship Type="http://schemas.openxmlformats.org/officeDocument/2006/relationships/notesMaster" Target="/ppt/notesMasters/notesMaster1.xml" Id="R973675a17d68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f16ee8b8644d13" /><Relationship Type="http://schemas.openxmlformats.org/officeDocument/2006/relationships/notesMaster" Target="/ppt/notesMasters/notesMaster1.xml" Id="R9a2057cdd6834a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e8c337de13443f" /><Relationship Type="http://schemas.openxmlformats.org/officeDocument/2006/relationships/notesMaster" Target="/ppt/notesMasters/notesMaster1.xml" Id="Re123569ff78b4f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15f13cf5154be5" /><Relationship Type="http://schemas.openxmlformats.org/officeDocument/2006/relationships/notesMaster" Target="/ppt/notesMasters/notesMaster1.xml" Id="R634913286aeb4b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595510006f4c4c" /><Relationship Type="http://schemas.openxmlformats.org/officeDocument/2006/relationships/notesMaster" Target="/ppt/notesMasters/notesMaster1.xml" Id="Rc9d9d9b7d94a4b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e69f72bb11489b" /><Relationship Type="http://schemas.openxmlformats.org/officeDocument/2006/relationships/notesMaster" Target="/ppt/notesMasters/notesMaster1.xml" Id="R95ef7aa03ee5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46318a59bc454e" /><Relationship Type="http://schemas.openxmlformats.org/officeDocument/2006/relationships/notesMaster" Target="/ppt/notesMasters/notesMaster1.xml" Id="Rf27141c9ed5a47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97f740f53c4526" /><Relationship Type="http://schemas.openxmlformats.org/officeDocument/2006/relationships/notesMaster" Target="/ppt/notesMasters/notesMaster1.xml" Id="R1d181e59d0764b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f1341d46aa452b" /><Relationship Type="http://schemas.openxmlformats.org/officeDocument/2006/relationships/notesMaster" Target="/ppt/notesMasters/notesMaster1.xml" Id="R4df661a007294f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51f5eb2e1d4249" /><Relationship Type="http://schemas.openxmlformats.org/officeDocument/2006/relationships/notesMaster" Target="/ppt/notesMasters/notesMaster1.xml" Id="Re432b45cbba4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5b05b30344461" /><Relationship Type="http://schemas.openxmlformats.org/officeDocument/2006/relationships/notesMaster" Target="/ppt/notesMasters/notesMaster1.xml" Id="R06c80b70603c4b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874225c99f4732" /><Relationship Type="http://schemas.openxmlformats.org/officeDocument/2006/relationships/notesMaster" Target="/ppt/notesMasters/notesMaster1.xml" Id="R3c42d87dd87945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e791383bef41e0" /><Relationship Type="http://schemas.openxmlformats.org/officeDocument/2006/relationships/notesMaster" Target="/ppt/notesMasters/notesMaster1.xml" Id="R3df6c446aef042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3c765e0126e49cb" /><Relationship Type="http://schemas.openxmlformats.org/officeDocument/2006/relationships/notesMaster" Target="/ppt/notesMasters/notesMaster1.xml" Id="R652a2d1d2f2044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102d73fafc487b" /><Relationship Type="http://schemas.openxmlformats.org/officeDocument/2006/relationships/notesMaster" Target="/ppt/notesMasters/notesMaster1.xml" Id="R06b37920d946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idea: Sentio does not use one model. It coordinates several forms of intelligence around a live chess game.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app/globals.css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Sentio as a closed adaptive loop. The project responds to both chess position and player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lib/emotionFusion.ts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these are different AI paradigms. Their value comes from division of labor rather than forcing one model to do everything.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lib/agents.ts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architecture separates state capture, routing, engine execution, and audience-facing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app/api/transcribe/route.ts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design choice: a quiet face alone cannot reliably separate calm, neutral, and focused. Gameplay telemetry adds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lib/blendshapeEmotion.ts</a:t>
            </a:r>
          </a:p>
          <a:p xmlns:a="http://schemas.openxmlformats.org/drawingml/2006/main">
            <a:r>
              <a:t>- Local repository: lib/emotionFusion.ts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three levers: depth, Stockfish Skill Level, and UCI ELO limiting. Prolog mirrors the same static profiles as declarative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Prolog as complementary, not competitive. It is an explainability layer and a teaching layer alongside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three levels. Python supplies facts. Prolog derives concepts. Advice rules convert those concepts into ranked human-readable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key bridge slide. Explain the representation change: FEN is compact state; Prolog needs explicit relational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concrete demonstration. The absence of defended_by is meaningful through negation-as-failure, triggering hanging_mine and advice priority 95.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backend/main.py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that one paradigm is universally superior. The system is robust because responsibilities are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prolog/ai_system.pl</a:t>
            </a:r>
          </a:p>
          <a:p xmlns:a="http://schemas.openxmlformats.org/drawingml/2006/main">
            <a:r>
              <a:t>- Local repository: app/api/coach/route.ts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agents are an analysis and visualization feature. They expose tradeoffs rather than replacing the production Stockfish opponent.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lib/agents.ts</a:t>
            </a:r>
          </a:p>
          <a:p xmlns:a="http://schemas.openxmlformats.org/drawingml/2006/main">
            <a:r>
              <a:t>- Local repository: lib/minimax.ts</a:t>
            </a:r>
          </a:p>
          <a:p xmlns:a="http://schemas.openxmlformats.org/drawingml/2006/main">
            <a:r>
              <a:t>- Local repository: lib/mcts.ts</a:t>
            </a:r>
          </a:p>
          <a:p xmlns:a="http://schemas.openxmlformats.org/drawingml/2006/main">
            <a:r>
              <a:t>- Local repository: components/AgentsGraph3D.tsx</a:t>
            </a:r>
          </a:p>
          <a:p xmlns:a="http://schemas.openxmlformats.org/drawingml/2006/main">
            <a:r>
              <a:t>- Local repository: Local screenshot: .presentation-build/assets/sentio-3d.png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graceful fallback: the route builds structured advice first, then enhances it with an LLM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lib/coachPrompt.ts</a:t>
            </a:r>
          </a:p>
          <a:p xmlns:a="http://schemas.openxmlformats.org/drawingml/2006/main">
            <a:r>
              <a:t>- Local repository: components/AIAnalysisTab.tsx</a:t>
            </a:r>
          </a:p>
          <a:p xmlns:a="http://schemas.openxmlformats.org/drawingml/2006/main">
            <a:r>
              <a:t>- Local repository: Local screenshot: .presentation-build/assets/sentio-main.png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separation of intent. Speech-to-move is command execution with validation; speech-to-coach is an editable conversational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app/api/transcribe/route.ts</a:t>
            </a:r>
          </a:p>
          <a:p xmlns:a="http://schemas.openxmlformats.org/drawingml/2006/main">
            <a:r>
              <a:t>- Local repository: lib/speechParser.ts</a:t>
            </a:r>
          </a:p>
          <a:p xmlns:a="http://schemas.openxmlformats.org/drawingml/2006/main">
            <a:r>
              <a:t>- Local repository: components/VoiceCoachControl.tsx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adaptive system exposes its current state: emotion, engine profile, evaluation, and analysis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components/BoardWorkspace.tsx</a:t>
            </a:r>
          </a:p>
          <a:p xmlns:a="http://schemas.openxmlformats.org/drawingml/2006/main">
            <a:r>
              <a:t>- Local repository: components/ControllerPanel.tsx</a:t>
            </a:r>
          </a:p>
          <a:p xmlns:a="http://schemas.openxmlformats.org/drawingml/2006/main">
            <a:r>
              <a:t>- Local repository: components/EmotionMonitor.tsx</a:t>
            </a:r>
          </a:p>
          <a:p xmlns:a="http://schemas.openxmlformats.org/drawingml/2006/main">
            <a:r>
              <a:t>- Local repository: Local screenshot: .presentation-build/assets/sentio-analysis.png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for technical evaluation: each optional AI service fails independently and reports a meaningful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backend/main.py</a:t>
            </a:r>
          </a:p>
          <a:p xmlns:a="http://schemas.openxmlformats.org/drawingml/2006/main">
            <a:r>
              <a:t>- Local repository: app/api/prolog/route.ts</a:t>
            </a:r>
          </a:p>
          <a:p xmlns:a="http://schemas.openxmlformats.org/drawingml/2006/main">
            <a:r>
              <a:t>- Local repository: app/api/coach/route.ts</a:t>
            </a:r>
          </a:p>
          <a:p xmlns:a="http://schemas.openxmlformats.org/drawingml/2006/main">
            <a:r>
              <a:t>- Local repository: app/api/transcribe/route.ts</a:t>
            </a:r>
          </a:p>
          <a:p xmlns:a="http://schemas.openxmlformats.org/drawingml/2006/main">
            <a:r>
              <a:t>- Local repository: components/LogicianPanel.tsx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ownership split as a rehearsal guide. Member 3 gets the largest technical Prolog sequence, matching the requested emphasis.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.presentation-build/slide-plan.txt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opening. Prolog is the bridge that turns machine-readable board state into inspectable human reasoning, inside a broader adaptive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repository: README.md</a:t>
            </a:r>
          </a:p>
          <a:p xmlns:a="http://schemas.openxmlformats.org/drawingml/2006/main">
            <a:r>
              <a:t>- Local repository: AI_SYSTEM.txt</a:t>
            </a:r>
          </a:p>
          <a:p xmlns:a="http://schemas.openxmlformats.org/drawingml/2006/main">
            <a:r>
              <a:t>- Local repository: prolog/ai_system.pl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83f76adc9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ff6f1fd5b4082" /><Relationship Type="http://schemas.openxmlformats.org/officeDocument/2006/relationships/slideLayout" Target="/ppt/slideLayouts/slideLayout1.xml" Id="R16dc05ab737b46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dc05ab737b46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837e31ce34c5f" /><Relationship Type="http://schemas.openxmlformats.org/officeDocument/2006/relationships/notesSlide" Target="/ppt/notesSlides/notesSlide1.xml" Id="R44e559a39c0447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468696974c10" /><Relationship Type="http://schemas.openxmlformats.org/officeDocument/2006/relationships/notesSlide" Target="/ppt/notesSlides/notesSlide2.xml" Id="R2d815ce65ba9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043422a343bd" /><Relationship Type="http://schemas.openxmlformats.org/officeDocument/2006/relationships/notesSlide" Target="/ppt/notesSlides/notesSlide3.xml" Id="R6df9519d349a49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52884edf04529" /><Relationship Type="http://schemas.openxmlformats.org/officeDocument/2006/relationships/notesSlide" Target="/ppt/notesSlides/notesSlide4.xml" Id="R87c9e731292b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aab2a7cdd4db8" /><Relationship Type="http://schemas.openxmlformats.org/officeDocument/2006/relationships/notesSlide" Target="/ppt/notesSlides/notesSlide5.xml" Id="Rbff0512bc53b47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6412f97d4104" /><Relationship Type="http://schemas.openxmlformats.org/officeDocument/2006/relationships/notesSlide" Target="/ppt/notesSlides/notesSlide6.xml" Id="R6e9584d8a96d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d42f8a95b435b" /><Relationship Type="http://schemas.openxmlformats.org/officeDocument/2006/relationships/notesSlide" Target="/ppt/notesSlides/notesSlide7.xml" Id="R41e982334a5740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476d60f9f4ffd" /><Relationship Type="http://schemas.openxmlformats.org/officeDocument/2006/relationships/notesSlide" Target="/ppt/notesSlides/notesSlide8.xml" Id="Rc4e9419e8ac5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451d3980b4e6b" /><Relationship Type="http://schemas.openxmlformats.org/officeDocument/2006/relationships/notesSlide" Target="/ppt/notesSlides/notesSlide9.xml" Id="Rd4ee4a22923248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5164d5e0b4cbe" /><Relationship Type="http://schemas.openxmlformats.org/officeDocument/2006/relationships/notesSlide" Target="/ppt/notesSlides/notesSlide10.xml" Id="R3da56093376b47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92af1ce846db" /><Relationship Type="http://schemas.openxmlformats.org/officeDocument/2006/relationships/notesSlide" Target="/ppt/notesSlides/notesSlide11.xml" Id="Rbb7f1456cccf49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e61582cd241a3" /><Relationship Type="http://schemas.openxmlformats.org/officeDocument/2006/relationships/image" Target="/ppt/media/image.jpeg" Id="R44537cee875c4738" /><Relationship Type="http://schemas.openxmlformats.org/officeDocument/2006/relationships/notesSlide" Target="/ppt/notesSlides/notesSlide12.xml" Id="Rb1ebf39e974e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cda1a41fa4da0" /><Relationship Type="http://schemas.openxmlformats.org/officeDocument/2006/relationships/image" Target="/ppt/media/image2.jpeg" Id="R9951bd75c3a34f5b" /><Relationship Type="http://schemas.openxmlformats.org/officeDocument/2006/relationships/notesSlide" Target="/ppt/notesSlides/notesSlide13.xml" Id="Re8a8dd34fec747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7a4bea4d4ab9" /><Relationship Type="http://schemas.openxmlformats.org/officeDocument/2006/relationships/notesSlide" Target="/ppt/notesSlides/notesSlide14.xml" Id="R595680e9f73043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9954adba4c5e" /><Relationship Type="http://schemas.openxmlformats.org/officeDocument/2006/relationships/image" Target="/ppt/media/image3.jpeg" Id="R66414a9e54b94993" /><Relationship Type="http://schemas.openxmlformats.org/officeDocument/2006/relationships/notesSlide" Target="/ppt/notesSlides/notesSlide15.xml" Id="R438f3edd642d41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95133183743be" /><Relationship Type="http://schemas.openxmlformats.org/officeDocument/2006/relationships/notesSlide" Target="/ppt/notesSlides/notesSlide16.xml" Id="R7d83d304c045483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1ce34fbad446e" /><Relationship Type="http://schemas.openxmlformats.org/officeDocument/2006/relationships/notesSlide" Target="/ppt/notesSlides/notesSlide17.xml" Id="Rc6a2e42c899340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adce91f8e4cc3" /><Relationship Type="http://schemas.openxmlformats.org/officeDocument/2006/relationships/notesSlide" Target="/ppt/notesSlides/notesSlide18.xml" Id="R590fcc76b3f446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DF90A-ABF1-4D13-903B-6B04B2E0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9E490-AFE3-47B5-A9B9-26429318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9F2C9-1747-44EB-99B5-E90410E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SENTIO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6DE7C-189B-42A3-8BE4-D4C608B1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52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4F5"/>
                </a:solidFill>
              </a:defRPr>
            </a:pPr>
            <a:r>
              <a:rPr sz="4350" b="1" i="0">
                <a:solidFill>
                  <a:srgbClr val="F4F4F5"/>
                </a:solidFill>
              </a:rPr>
              <a:t>Emotion-adaptive</a:t>
            </a:r>
          </a:p>
          <a:p xmlns:a="http://schemas.openxmlformats.org/drawingml/2006/main">
            <a:pPr algn="l">
              <a:defRPr sz="4350" b="1" i="0">
                <a:solidFill>
                  <a:srgbClr val="F4F4F5"/>
                </a:solidFill>
              </a:defRPr>
            </a:pPr>
            <a:r>
              <a:rPr sz="4350" b="1" i="0">
                <a:solidFill>
                  <a:srgbClr val="F4F4F5"/>
                </a:solidFill>
              </a:rPr>
              <a:t>chess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3E340-6415-40EC-85CD-979DE72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9AA3B6"/>
                </a:solidFill>
              </a:defRPr>
            </a:pPr>
            <a:r>
              <a:rPr sz="1725" b="0" i="0">
                <a:solidFill>
                  <a:srgbClr val="9AA3B6"/>
                </a:solidFill>
              </a:rPr>
              <a:t>A hybrid AI system combining perception, game search, symbolic reasoning, and natural-language coaching.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00AC5-FEB3-4682-8135-D1944940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D8E1E-86B0-44AF-BBBC-D95628AE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BBF24"/>
                </a:solidFill>
              </a:defRPr>
            </a:pPr>
            <a:r>
              <a:rPr sz="975" b="1" i="0">
                <a:solidFill>
                  <a:srgbClr val="FBBF24"/>
                </a:solidFill>
              </a:rPr>
              <a:t>PROLOG SPOTLIGHT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D7879-28E3-4197-AFD2-C6BA933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EBECD0"/>
                </a:solidFill>
              </a:defRPr>
            </a:pPr>
            <a:r>
              <a:rPr sz="1650" b="0" i="0">
                <a:solidFill>
                  <a:srgbClr val="EBECD0"/>
                </a:solidFill>
              </a:rPr>
              <a:t>How live chess positions become transparent, prioritized advice.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F170A-6890-4C33-B473-EA9F4F2C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3B6"/>
                </a:solidFill>
              </a:defRPr>
            </a:pPr>
            <a:r>
              <a:rPr sz="825" b="0" i="0">
                <a:solidFill>
                  <a:srgbClr val="9AA3B6"/>
                </a:solidFill>
              </a:rPr>
              <a:t>AI FEATURES · TECHNICAL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7A4FB-5AD0-4143-B944-F6877DB2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23950"/>
            <a:ext cx="3333750" cy="4000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12A3A-8251-4701-98D2-79CBDD27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190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200" b="0" i="0">
                <a:solidFill>
                  <a:srgbClr val="F59E0B"/>
                </a:solidFill>
              </a:defRPr>
            </a:pPr>
            <a:r>
              <a:rPr sz="10200" b="0" i="0">
                <a:solidFill>
                  <a:srgbClr val="F59E0B"/>
                </a:solidFill>
              </a:rPr>
              <a:t>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AD4A2-A2E3-4535-B94C-1C5A9CEA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PERCEIVE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ABA5F-56F6-45EE-A727-A0247EE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C1717-E7EE-44DC-9EE5-F17ACE0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BBF24"/>
                </a:solidFill>
              </a:defRPr>
            </a:pPr>
            <a:r>
              <a:rPr sz="900" b="1" i="0">
                <a:solidFill>
                  <a:srgbClr val="FBBF24"/>
                </a:solidFill>
              </a:rPr>
              <a:t>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44042-3D48-4F8E-AA56-53481DAF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14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78BFA"/>
                </a:solidFill>
              </a:defRPr>
            </a:pPr>
            <a:r>
              <a:rPr sz="900" b="1" i="0">
                <a:solidFill>
                  <a:srgbClr val="A78BFA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3397147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0C0F3F-FB68-46B4-A429-705636AE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6EF2F-57C2-43A9-A33D-15189AF9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71EDF-15A5-4873-B915-2E1F9C6A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529B-C011-4009-BC51-395F3CA5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The opponent adapts to the human—not only the 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69806-69F3-4026-B698-8DF55912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Sentio treats emotional state as a live game signal, then changes challenge and communication.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FE50E-1537-4E98-ACA4-F59AFC70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BAB0D-2DF2-4648-9818-F7A0DEEE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31198-394C-4EC6-9F0D-7303051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4F5"/>
                </a:solidFill>
              </a:defRPr>
            </a:pPr>
            <a:r>
              <a:rPr sz="2100" b="1" i="0">
                <a:solidFill>
                  <a:srgbClr val="F4F4F5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9B80A-5F8C-46C3-83E4-B4254F9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439FC-BC49-4E07-9810-CA6A31C2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Face blendshapes + game 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698C8-BCA4-4F8D-A8D2-AE30906C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C83FB-FF60-459E-B3A4-F28FE1DF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8BFA"/>
                </a:solidFill>
              </a:defRPr>
            </a:pPr>
            <a:r>
              <a:rPr sz="1050" b="1" i="0">
                <a:solidFill>
                  <a:srgbClr val="A78BF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951E9-CF40-437B-A8FE-93A2BC4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4F5"/>
                </a:solidFill>
              </a:defRPr>
            </a:pPr>
            <a:r>
              <a:rPr sz="2100" b="1" i="0">
                <a:solidFill>
                  <a:srgbClr val="F4F4F5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B676F-596B-4B13-94F9-C7EEBDD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652ED-F3C6-4BBE-8C75-807EF320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Six game-relevant emotion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6357D-AD9C-49FC-B2C1-016C6197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F248B-A623-4BAB-B521-F1ACD9F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5AF29-BBCD-4FF9-8D5D-881F7F8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4F5"/>
                </a:solidFill>
              </a:defRPr>
            </a:pPr>
            <a:r>
              <a:rPr sz="2100" b="1" i="0">
                <a:solidFill>
                  <a:srgbClr val="F4F4F5"/>
                </a:solidFill>
              </a:rPr>
              <a:t>Adapt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D77CA-F7FD-40A4-BBEE-B9B0C0A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A951F-2AA1-4704-80D3-5F13295E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Depth, skill level, and ELO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0BF3E-DCB0-461E-8036-7655CFB0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476500" cy="2857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89324-2FBE-4D9A-A380-2FF9AF08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43AE7-CDFE-417D-A692-DA988488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19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4F4F5"/>
                </a:solidFill>
              </a:defRPr>
            </a:pPr>
            <a:r>
              <a:rPr sz="2100" b="1" i="0">
                <a:solidFill>
                  <a:srgbClr val="F4F4F5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C054A-A4B0-4929-BD9C-C8829394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7A888-55D3-4E2E-B7C0-B09CA170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1950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Coach language + Prolog advice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0A5182-3D60-46F2-99B2-48B2F9A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BECD0"/>
                </a:solidFill>
              </a:defRPr>
            </a:pPr>
            <a:r>
              <a:rPr sz="1875" b="1" i="0">
                <a:solidFill>
                  <a:srgbClr val="EBECD0"/>
                </a:solidFill>
              </a:rPr>
              <a:t>Goal: sustain flow—reduce friction when the player struggles, raise challenge when confidence grows.</a:t>
            </a:r>
          </a:p>
        </p:txBody>
      </p:sp>
    </p:spTree>
    <p:extLst>
      <p:ext uri="{BB962C8B-B14F-4D97-AF65-F5344CB8AC3E}">
        <p14:creationId xmlns:p14="http://schemas.microsoft.com/office/powerpoint/2010/main" val="1419912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F64E7-7BDA-4785-A6E2-7A3BFEF4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BE403-6541-48BE-9FA0-6EAD6AD2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020B8-11E2-4E0D-9FA6-37F0177C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0A751-6416-4970-BCE0-403B99A9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Five intelligence layers cooperate in one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F6CA6-13A5-44D4-97A9-99644743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PERCEPTION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3BAD9-F80A-4368-8760-052FAC6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E8A09-5F39-4E84-BEF5-D3FC4C0F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MediaPipe / face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6B9DC-A741-479D-8CB8-F138CE8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192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Valence, arousal, expressions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0993A-95B0-4815-9A17-607387F0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8BFA"/>
                </a:solidFill>
              </a:defRPr>
            </a:pPr>
            <a:r>
              <a:rPr sz="1050" b="1" i="0">
                <a:solidFill>
                  <a:srgbClr val="A78BFA"/>
                </a:solidFill>
              </a:rPr>
              <a:t>ADAPTATION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E28B4-BAC9-4952-B87F-26E3C8B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67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566F4-5CC7-42DC-862D-05531CC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28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Emotion fusion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28DA7-F1AC-49C7-B42D-05E19348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Player state → engine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21B8E-6DA9-4AE1-B1D8-48D1FE74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2A549-B356-4DBD-A87A-A5A6338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052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B0A57-FB18-458B-910A-8DF09AF8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Stockfish + Minimax / MCTS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3B456-07D4-4FFA-8B2A-4D4BBB24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Moves, scores, decision traces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F1F9B-46FB-4962-90EC-E1E7716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SYMBOLIC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F39AC-5473-4917-8868-E313339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4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3F58F-5F37-4E70-A66D-69BB0D1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SWI-Prolog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9CF3E-01ED-40F4-A955-B5C93780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Explainable prioritized advice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0BFCA-5752-4E84-9B66-390ED95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B923C"/>
                </a:solidFill>
              </a:defRPr>
            </a:pPr>
            <a:r>
              <a:rPr sz="1050" b="1" i="0">
                <a:solidFill>
                  <a:srgbClr val="FB923C"/>
                </a:solidFill>
              </a:rPr>
              <a:t>LANGUAGE &amp; VOICE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E1581-B291-4BEA-B8FE-2CDCE1F2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816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F6703-FF42-483D-A323-808FAB3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43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LLM + STT / TTS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380CF-D462-4693-943F-47A4818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Natural coaching and Burmese access</a:t>
            </a:r>
          </a:p>
        </p:txBody>
      </p:sp>
    </p:spTree>
    <p:extLst>
      <p:ext uri="{BB962C8B-B14F-4D97-AF65-F5344CB8AC3E}">
        <p14:creationId xmlns:p14="http://schemas.microsoft.com/office/powerpoint/2010/main" val="1151116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35F82F-F2B5-4591-8BC7-BFEED2E7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FAE39-BB81-48FE-BD5E-C6C5C65C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3165A-CCA2-4F69-8D4E-C3DC4994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598C5-4199-41A5-9EB3-40CD02B1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Signals become moves, advice, and explanations through explicit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BE72E-E923-449A-8B1C-37B9CDD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67FCA-8365-48A5-A894-088A07E8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2D3EE"/>
                </a:solidFill>
              </a:defRPr>
            </a:pPr>
            <a:r>
              <a:rPr sz="1200" b="1" i="0">
                <a:solidFill>
                  <a:srgbClr val="22D3E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4DDB1-B041-474D-B2E5-B96B3166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Webcam · board · 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33590-BC78-4BA3-9DC3-FDDCC00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EB130-EDE3-4E32-9E09-7AA967C9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78BFA"/>
                </a:solidFill>
              </a:defRPr>
            </a:pPr>
            <a:r>
              <a:rPr sz="1200" b="1" i="0">
                <a:solidFill>
                  <a:srgbClr val="A78BFA"/>
                </a:solidFill>
              </a:rPr>
              <a:t>NEXT.JS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F442B-14E6-497A-A857-B8AB5BD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API routes ·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5B72C-CD75-494A-97BA-456657C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643F4-7C5C-4079-B943-36AC55C0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59E0B"/>
                </a:solidFill>
              </a:defRPr>
            </a:pPr>
            <a:r>
              <a:rPr sz="1200" b="1" i="0">
                <a:solidFill>
                  <a:srgbClr val="F59E0B"/>
                </a:solidFill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6FC02-0012-4184-BCF3-43B84B2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Engine pool · FEN bridge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5DA61-9D88-4B6C-98C2-B1EEB656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A50A1-654B-4DAD-981B-D0065D37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4D399"/>
                </a:solidFill>
              </a:defRPr>
            </a:pPr>
            <a:r>
              <a:rPr sz="1200" b="1" i="0">
                <a:solidFill>
                  <a:srgbClr val="34D399"/>
                </a:solidFill>
              </a:rPr>
              <a:t>AI ENGINES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B7622-D416-404A-BB72-9504DEB1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Stockfish · Prolog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067A7-5120-4033-A7D7-61F6ADC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714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CDB79-872D-490C-A489-64647C52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09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B923C"/>
                </a:solidFill>
              </a:defRPr>
            </a:pPr>
            <a:r>
              <a:rPr sz="1200" b="1" i="0">
                <a:solidFill>
                  <a:srgbClr val="FB923C"/>
                </a:solidFill>
              </a:rPr>
              <a:t>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C296B-C41A-4890-A6A5-E4FE0E8B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Move · advice · 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33BEE-B630-41E9-AE29-09F17BC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B7186-9749-4FEB-AA08-E3E5ED87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75D70-42ED-4947-AC90-3230333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F4EDA6-A03A-4E44-ADB0-A72DEECD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6571B-3B8A-43F9-9DAA-B26C25E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287CF-4ED3-4AAA-9D5F-7B39062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B440D-A709-413D-9D28-7105DDAC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C4859-1F9B-4431-86AB-9FCD9A12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62275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5F018-A94A-4300-958C-E29B5D38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8DE1B0-1155-43CF-8C7E-387840B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86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/api/bot-move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69E31F-309F-41DF-9615-76B1439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6720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EE9A4-5F33-42DE-B581-1EBAAC6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/api/prolog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3CFBB-933A-4EAA-B742-AC1E08D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672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D9829-C9D3-4EFB-9B5A-587EC46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78BFA"/>
                </a:solidFill>
              </a:defRPr>
            </a:pPr>
            <a:r>
              <a:rPr sz="900" b="1" i="0">
                <a:solidFill>
                  <a:srgbClr val="A78BFA"/>
                </a:solidFill>
              </a:rPr>
              <a:t>/api/coach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0E5BD-67E2-4344-AAE8-CEEA5E32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6720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957085-37DF-426A-89A9-654639CC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86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/api/transcribe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F85EDF-7356-44BD-B47F-718B1EF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BECD0"/>
                </a:solidFill>
              </a:defRPr>
            </a:pPr>
            <a:r>
              <a:rPr sz="1800" b="1" i="0">
                <a:solidFill>
                  <a:srgbClr val="EBECD0"/>
                </a:solidFill>
              </a:rPr>
              <a:t>Every boundary has a fallback: the game stays playable even when Prolog, the LLM, or cloud speech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403520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BB9DF-3E7B-43D7-9A31-7F87817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PERCEPTION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36D78-CFCA-4CE7-BECB-90474E4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06CC3-DDF1-482A-B06B-4D3A95FF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D8A7E-00AF-4771-A562-766F905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Emotion estimation fuses anatomy with gameplay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00189-3E36-4802-8117-7BF1F87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FB89C-7068-442C-BB4D-8E63DD40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FACIAL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CDD67-CBEB-4424-9C96-7BF98B06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F4F5"/>
                </a:solidFill>
              </a:defRPr>
            </a:pPr>
            <a:r>
              <a:rPr sz="2250" b="1" i="0">
                <a:solidFill>
                  <a:srgbClr val="F4F4F5"/>
                </a:solidFill>
              </a:rPr>
              <a:t>52 blendshapes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1982B-B582-458C-BBCD-57667743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Smile, frown, brow, eye, jaw, and mouth motion are mixed into valence and arousal.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EF6DB-BC0E-4E02-93F5-E1796C9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BECD0"/>
                </a:solidFill>
              </a:defRPr>
            </a:pPr>
            <a:r>
              <a:rPr sz="1275" b="0" i="0">
                <a:solidFill>
                  <a:srgbClr val="EBECD0"/>
                </a:solidFill>
              </a:rPr>
              <a:t>valence  ↔  positive /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BD724-0B31-4880-A72D-213610AB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BECD0"/>
                </a:solidFill>
              </a:defRPr>
            </a:pPr>
            <a:r>
              <a:rPr sz="1275" b="0" i="0">
                <a:solidFill>
                  <a:srgbClr val="EBECD0"/>
                </a:solidFill>
              </a:rPr>
              <a:t>arousal  ↕  calm / activated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97E82-3D20-4692-82FC-1EA92CA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34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9C511-4324-4672-B20F-FD06E7A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GAME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68E38-0C11-445F-BB3C-E315ECAA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12s+ think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FF8B8-981C-4480-B618-233905FC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Focused / calm 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C5DFD-B961-492A-8109-38AF2B3F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BEE81-0DA6-4500-B69C-DBACC78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150cp setback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05B92-C970-459F-AD03-22B9561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Stress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55800-EF28-404A-AC0B-EF044A3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FE0F4-4711-4CEF-B27C-CF2B79A6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Recent mistakes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EDF82-22C6-46CB-BFBE-A5AB030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Neutral dampening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BC74C-2CBB-411D-B098-FCB2638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80D6D-85B6-4892-B1D4-16F04D46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+300cp advantage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7B9DF-6B81-4853-80C8-CD6066A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19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Confidence reinforcement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FDB9A-9A45-4A3E-9320-36E3A93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53305-247C-41FE-9944-2FAE1FC7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BBF24"/>
                </a:solidFill>
              </a:defRPr>
            </a:pPr>
            <a:r>
              <a:rPr sz="1650" b="1" i="0">
                <a:solidFill>
                  <a:srgbClr val="FBBF24"/>
                </a:solidFill>
              </a:rPr>
              <a:t>Fusion adjusts soft scores; it does not blindly overwrite the face signal.</a:t>
            </a:r>
          </a:p>
        </p:txBody>
      </p:sp>
    </p:spTree>
    <p:extLst>
      <p:ext uri="{BB962C8B-B14F-4D97-AF65-F5344CB8AC3E}">
        <p14:creationId xmlns:p14="http://schemas.microsoft.com/office/powerpoint/2010/main" val="1806450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87248B-042A-41BE-BBC3-E29B547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ADAPTATION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AD56D-74A9-4E70-831B-00BFE0F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8DCA7-045F-4881-BBCD-46BEB7A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47E08-6473-4E3E-9B04-5E6FF14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Six emotion profiles reshape the engine’s challenge in real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24EAB-8C36-40AD-87C6-EBF9E38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EMOTION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AA5CB-9578-44C1-858C-84FD58A9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09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2212E-4871-4697-9B99-77E38D42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RELATIVE STRENGTH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7FC85-0875-41D5-A6FB-C8EE59B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DEPTH / 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DDA0B-E4B8-4202-A7D1-809C036C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87171"/>
                </a:solidFill>
              </a:defRPr>
            </a:pPr>
            <a:r>
              <a:rPr sz="1350" b="1" i="0">
                <a:solidFill>
                  <a:srgbClr val="F87171"/>
                </a:solidFill>
              </a:rPr>
              <a:t>Stressed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2A6B6-DA93-4BE5-9D93-5734BE6E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1320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48B12-24FF-4BDD-A8D7-1216378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5E071-3EF3-4643-996A-A5E0267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204951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3B01-2BD6-451D-9407-D013D81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1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493F1-14CB-4599-AE18-52ACA26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B923C"/>
                </a:solidFill>
              </a:defRPr>
            </a:pPr>
            <a:r>
              <a:rPr sz="1350" b="1" i="0">
                <a:solidFill>
                  <a:srgbClr val="FB923C"/>
                </a:solidFill>
              </a:rPr>
              <a:t>Frustrated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96816-09F6-4649-BA85-EFFBFCD6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098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1320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EA1A5-362C-4BE0-A03E-A97A020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479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1C44B-E399-488B-B6DD-0520702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47975"/>
            <a:ext cx="2049517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B5931-1A1A-4278-96A1-6A40B53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9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2 /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1BC91-58C4-4E49-998E-BF45A7E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8BDF8"/>
                </a:solidFill>
              </a:defRPr>
            </a:pPr>
            <a:r>
              <a:rPr sz="1350" b="1" i="0">
                <a:solidFill>
                  <a:srgbClr val="38BDF8"/>
                </a:solidFill>
              </a:rPr>
              <a:t>Calm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0E8CE-CBE1-4268-AE28-9CEA23D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1600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36930-BA94-4ED4-AA1E-EFE0B502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78D81-4099-4A89-9661-E5DACA6D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67100"/>
            <a:ext cx="2484263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2C87A5-34CC-4BBF-A1D4-D6AE5940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4 / 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891A0-5DDE-42DA-9757-FD95BAF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A3B6"/>
                </a:solidFill>
              </a:defRPr>
            </a:pPr>
            <a:r>
              <a:rPr sz="1350" b="1" i="0">
                <a:solidFill>
                  <a:srgbClr val="9AA3B6"/>
                </a:solidFill>
              </a:rPr>
              <a:t>Neutral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501CB-AFE0-446E-BC78-3F4E2EFD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2000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1C8B1-E0F6-4BCE-803E-1EAD60C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8622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88D74-94CF-4A3B-88A2-13E805AD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86225"/>
            <a:ext cx="3105329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3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ED442-9D28-4782-8EEB-334343A9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6 /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057C0-8588-46CE-9672-5AD478E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D3EE"/>
                </a:solidFill>
              </a:defRPr>
            </a:pPr>
            <a:r>
              <a:rPr sz="1350" b="1" i="0">
                <a:solidFill>
                  <a:srgbClr val="22D3EE"/>
                </a:solidFill>
              </a:rPr>
              <a:t>Focused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17612-586B-4D06-8307-8C90720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672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2600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6C8D49-8793-4F62-94BB-F1223A3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EEC092-F9A3-45E1-8CBB-150E25C1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4036928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CC675D-A38B-41D5-A3A9-8BA51691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8 / 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C9CDDF-0E80-45A5-B808-F19056B6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D399"/>
                </a:solidFill>
              </a:defRPr>
            </a:pPr>
            <a:r>
              <a:rPr sz="1350" b="1" i="0">
                <a:solidFill>
                  <a:srgbClr val="34D399"/>
                </a:solidFill>
              </a:rPr>
              <a:t>Confident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44E118-3F84-4E75-ABAA-3C676A6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863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3190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26E52-AC7D-45F7-9C6C-45696567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9687D6-F49E-4A3D-ADC3-CB8450BC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4953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40B9DF-8E9B-40A5-A87A-E235409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863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EBECD0"/>
                </a:solidFill>
              </a:defRPr>
            </a:pPr>
            <a:r>
              <a:rPr sz="1350" b="0" i="0">
                <a:solidFill>
                  <a:srgbClr val="EBECD0"/>
                </a:solidFill>
              </a:rPr>
              <a:t>10 / 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6D2B73-0FCD-41BF-95EA-0A12A4E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FBBF24"/>
                </a:solidFill>
              </a:defRPr>
            </a:pPr>
            <a:r>
              <a:rPr sz="1350" b="0" i="1">
                <a:solidFill>
                  <a:srgbClr val="FBBF24"/>
                </a:solidFill>
              </a:rPr>
              <a:t>Hints deliberately bypass adaptation and use a stronger fixed profile for quality.</a:t>
            </a:r>
          </a:p>
        </p:txBody>
      </p:sp>
    </p:spTree>
    <p:extLst>
      <p:ext uri="{BB962C8B-B14F-4D97-AF65-F5344CB8AC3E}">
        <p14:creationId xmlns:p14="http://schemas.microsoft.com/office/powerpoint/2010/main" val="1882517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9E2BC-BE49-4A0A-969A-CA06F56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PROLOG SPOTLIGHT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581DA-E880-4DFF-9EB3-AAD15BE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67527-957C-4203-A9B4-7B0CDE6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2898-A897-4835-9225-46B2831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Search finds strong moves; Prolog makes reasoning inspectable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DF03F-9FAF-4F1B-8060-08CE7278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D399"/>
                </a:solidFill>
              </a:defRPr>
            </a:pPr>
            <a:r>
              <a:rPr sz="1800" b="1" i="0">
                <a:solidFill>
                  <a:srgbClr val="34D399"/>
                </a:solidFill>
              </a:rPr>
              <a:t>Stockfish answers: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F6D06-D132-4524-A071-9C66C0F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4F5"/>
                </a:solidFill>
              </a:defRPr>
            </a:pPr>
            <a:r>
              <a:rPr sz="2700" b="1" i="0">
                <a:solidFill>
                  <a:srgbClr val="F4F4F5"/>
                </a:solidFill>
              </a:rPr>
              <a:t>“What move scores best?”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785E6-8522-4B7C-833C-1409328D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3B6"/>
                </a:solidFill>
              </a:defRPr>
            </a:pPr>
            <a:r>
              <a:rPr sz="1500" b="0" i="0">
                <a:solidFill>
                  <a:srgbClr val="9AA3B6"/>
                </a:solidFill>
              </a:rPr>
              <a:t>Deep search is powerful, but its evaluation is not automatically a clear explanation for a learner.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D5C76-3B50-45F2-954E-A764DB2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8D3BA-9ECC-4B8B-8F35-68944BB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9E0B"/>
                </a:solidFill>
              </a:defRPr>
            </a:pPr>
            <a:r>
              <a:rPr sz="1800" b="1" i="0">
                <a:solidFill>
                  <a:srgbClr val="F59E0B"/>
                </a:solidFill>
              </a:rPr>
              <a:t>The Logician answers: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AC1E3-5457-4661-A111-0E139C2B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4F5"/>
                </a:solidFill>
              </a:defRPr>
            </a:pPr>
            <a:r>
              <a:rPr sz="2700" b="1" i="0">
                <a:solidFill>
                  <a:srgbClr val="F4F4F5"/>
                </a:solidFill>
              </a:rPr>
              <a:t>“Which rule applies—and why now?”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FED83-3806-4D72-ACF2-7CD4BC22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3B6"/>
                </a:solidFill>
              </a:defRPr>
            </a:pPr>
            <a:r>
              <a:rPr sz="1500" b="0" i="0">
                <a:solidFill>
                  <a:srgbClr val="9AA3B6"/>
                </a:solidFill>
              </a:rPr>
              <a:t>Advice is traceable to explicit facts and rules: check safety, hanging pieces, free captures, castling, development, center control, and king activation.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4366E-DD37-4AE1-A740-731CA30B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19750"/>
            <a:ext cx="1714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B86A3-2734-4D52-B4E8-790A377C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38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SYMBOLIC AI</a:t>
            </a:r>
          </a:p>
        </p:txBody>
      </p:sp>
    </p:spTree>
    <p:extLst>
      <p:ext uri="{BB962C8B-B14F-4D97-AF65-F5344CB8AC3E}">
        <p14:creationId xmlns:p14="http://schemas.microsoft.com/office/powerpoint/2010/main" val="253636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78FED-AAEB-42BA-801B-AF25249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PROLOG SPOTLIGHT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F9BB7-8CDC-4F09-B7D8-DCC58468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15FBA-949E-4074-A040-D0137A4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F73E-57BC-4805-8D71-2032F42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The knowledge base separates observable facts from reusable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AEC09-9E48-4575-9165-A2CA7679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F44DC-90CE-4058-96EA-B8C19B98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2D3EE"/>
                </a:solidFill>
              </a:defRPr>
            </a:pPr>
            <a:r>
              <a:rPr sz="1125" b="1" i="0">
                <a:solidFill>
                  <a:srgbClr val="22D3EE"/>
                </a:solidFill>
              </a:rPr>
              <a:t>DYNAMIC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181A0-F925-4C81-B9BF-653E073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66372-EA83-4AA8-B2DE-7F0B0B2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piece(e4, white, pawn)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397A5-BCE4-4F05-AE2F-43548DD6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turn(white)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FF620-46FA-435A-BBC7-02904DC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move_number(7)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36939-A181-4E7B-939C-FB8A5BD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attacked_by(c3, black)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A99E8-C043-4ABD-8F93-B79DD93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defended_by(c3, white)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41285-B995-4102-B7B0-F4DE9DD4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8B6F8-306C-411F-A8DD-171FA261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78BFA"/>
                </a:solidFill>
              </a:defRPr>
            </a:pPr>
            <a:r>
              <a:rPr sz="1125" b="1" i="0">
                <a:solidFill>
                  <a:srgbClr val="A78BFA"/>
                </a:solidFill>
              </a:rPr>
              <a:t>DERIVED CONCEPTS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FBC69-E47F-4BB4-898B-AF91B48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6D1C7-5227-47A9-A415-2AC289FE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hanging_mine/2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C78AC-E054-4B9D-B980-1C7A7A5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free_capture/2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83235-21E4-49FA-B6C8-72225F54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undeveloped_minor/2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5E718-5885-411A-BC57-DF8579F9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needs_castling/0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473A4-6F52-4CDF-ACDD-D5D3904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no_center_presence/0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DE092-6D2F-46B1-B432-7F65332C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F2725-FBBB-46AB-A629-29C85BE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9E0B"/>
                </a:solidFill>
              </a:defRPr>
            </a:pPr>
            <a:r>
              <a:rPr sz="1125" b="1" i="0">
                <a:solidFill>
                  <a:srgbClr val="F59E0B"/>
                </a:solidFill>
              </a:rPr>
              <a:t>PRIORITIZED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0E556-EF1A-46E8-B588-6B71EEAB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4959B-590A-40F9-9F3A-F2B0A6A8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99  safety /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9400A-5105-4FC8-A3B7-DB8E08A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4F4F5"/>
                </a:solidFill>
              </a:defRPr>
            </a:pPr>
            <a:r>
              <a:rPr sz="1275" b="0" i="0">
                <a:solidFill>
                  <a:srgbClr val="F4F4F5"/>
                </a:solidFill>
              </a:rPr>
              <a:t>95  tactics / hanging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D31A0-1629-4AAE-9DA5-28332B9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90  tactics / free capture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9D7C5-DB03-441F-AB36-707BB797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005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85  opening / castle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53886-3E9E-4C58-81EF-596D449B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3B6"/>
                </a:solidFill>
              </a:defRPr>
            </a:pPr>
            <a:r>
              <a:rPr sz="1275" b="0" i="0">
                <a:solidFill>
                  <a:srgbClr val="9AA3B6"/>
                </a:solidFill>
              </a:rPr>
              <a:t>60  endgame / activate 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E1F74-3E44-4BE6-8C4A-F252E78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BECD0"/>
                </a:solidFill>
              </a:defRPr>
            </a:pPr>
            <a:r>
              <a:rPr sz="1575" b="1" i="0">
                <a:solidFill>
                  <a:srgbClr val="EBECD0"/>
                </a:solidFill>
              </a:rPr>
              <a:t>Priority is data—not hidden model behavior—so the UI can sort advice deterministically.</a:t>
            </a:r>
          </a:p>
        </p:txBody>
      </p:sp>
    </p:spTree>
    <p:extLst>
      <p:ext uri="{BB962C8B-B14F-4D97-AF65-F5344CB8AC3E}">
        <p14:creationId xmlns:p14="http://schemas.microsoft.com/office/powerpoint/2010/main" val="845770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D1594B-9259-4BED-BDB6-A8D0CE94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PROLOG BRIDGE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B9196-9DF6-4912-8929-A69F4EB2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A0D72-09D2-4C8A-B72C-711F94AD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3AC9C-F7E2-41ED-8BB0-B3EB56C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The bridge converts an imperative board state into declarative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CACA6-1380-4BC1-892B-CCDD38E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EBEC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89462-197F-4845-81CB-69BEE7F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BECD0"/>
                </a:solidFill>
              </a:defRPr>
            </a:pPr>
            <a:r>
              <a:rPr sz="975" b="1" i="0">
                <a:solidFill>
                  <a:srgbClr val="EBECD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8468A-719D-4F2C-A7C0-A493C73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FEN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E9622-72A9-4F65-832C-510958B5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r1bqk… w KQ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19D95-8250-439D-8771-D589EC7B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BC7A5-DE46-47AD-B437-0F555149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E7F1F-81EF-4F38-B25D-AFFF0A45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8BDF8"/>
                </a:solidFill>
              </a:defRPr>
            </a:pPr>
            <a:r>
              <a:rPr sz="975" b="1" i="0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EAB99-1E71-421D-9C8A-6F9859D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python-chess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B6AF6-2812-4444-8360-ADE1802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parse 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AF11C-F3E8-419E-884F-73795AD5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FF0FB-F373-4B63-AA88-E10E761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65BCE-B8A9-4C58-BDA6-30564A7E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A98D9-B67B-452C-93D2-D983054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FACT ASSERTION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1E2A8-D08E-4393-824F-6CB2E9F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piece · turn · attacks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38AA6-7307-4658-9127-99A58255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A1C2B-FBF4-4985-9CB5-4F522BC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55AEA-FE08-4039-83D1-52AB6D52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</a:defRPr>
            </a:pPr>
            <a:r>
              <a:rPr sz="975" b="1" i="0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CC6CF-A11E-42B0-8ECB-9D072C6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PROLOG QUERY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BEDAA5-BA02-4290-B224-D4E4B299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advice(P,C,T)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BF227-C929-49BA-A789-304F1FFE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731E1-5FF5-4406-B1DE-6B49367F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787A4-B54F-413D-B7D7-D7C312AF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7E80B-4D30-47E2-8FB9-22C16BDA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19634-B343-4C6D-8AA3-DB350390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top 6 sorted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90719-05BF-4F8A-A006-AC37E2E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95625"/>
            <a:ext cx="209550" cy="3048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171664-9419-4707-B1FF-E7FC46A4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571625" cy="1809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6D3CE0-CBE4-4FD4-B39D-E2D2D91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261EC-5607-4A58-B3C0-345E9D8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5"/>
                </a:solidFill>
              </a:defRPr>
            </a:pPr>
            <a:r>
              <a:rPr sz="1275" b="1" i="0">
                <a:solidFill>
                  <a:srgbClr val="F4F4F5"/>
                </a:solidFill>
              </a:rPr>
              <a:t>LOGICIAN 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B7CD18-696C-4CD3-9D31-F6936B1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95675"/>
            <a:ext cx="1343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AA3B6"/>
                </a:solidFill>
              </a:defRPr>
            </a:pPr>
            <a:r>
              <a:rPr sz="1125" b="0" i="0">
                <a:solidFill>
                  <a:srgbClr val="9AA3B6"/>
                </a:solidFill>
              </a:rPr>
              <a:t>category + reason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4843B4-6F55-4123-9F37-8D76E18A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Concurrency safeguard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2812A8-C34E-41F1-BB54-00F5705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A lock protects the shared Prolog instance while old facts are retracted, new facts are asserted, and the query runs.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774F5C-BB98-4D12-9CA7-4327AE3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BECD0"/>
                </a:solidFill>
              </a:defRPr>
            </a:pPr>
            <a:r>
              <a:rPr sz="1725" b="1" i="0">
                <a:solidFill>
                  <a:srgbClr val="EBECD0"/>
                </a:solidFill>
              </a:rPr>
              <a:t>Prolog remains observational: it never executes a chess move.</a:t>
            </a:r>
          </a:p>
        </p:txBody>
      </p:sp>
    </p:spTree>
    <p:extLst>
      <p:ext uri="{BB962C8B-B14F-4D97-AF65-F5344CB8AC3E}">
        <p14:creationId xmlns:p14="http://schemas.microsoft.com/office/powerpoint/2010/main" val="2020626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26528-AE03-4D23-8B45-6C7FC2F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PROLOG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01C87-1369-4EDA-AFB4-E60F351A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4348B-9A52-4BB4-A64B-83AE5DC5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73D80-C7B0-4845-8158-137CC364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A hanging piece becomes a transparent priority-95 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076E1-C4F2-4D89-9BF7-7730AF5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57CFC-D3C6-46DD-82F7-210DDF37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ASSERTED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042D0-3EA5-4C58-9607-1A17E2C5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BECD0"/>
                </a:solidFill>
              </a:defRPr>
            </a:pPr>
            <a:r>
              <a:rPr sz="1425" b="0" i="0">
                <a:solidFill>
                  <a:srgbClr val="EBECD0"/>
                </a:solidFill>
              </a:rPr>
              <a:t>turn(white).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AA6A7-0B6E-440B-A831-B55D55DA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BECD0"/>
                </a:solidFill>
              </a:defRPr>
            </a:pPr>
            <a:r>
              <a:rPr sz="1425" b="0" i="0">
                <a:solidFill>
                  <a:srgbClr val="EBECD0"/>
                </a:solidFill>
              </a:rPr>
              <a:t>piece(c3, white, bishop).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8701-A2FE-495F-A13F-2939232B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BECD0"/>
                </a:solidFill>
              </a:defRPr>
            </a:pPr>
            <a:r>
              <a:rPr sz="1425" b="0" i="0">
                <a:solidFill>
                  <a:srgbClr val="EBECD0"/>
                </a:solidFill>
              </a:rPr>
              <a:t>attacked_by(c3, black).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70F01-C814-4B1B-A8DD-15168FB8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% no defended_by(c3, white)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803AF-084C-4FC1-8D77-6B99154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9ED7B-83CF-441F-9559-63090B02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BBF24"/>
                </a:solidFill>
              </a:defRPr>
            </a:pPr>
            <a:r>
              <a:rPr sz="1425" b="1" i="0">
                <a:solidFill>
                  <a:srgbClr val="FBBF24"/>
                </a:solidFill>
              </a:rPr>
              <a:t>hanging_mine(c3, bishop).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96FF0-70F7-4469-B2AF-C74128E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552450" cy="666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58ECB-F29D-4E21-92A3-AFC45987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B1510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598A6-B20B-4FF5-8583-D11DA59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42C55-45C2-40F6-92A7-EABCE93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TACTICS · PRIORITY 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F4AC2-E697-45D4-B345-8FFDF356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4F4F5"/>
                </a:solidFill>
              </a:defRPr>
            </a:pPr>
            <a:r>
              <a:rPr sz="2400" b="1" i="0">
                <a:solidFill>
                  <a:srgbClr val="F4F4F5"/>
                </a:solidFill>
              </a:rPr>
              <a:t>Your bishop on c3 is attacked and undefended—defend it or move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41481-D8FF-40E3-972C-AD53B859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BBF24"/>
                </a:solidFill>
              </a:defRPr>
            </a:pPr>
            <a:r>
              <a:rPr sz="1350" b="1" i="0">
                <a:solidFill>
                  <a:srgbClr val="FBBF24"/>
                </a:solidFill>
              </a:rPr>
              <a:t>Why this is explainable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9D115-FF16-4D80-A1BD-FA97C77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AA3B6"/>
                </a:solidFill>
              </a:defRPr>
            </a:pPr>
            <a:r>
              <a:rPr sz="1350" b="0" i="0">
                <a:solidFill>
                  <a:srgbClr val="9AA3B6"/>
                </a:solidFill>
              </a:rPr>
              <a:t>Every phrase is grounded in a visible predicate and a named rule.</a:t>
            </a:r>
          </a:p>
        </p:txBody>
      </p:sp>
    </p:spTree>
    <p:extLst>
      <p:ext uri="{BB962C8B-B14F-4D97-AF65-F5344CB8AC3E}">
        <p14:creationId xmlns:p14="http://schemas.microsoft.com/office/powerpoint/2010/main" val="652497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6F9A02-02E2-4D2E-83AB-058C4346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HYBRID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16F7A-45CE-4678-9985-5592F4F1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0FDF6-0C6B-49B1-96AA-749EC0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74CC-CB95-4D55-B711-4657B6A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Each engine owns the job it can do 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EB40F-16D8-4BC7-9801-3AD88421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18362-2EC3-464E-B86C-C74CFE75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D399"/>
                </a:solidFill>
              </a:defRPr>
            </a:pPr>
            <a:r>
              <a:rPr sz="1350" b="1" i="0">
                <a:solidFill>
                  <a:srgbClr val="34D399"/>
                </a:solidFill>
              </a:rPr>
              <a:t>STOCKFISH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66681-7AD1-44B4-9D5D-2919B664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0BBC-E646-4BDD-A634-919E2862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9E0B"/>
                </a:solidFill>
              </a:defRPr>
            </a:pPr>
            <a:r>
              <a:rPr sz="1350" b="1" i="0">
                <a:solidFill>
                  <a:srgbClr val="F59E0B"/>
                </a:solidFill>
              </a:rPr>
              <a:t>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68698-00E6-406B-90DA-B3B2DFD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C47B6-1480-4127-B636-FC560C86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78BFA"/>
                </a:solidFill>
              </a:defRPr>
            </a:pPr>
            <a:r>
              <a:rPr sz="1350" b="1" i="0">
                <a:solidFill>
                  <a:srgbClr val="A78BFA"/>
                </a:solidFill>
              </a:rPr>
              <a:t>LLM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77A33-E2EF-4615-B7E7-FB8B7C76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8F80E-3B6F-4917-8B9C-0B694FF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Search and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8103-E37B-4710-984B-D5917618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6FDDF-0B39-474F-B931-968A77D5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Best move ·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61F59-2DA2-41D0-8F8E-0DDB007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Strength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92266-35CD-45B1-A42E-B4D3784A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Tactical depth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4F8B0-D660-41EE-AC85-78342798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FF1AB-0A54-4D64-A38C-0E403364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Hard to narrate directly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7158E-01C3-4880-AD3F-6317C438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B41AD-B38F-437D-BC5A-D2E9A16A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Rules and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65CA1-9E3A-4797-8F1F-1068997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25ED2-08EA-4413-8A3C-F4F732E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Ranked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C08FD-A7AC-403E-BEBB-4D3CE51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Strength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D8B63-53F2-4109-8082-2E50B0D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Transparent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4E8D7-A998-4E63-B634-693CF0E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Limit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5D87E-6B4B-4488-8611-4A4161C8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Narrow encoded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A9E73-7582-4D80-A6A4-35718F8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DFFC2-42ED-4D55-B7B5-A8A8C27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Dialogue and language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5F03A2-5E0D-4B4E-A7AC-1E49FA5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81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B9DE8-6719-4E50-B84C-6BB88A09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Natural coaching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DE8A8-1311-451E-8621-61B3577C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48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Strength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CEF3E-4829-4FE6-9DF8-203FC563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767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Flexible communication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4CC502-4427-4416-B300-A86E65DE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14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9AA3B6"/>
                </a:solidFill>
              </a:defRPr>
            </a:pPr>
            <a:r>
              <a:rPr sz="900" b="1" i="0">
                <a:solidFill>
                  <a:srgbClr val="9AA3B6"/>
                </a:solidFill>
              </a:rPr>
              <a:t>Limit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72C60C-8578-4A9A-9BBD-C55CF37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434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Needs grounding + 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0A8DB-18AD-47F1-9030-C937D16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BECD0"/>
                </a:solidFill>
              </a:defRPr>
            </a:pPr>
            <a:r>
              <a:rPr sz="1725" b="1" i="0">
                <a:solidFill>
                  <a:srgbClr val="EBECD0"/>
                </a:solidFill>
              </a:rPr>
              <a:t>Hybrid design turns one opaque ‘AI’ into accountable, composable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5286610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13918-32AC-43C9-8BEF-A836F8C9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SEARCH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74475-B24B-4358-8686-9FB2E032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DC669-99DD-4791-8D51-557704C3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F3E4C-90F2-4D0D-91CE-E6350C7D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Four agents reveal how evaluation priorities change a search tree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37cee875c4738"/>
          <a:srcRect xmlns:a="http://schemas.openxmlformats.org/drawingml/2006/main" l="3561" t="0" r="35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762125"/>
            <a:ext cx="6762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2466F-F0BD-4AD0-8AB9-46E58AE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23C7E-E58F-49A0-B84B-A786BABF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4F5"/>
                </a:solidFill>
              </a:defRPr>
            </a:pPr>
            <a:r>
              <a:rPr sz="1575" b="1" i="0">
                <a:solidFill>
                  <a:srgbClr val="F4F4F5"/>
                </a:solidFill>
              </a:rPr>
              <a:t>Materialist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63AB6-7133-49F2-85A3-2B420026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764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AA3B6"/>
                </a:solidFill>
              </a:defRPr>
            </a:pPr>
            <a:r>
              <a:rPr sz="1200" b="0" i="0">
                <a:solidFill>
                  <a:srgbClr val="9AA3B6"/>
                </a:solidFill>
              </a:rPr>
              <a:t>1.8× 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AA184-290C-4FA3-B4A4-12E42B0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289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BADE1-22C6-47AE-A57D-7F83303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71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4F5"/>
                </a:solidFill>
              </a:defRPr>
            </a:pPr>
            <a:r>
              <a:rPr sz="1575" b="1" i="0">
                <a:solidFill>
                  <a:srgbClr val="F4F4F5"/>
                </a:solidFill>
              </a:rPr>
              <a:t>Positional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929D8-E66B-47E8-9263-8399E46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AA3B6"/>
                </a:solidFill>
              </a:defRPr>
            </a:pPr>
            <a:r>
              <a:rPr sz="1200" b="0" i="0">
                <a:solidFill>
                  <a:srgbClr val="9AA3B6"/>
                </a:solidFill>
              </a:rPr>
              <a:t>1.8×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4339A-0E84-4632-B439-77F13F06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05E65-1857-4680-85E9-3D6BDAC4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4F5"/>
                </a:solidFill>
              </a:defRPr>
            </a:pPr>
            <a:r>
              <a:rPr sz="1575" b="1" i="0">
                <a:solidFill>
                  <a:srgbClr val="F4F4F5"/>
                </a:solidFill>
              </a:rPr>
              <a:t>Defender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678E4-D59A-43A5-9160-7A876C9F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147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AA3B6"/>
                </a:solidFill>
              </a:defRPr>
            </a:pPr>
            <a:r>
              <a:rPr sz="1200" b="0" i="0">
                <a:solidFill>
                  <a:srgbClr val="9AA3B6"/>
                </a:solidFill>
              </a:rPr>
              <a:t>2.1× king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000A1-9B77-41F2-A4CD-B844D2E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672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F2794-D2AB-4183-8F52-F1B15A92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10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4F5"/>
                </a:solidFill>
              </a:defRPr>
            </a:pPr>
            <a:r>
              <a:rPr sz="1575" b="1" i="0">
                <a:solidFill>
                  <a:srgbClr val="F4F4F5"/>
                </a:solidFill>
              </a:rPr>
              <a:t>Tactician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AE587-C6CB-4216-BB6C-1E68A222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AA3B6"/>
                </a:solidFill>
              </a:defRPr>
            </a:pPr>
            <a:r>
              <a:rPr sz="1200" b="0" i="0">
                <a:solidFill>
                  <a:srgbClr val="9AA3B6"/>
                </a:solidFill>
              </a:rPr>
              <a:t>deeper forcing 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C1A49-12FC-4723-BE57-F8348AB3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28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BECD0"/>
                </a:solidFill>
              </a:defRPr>
            </a:pPr>
            <a:r>
              <a:rPr sz="1500" b="1" i="0">
                <a:solidFill>
                  <a:srgbClr val="EBECD0"/>
                </a:solidFill>
              </a:rPr>
              <a:t>Same FEN. Different heuristic weights. Selectable Minimax or MCTS traces.</a:t>
            </a:r>
          </a:p>
        </p:txBody>
      </p:sp>
    </p:spTree>
    <p:extLst>
      <p:ext uri="{BB962C8B-B14F-4D97-AF65-F5344CB8AC3E}">
        <p14:creationId xmlns:p14="http://schemas.microsoft.com/office/powerpoint/2010/main" val="1512515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FC09B-3FB5-4D78-ADD8-7018603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LANGUAGE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EA8A7-40E4-42BF-9361-4B619D02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63EB5-447B-4E60-AE4F-3319ECC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13360-B204-4A72-B581-5FF0E77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The coach grounds natural language in the live position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1bd75c3a34f5b"/>
          <a:srcRect xmlns:a="http://schemas.openxmlformats.org/drawingml/2006/main" l="3338" t="0" r="33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14500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B8DC9-472C-4700-8A46-F3A1247E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DAFAA-E739-4119-80FC-FFF5987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145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4F5"/>
                </a:solidFill>
              </a:defRPr>
            </a:pPr>
            <a:r>
              <a:rPr sz="1425" b="1" i="0">
                <a:solidFill>
                  <a:srgbClr val="F4F4F5"/>
                </a:solidFill>
              </a:rPr>
              <a:t>FEN · emotion ·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2D8AF-382C-438A-BBEC-B63ED4F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431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3542-C9A7-4570-9CC0-5F63B042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43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GROUNDING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BC769-A22F-4F52-AC3D-B549CDF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4F5"/>
                </a:solidFill>
              </a:defRPr>
            </a:pPr>
            <a:r>
              <a:rPr sz="1425" b="1" i="0">
                <a:solidFill>
                  <a:srgbClr val="F4F4F5"/>
                </a:solidFill>
              </a:rPr>
              <a:t>legal moves · best 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23EB3-130F-4803-9EEF-7D940AF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D5FAC-07C5-48A0-A40D-E1AB063D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78BFA"/>
                </a:solidFill>
              </a:defRPr>
            </a:pPr>
            <a:r>
              <a:rPr sz="900" b="1" i="0">
                <a:solidFill>
                  <a:srgbClr val="A78BFA"/>
                </a:solidFill>
              </a:rPr>
              <a:t>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B24C6-5D5C-438F-9E21-BE3BD6E8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81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4F5"/>
                </a:solidFill>
              </a:defRPr>
            </a:pPr>
            <a:r>
              <a:rPr sz="1425" b="1" i="0">
                <a:solidFill>
                  <a:srgbClr val="F4F4F5"/>
                </a:solidFill>
              </a:rPr>
              <a:t>Groq or local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2BF75-3E8F-4F0F-ABEB-2C04097E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DC3E8-6756-4439-BFBF-CDD1851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0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14225-66A1-4FE2-92E6-1B7050D5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149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4F5"/>
                </a:solidFill>
              </a:defRPr>
            </a:pPr>
            <a:r>
              <a:rPr sz="1425" b="1" i="0">
                <a:solidFill>
                  <a:srgbClr val="F4F4F5"/>
                </a:solidFill>
              </a:rPr>
              <a:t>structured chess advice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29DD8-FEE5-45AA-AAB0-D82EA4C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6197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BECD0"/>
                </a:solidFill>
              </a:defRPr>
            </a:pPr>
            <a:r>
              <a:rPr sz="1350" b="1" i="0">
                <a:solidFill>
                  <a:srgbClr val="EBECD0"/>
                </a:solidFill>
              </a:rPr>
              <a:t>The interface can offer a playable move, but chess.js validation remains the authority.</a:t>
            </a:r>
          </a:p>
        </p:txBody>
      </p:sp>
    </p:spTree>
    <p:extLst>
      <p:ext uri="{BB962C8B-B14F-4D97-AF65-F5344CB8AC3E}">
        <p14:creationId xmlns:p14="http://schemas.microsoft.com/office/powerpoint/2010/main" val="977374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0A1B9-D3B7-49D8-AE2C-52F4606A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VOICE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7D2BF-8C7E-44C7-8D23-8555E81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8F71C-52D9-4F54-8D61-755F82F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B7BD5-08F7-4737-8BDD-152A2CE7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Burmese voice supports two separate—and safer—interaction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8C19E-3B26-457C-958A-433CB10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4AD47-FEAC-488C-BD07-370212FA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2D3EE"/>
                </a:solidFill>
              </a:defRPr>
            </a:pPr>
            <a:r>
              <a:rPr sz="1125" b="1" i="0">
                <a:solidFill>
                  <a:srgbClr val="22D3EE"/>
                </a:solidFill>
              </a:rPr>
              <a:t>VOICE MOVE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FB223-37CC-40C4-A5D2-92782C03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4F5"/>
                </a:solidFill>
              </a:defRPr>
            </a:pPr>
            <a:r>
              <a:rPr sz="2025" b="1" i="0">
                <a:solidFill>
                  <a:srgbClr val="F4F4F5"/>
                </a:solidFill>
              </a:rPr>
              <a:t>Audio → transcript → parseChessMove() → legal move validation → 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18DCB-F04D-4F96-9D75-CE8A4130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A command executes only after it resolves to a legal move.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41FD3-5DFC-40EA-BC32-F94CC170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911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CFD44-5201-4DD7-80C8-05CC5AA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78BFA"/>
                </a:solidFill>
              </a:defRPr>
            </a:pPr>
            <a:r>
              <a:rPr sz="1125" b="1" i="0">
                <a:solidFill>
                  <a:srgbClr val="A78BFA"/>
                </a:solidFill>
              </a:rPr>
              <a:t>VOICE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78E65-DA65-4465-8C80-ED549653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24150"/>
            <a:ext cx="428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4F4F5"/>
                </a:solidFill>
              </a:defRPr>
            </a:pPr>
            <a:r>
              <a:rPr sz="2025" b="1" i="0">
                <a:solidFill>
                  <a:srgbClr val="F4F4F5"/>
                </a:solidFill>
              </a:rPr>
              <a:t>Audio → transcript → editable text → /api/coach → Burmese answer → optional TTS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7F5D9-5446-4C55-A61D-E57D9DC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76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3B6"/>
                </a:solidFill>
              </a:defRPr>
            </a:pPr>
            <a:r>
              <a:rPr sz="1425" b="0" i="0">
                <a:solidFill>
                  <a:srgbClr val="9AA3B6"/>
                </a:solidFill>
              </a:rPr>
              <a:t>Asking a question never auto-plays a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F7E88-0422-46F7-8D3A-AD4F736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055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8A8E3-2302-4B16-89E8-514A9F89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2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LOCAL WHISPER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0C2C9-FD53-42E8-8126-5F0E15C1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05500"/>
            <a:ext cx="1047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B0372-8DA6-4232-9DE5-4B788E35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24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GROQ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481E-D7B4-4E69-8E8F-0710AA29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0"/>
            <a:ext cx="1619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923C">
              <a:alpha val="13333"/>
            </a:srgbClr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71E1B-5956-4C2A-BDC3-4D33608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2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B923C"/>
                </a:solidFill>
              </a:defRPr>
            </a:pPr>
            <a:r>
              <a:rPr sz="900" b="1" i="0">
                <a:solidFill>
                  <a:srgbClr val="FB923C"/>
                </a:solidFill>
              </a:rPr>
              <a:t>ELEVENLABS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EAF65-B579-4419-BA54-BD5F198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0550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FC776-347E-4632-92B1-E87783E2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924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78BFA"/>
                </a:solidFill>
              </a:defRPr>
            </a:pPr>
            <a:r>
              <a:rPr sz="900" b="1" i="0">
                <a:solidFill>
                  <a:srgbClr val="A78BFA"/>
                </a:solidFill>
              </a:rPr>
              <a:t>GEMINI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80C7F-8D50-4A6F-ABC3-A40C04DE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8BDF8">
              <a:alpha val="13333"/>
            </a:srgbClr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E35A7-22D7-48DD-9E95-905AF5F9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24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8BDF8"/>
                </a:solidFill>
              </a:defRPr>
            </a:pPr>
            <a:r>
              <a:rPr sz="900" b="1" i="0">
                <a:solidFill>
                  <a:srgbClr val="38BDF8"/>
                </a:solidFill>
              </a:rPr>
              <a:t>ASSEMBLYAI</a:t>
            </a:r>
          </a:p>
        </p:txBody>
      </p:sp>
    </p:spTree>
    <p:extLst>
      <p:ext uri="{BB962C8B-B14F-4D97-AF65-F5344CB8AC3E}">
        <p14:creationId xmlns:p14="http://schemas.microsoft.com/office/powerpoint/2010/main" val="13425142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F3ECA-281D-44DD-AE4D-80864B75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0565C-AE6F-4D14-A52D-07214899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93D2C-5729-4CB1-BC3D-933623CC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8C9E1-8EA2-4343-B9D9-C534081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The AI remains visible, controllable, and inspectable during play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4a9e54b94993"/>
          <a:srcRect xmlns:a="http://schemas.openxmlformats.org/drawingml/2006/main" l="195" t="0" r="1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" y="1600200"/>
            <a:ext cx="8096250" cy="4572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7F8D-BA95-47A0-87DB-66EADB6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LIVE 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F9044-7031-4457-93D0-0464DCC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383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Stockfish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789D2-9B67-40BB-96E3-681C99AF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EMOTION 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26C69-5751-4F71-8BD6-F3B654E1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384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soft evidence over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F9D3D-4574-4D90-9B2F-C960A38B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</a:defRPr>
            </a:pPr>
            <a:r>
              <a:rPr sz="975" b="1" i="0">
                <a:solidFill>
                  <a:srgbClr val="F59E0B"/>
                </a:solidFill>
              </a:rPr>
              <a:t>BOT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8FE4D-E4DC-4D51-8AB6-D4ACE5D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386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ELO · depth ·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F79DB-A924-473E-8EEB-995EC239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14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AI TABS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EE4C1-3B6D-4774-880C-4397B88A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0387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5"/>
                </a:solidFill>
              </a:defRPr>
            </a:pPr>
            <a:r>
              <a:rPr sz="1350" b="1" i="0">
                <a:solidFill>
                  <a:srgbClr val="F4F4F5"/>
                </a:solidFill>
              </a:rPr>
              <a:t>coach · logic ·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F82A8-23E0-4561-9D22-A1BA2DF5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197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BECD0"/>
                </a:solidFill>
              </a:defRPr>
            </a:pPr>
            <a:r>
              <a:rPr sz="1425" b="1" i="0">
                <a:solidFill>
                  <a:srgbClr val="EBECD0"/>
                </a:solidFill>
              </a:rPr>
              <a:t>Manual emotion override keeps the human in control.</a:t>
            </a:r>
          </a:p>
        </p:txBody>
      </p:sp>
    </p:spTree>
    <p:extLst>
      <p:ext uri="{BB962C8B-B14F-4D97-AF65-F5344CB8AC3E}">
        <p14:creationId xmlns:p14="http://schemas.microsoft.com/office/powerpoint/2010/main" val="15645003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73315-F429-4728-9033-6ABE84CF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8A8EF-47AB-435E-808A-DC073EF4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5A3DD-14A6-46EB-B3FD-32C8C0B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9619E-53EB-45D1-ACFD-7FCBC8AC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Graceful degradation keeps the core game 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40CBD-5665-4393-84E3-BF3627D0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38DF9-B6A4-4462-83C3-16CEDFB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9E421-6565-4799-B9B7-7F194B8E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</a:defRPr>
            </a:pPr>
            <a:r>
              <a:rPr sz="975" b="1" i="0">
                <a:solidFill>
                  <a:srgbClr val="F59E0B"/>
                </a:solidFill>
              </a:rPr>
              <a:t>PROLOG UNAVAILABLE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7A2A-0E8C-4E8E-8FC1-AE92338D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Logician shows setup guidance; game logic is unaffected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4308B-F798-4995-BE42-6D5B0D9A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977D-4D5F-40EC-9BB9-187478D7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9B46-A2A2-440B-80F1-F7994634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LLM 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2B988-4A65-454C-A873-32F406FC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7177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Structured fallback coach still returns position-aware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6112D-F03B-4D90-BABE-C9B5D170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2A1C9-AF37-41B7-BB8E-059003C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15036-1110-4BB4-BCF4-65346C3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CLOUD STT UNAVAILABLE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73381-BC38-41C2-A364-A712D9D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909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Local Whisper or another configured provider can take over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CF469-A488-4140-A887-73BA480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892E3-F3E2-448B-B55D-5E81787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74633-5809-4D1D-A80E-B92CF8B8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STOCKFISH BUSY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48DA8-D0A7-4F17-BCD3-5263D92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1007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Bounded engine pool returns an explicit 503 instead of corrupt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620F6-F3CC-4140-B980-C8C6163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11049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2A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24EF0-703D-4784-BA57-3059FDB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5CD42-B8CD-4003-A5CE-7D7500C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B923C"/>
                </a:solidFill>
              </a:defRPr>
            </a:pPr>
            <a:r>
              <a:rPr sz="975" b="1" i="0">
                <a:solidFill>
                  <a:srgbClr val="FB923C"/>
                </a:solidFill>
              </a:rPr>
              <a:t>STALE UI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800C6-DE65-45C6-8A07-E4AAFEA8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29225"/>
            <a:ext cx="766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4F4F5"/>
                </a:solidFill>
              </a:defRPr>
            </a:pPr>
            <a:r>
              <a:rPr sz="1350" b="0" i="0">
                <a:solidFill>
                  <a:srgbClr val="F4F4F5"/>
                </a:solidFill>
              </a:rPr>
              <a:t>Sequence checks ignore obsolete Logician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CD959-CE48-44D9-9385-7222D144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960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BECD0"/>
                </a:solidFill>
              </a:defRPr>
            </a:pPr>
            <a:r>
              <a:rPr sz="1650" b="1" i="0">
                <a:solidFill>
                  <a:srgbClr val="EBECD0"/>
                </a:solidFill>
              </a:rPr>
              <a:t>A robust AI product is defined as much by its boundaries as by its models.</a:t>
            </a:r>
          </a:p>
        </p:txBody>
      </p:sp>
    </p:spTree>
    <p:extLst>
      <p:ext uri="{BB962C8B-B14F-4D97-AF65-F5344CB8AC3E}">
        <p14:creationId xmlns:p14="http://schemas.microsoft.com/office/powerpoint/2010/main" val="13986078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F4890-8490-4C77-8CCA-D4675A1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TEAM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74A40-9F20-418F-8F3E-72E36E5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48F2F-A463-4208-B0C1-35E80BD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9AA3B6"/>
                </a:solidFill>
              </a:defRPr>
            </a:pPr>
            <a:r>
              <a:rPr sz="900" b="0" i="0">
                <a:solidFill>
                  <a:srgbClr val="9AA3B6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3A287-8FD9-4701-8FEE-1F7ED00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4F5"/>
                </a:solidFill>
              </a:defRPr>
            </a:pPr>
            <a:r>
              <a:rPr sz="2850" b="1" i="0">
                <a:solidFill>
                  <a:srgbClr val="F4F4F5"/>
                </a:solidFill>
              </a:rPr>
              <a:t>Five presenters can tell one connected AI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43FD5-B760-41BD-A6C3-0E39D92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BECD0"/>
                </a:solidFill>
              </a:defRPr>
            </a:pPr>
            <a:r>
              <a:rPr sz="975" b="1" i="0">
                <a:solidFill>
                  <a:srgbClr val="EBECD0"/>
                </a:solidFill>
              </a:rPr>
              <a:t>MEMBER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C4DE-80B3-4029-AB84-C9B6956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859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Problem +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22FBD-EF12-401E-BB56-A99B25E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BECD0">
              <a:alpha val="13333"/>
            </a:srgbClr>
          </a:solidFill>
          <a:ln xmlns:a="http://schemas.openxmlformats.org/drawingml/2006/main" w="9525">
            <a:solidFill>
              <a:srgbClr val="EBEC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E7796-B1D8-4A97-A8AF-BF04CEB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BECD0"/>
                </a:solidFill>
              </a:defRPr>
            </a:pPr>
            <a:r>
              <a:rPr sz="900" b="1" i="0">
                <a:solidFill>
                  <a:srgbClr val="EBECD0"/>
                </a:solidFill>
              </a:rPr>
              <a:t>Slides 1–4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D1DA-11D7-4E11-B716-5F4280DC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5221A-091C-49F2-9B05-F5C6A49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</a:defRPr>
            </a:pPr>
            <a:r>
              <a:rPr sz="975" b="1" i="0">
                <a:solidFill>
                  <a:srgbClr val="22D3EE"/>
                </a:solidFill>
              </a:rPr>
              <a:t>MEMBER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068E9-C123-4785-80DB-9B72621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622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Emotion perception + adaptation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F2E0C-D648-41A7-AF7B-DC1273B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8FE24-2571-4BAF-B5C3-772E6C59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D3EE"/>
                </a:solidFill>
              </a:defRPr>
            </a:pPr>
            <a:r>
              <a:rPr sz="900" b="1" i="0">
                <a:solidFill>
                  <a:srgbClr val="22D3EE"/>
                </a:solidFill>
              </a:rPr>
              <a:t>Slides 5–6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F87A6-397C-4214-B486-C436CA6B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76D15-9CD2-48F3-9C61-05BAC005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</a:defRPr>
            </a:pPr>
            <a:r>
              <a:rPr sz="975" b="1" i="0">
                <a:solidFill>
                  <a:srgbClr val="F59E0B"/>
                </a:solidFill>
              </a:rPr>
              <a:t>MEMBER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4B5DC-03F5-467A-BD14-039DB82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385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Prolog deep dive +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6D58D-50C4-4570-80D0-F1453AF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480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69E18-062B-445E-9BE7-913483C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67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Slides 7–10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05155-189D-48F9-95E8-C25BBFE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0094E-1D0F-42F2-BB77-B11D1664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D399"/>
                </a:solidFill>
              </a:defRPr>
            </a:pPr>
            <a:r>
              <a:rPr sz="975" b="1" i="0">
                <a:solidFill>
                  <a:srgbClr val="34D399"/>
                </a:solidFill>
              </a:rPr>
              <a:t>MEMBER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06886-0F7B-437D-9A04-FB69CF5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148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Hybrid search + agents + coach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DB0E8-41CA-4C8F-8E13-226B937C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243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4D399">
              <a:alpha val="13333"/>
            </a:srgbClr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2BB5E-8212-4999-9FCF-0CBE681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43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34D399"/>
                </a:solidFill>
              </a:defRPr>
            </a:pPr>
            <a:r>
              <a:rPr sz="900" b="1" i="0">
                <a:solidFill>
                  <a:srgbClr val="34D399"/>
                </a:solidFill>
              </a:rPr>
              <a:t>Slides 11–13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5805C-781E-410E-87FB-9E6545F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672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2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9BF213-FC6F-4716-8D21-53B780C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78BFA"/>
                </a:solidFill>
              </a:defRPr>
            </a:pPr>
            <a:r>
              <a:rPr sz="975" b="1" i="0">
                <a:solidFill>
                  <a:srgbClr val="A78BFA"/>
                </a:solidFill>
              </a:rPr>
              <a:t>MEMBER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C8B69-DE80-4EDC-A079-285A2CF1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91125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4F5"/>
                </a:solidFill>
              </a:defRPr>
            </a:pPr>
            <a:r>
              <a:rPr sz="1800" b="1" i="0">
                <a:solidFill>
                  <a:srgbClr val="F4F4F5"/>
                </a:solidFill>
              </a:rPr>
              <a:t>Voice + product + reliability + 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770EB-1AEB-4E81-9488-DA13A36D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006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8BFA">
              <a:alpha val="13333"/>
            </a:srgbClr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99CA6-423C-41B2-B154-3A7A4EA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19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A78BFA"/>
                </a:solidFill>
              </a:defRPr>
            </a:pPr>
            <a:r>
              <a:rPr sz="900" b="1" i="0">
                <a:solidFill>
                  <a:srgbClr val="A78BFA"/>
                </a:solidFill>
              </a:rPr>
              <a:t>Slides 14–18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B9315A-EA1B-4FF5-9D93-E42D8DF5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15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59E0B"/>
                </a:solidFill>
              </a:defRPr>
            </a:pPr>
            <a:r>
              <a:rPr sz="975" b="1" i="0">
                <a:solidFill>
                  <a:srgbClr val="F59E0B"/>
                </a:solidFill>
              </a:rPr>
              <a:t>Transition phrase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AE8444-B0D8-495A-8AD2-C1D27F6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EBECD0"/>
                </a:solidFill>
              </a:defRPr>
            </a:pPr>
            <a:r>
              <a:rPr sz="1650" b="0" i="1">
                <a:solidFill>
                  <a:srgbClr val="EBECD0"/>
                </a:solidFill>
              </a:rPr>
              <a:t>“That layer creates the signal the next layer needs.”</a:t>
            </a:r>
          </a:p>
        </p:txBody>
      </p:sp>
    </p:spTree>
    <p:extLst>
      <p:ext uri="{BB962C8B-B14F-4D97-AF65-F5344CB8AC3E}">
        <p14:creationId xmlns:p14="http://schemas.microsoft.com/office/powerpoint/2010/main" val="1038700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A49D5-189D-4BC2-86F3-0E2B19D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59E0B"/>
                </a:solidFill>
              </a:defRPr>
            </a:pPr>
            <a:r>
              <a:rPr sz="900" b="1" i="0">
                <a:solidFill>
                  <a:srgbClr val="F59E0B"/>
                </a:solidFill>
              </a:rPr>
              <a:t>SENTIO /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6182-E7AB-4F17-80DD-43179AC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4F4F5"/>
                </a:solidFill>
              </a:defRPr>
            </a:pPr>
            <a:r>
              <a:rPr sz="3900" b="1" i="0">
                <a:solidFill>
                  <a:srgbClr val="F4F4F5"/>
                </a:solidFill>
              </a:rPr>
              <a:t>One adaptive loop.</a:t>
            </a:r>
          </a:p>
          <a:p xmlns:a="http://schemas.openxmlformats.org/drawingml/2006/main">
            <a:pPr algn="l">
              <a:defRPr sz="3900" b="1" i="0">
                <a:solidFill>
                  <a:srgbClr val="F4F4F5"/>
                </a:solidFill>
              </a:defRPr>
            </a:pPr>
            <a:r>
              <a:rPr sz="3900" b="1" i="0">
                <a:solidFill>
                  <a:srgbClr val="F4F4F5"/>
                </a:solidFill>
              </a:rPr>
              <a:t>Four forms of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281C7-07AA-4F73-A774-D22EE4C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8ADF2-296E-41E5-BD79-FD33C573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2D3EE"/>
                </a:solidFill>
              </a:defRPr>
            </a:pPr>
            <a:r>
              <a:rPr sz="1050" b="1" i="0">
                <a:solidFill>
                  <a:srgbClr val="22D3EE"/>
                </a:solidFill>
              </a:rPr>
              <a:t>PERCEPTION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A8116-840B-4466-BCF5-36DC43A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BECD0"/>
                </a:solidFill>
              </a:defRPr>
            </a:pPr>
            <a:r>
              <a:rPr sz="1650" b="1" i="0">
                <a:solidFill>
                  <a:srgbClr val="EBECD0"/>
                </a:solidFill>
              </a:rPr>
              <a:t>reads the player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A1E2C-B64C-4A49-8B26-027951D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52BAF-049A-475A-8682-6E4248D2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D399"/>
                </a:solidFill>
              </a:defRPr>
            </a:pPr>
            <a:r>
              <a:rPr sz="1050" b="1" i="0">
                <a:solidFill>
                  <a:srgbClr val="34D399"/>
                </a:solidFill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BF712-1952-4951-A29E-666D8876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BECD0"/>
                </a:solidFill>
              </a:defRPr>
            </a:pPr>
            <a:r>
              <a:rPr sz="1650" b="1" i="0">
                <a:solidFill>
                  <a:srgbClr val="EBECD0"/>
                </a:solidFill>
              </a:rPr>
              <a:t>reads the 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29304-193C-4256-9F8B-EEF9932C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EC40B-3264-42DA-97B2-EEDF01B9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59E0B"/>
                </a:solidFill>
              </a:defRPr>
            </a:pPr>
            <a:r>
              <a:rPr sz="1050" b="1" i="0">
                <a:solidFill>
                  <a:srgbClr val="F59E0B"/>
                </a:solidFill>
              </a:rPr>
              <a:t>PROLOG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AB898-08FA-4EBD-8F4B-DF24C42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BECD0"/>
                </a:solidFill>
              </a:defRPr>
            </a:pPr>
            <a:r>
              <a:rPr sz="1650" b="1" i="0">
                <a:solidFill>
                  <a:srgbClr val="EBECD0"/>
                </a:solidFill>
              </a:rPr>
              <a:t>makes rules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9B8D0-C4DD-4B80-9527-7A1BCB4C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385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1BB6C-BDAD-47DE-93A5-CF153247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76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78BFA"/>
                </a:solidFill>
              </a:defRPr>
            </a:pPr>
            <a:r>
              <a:rPr sz="1050" b="1" i="0">
                <a:solidFill>
                  <a:srgbClr val="A78BFA"/>
                </a:solidFill>
              </a:rPr>
              <a:t>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0BDD8-7207-42BC-B042-5C8E2A9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052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BECD0"/>
                </a:solidFill>
              </a:defRPr>
            </a:pPr>
            <a:r>
              <a:rPr sz="1650" b="1" i="0">
                <a:solidFill>
                  <a:srgbClr val="EBECD0"/>
                </a:solidFill>
              </a:rPr>
              <a:t>makes guidance usable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8625F-E3D0-4EF4-8ECF-5FA7DBA1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00125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B1510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49C89-D0D0-430A-9B9F-1FA5F08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BBF24"/>
                </a:solidFill>
              </a:defRPr>
            </a:pPr>
            <a:r>
              <a:rPr sz="1050" b="1" i="0">
                <a:solidFill>
                  <a:srgbClr val="FBBF24"/>
                </a:solidFill>
              </a:rPr>
              <a:t>PROLOG’S BRIDGE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F5FFB-E578-4F5E-B432-E4283947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33550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4F4F5"/>
                </a:solidFill>
              </a:defRPr>
            </a:pPr>
            <a:r>
              <a:rPr sz="1725" b="1" i="0">
                <a:solidFill>
                  <a:srgbClr val="F4F4F5"/>
                </a:solidFill>
              </a:rPr>
              <a:t>position state → explicit facts → prioritized explanation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82943-7A49-4E28-9771-91A3562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4F4F5"/>
                </a:solidFill>
              </a:defRPr>
            </a:pPr>
            <a:r>
              <a:rPr sz="2025" b="1" i="0">
                <a:solidFill>
                  <a:srgbClr val="F4F4F5"/>
                </a:solidFill>
              </a:rPr>
              <a:t>Sentio demonstrates that trustworthy AI is not one model—it is a well-designed conversation between models, rules, state, and people.</a:t>
            </a:r>
          </a:p>
        </p:txBody>
      </p:sp>
    </p:spTree>
    <p:extLst>
      <p:ext uri="{BB962C8B-B14F-4D97-AF65-F5344CB8AC3E}">
        <p14:creationId xmlns:p14="http://schemas.microsoft.com/office/powerpoint/2010/main" val="9080718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2026-08-28T16:50:17.7000000Z</dcterms:created>
  <dcterms:modified xsi:type="dcterms:W3CDTF">2026-08-28T16:50:17.7010000Z</dcterms:modified>
</coreProperties>
</file>