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8e9e0be5654ff6" /><Relationship Type="http://schemas.openxmlformats.org/officeDocument/2006/relationships/extended-properties" Target="/docProps/app.xml" Id="R2d1d4983da6b4d7a" /><Relationship Type="http://schemas.openxmlformats.org/officeDocument/2006/relationships/officeDocument" Target="/ppt/presentation.xml" Id="Re612a8a57dfa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1cefa5c2540e0"/>
  </p:sldMasterIdLst>
  <p:notesMasterIdLst>
    <p:notesMasterId xmlns:r="http://schemas.openxmlformats.org/officeDocument/2006/relationships" r:id="R5da650abf86e4a5a"/>
  </p:notesMasterIdLst>
  <p:sldIdLst>
    <p:sldId xmlns:r="http://schemas.openxmlformats.org/officeDocument/2006/relationships" id="256" r:id="R2e5e9ec05f004953"/>
    <p:sldId xmlns:r="http://schemas.openxmlformats.org/officeDocument/2006/relationships" id="257" r:id="Ra4f0c7378ed0484f"/>
    <p:sldId xmlns:r="http://schemas.openxmlformats.org/officeDocument/2006/relationships" id="258" r:id="R7e7e90d62e2243ac"/>
    <p:sldId xmlns:r="http://schemas.openxmlformats.org/officeDocument/2006/relationships" id="259" r:id="R3af169de328c4a95"/>
    <p:sldId xmlns:r="http://schemas.openxmlformats.org/officeDocument/2006/relationships" id="260" r:id="R535f3384ced74eab"/>
    <p:sldId xmlns:r="http://schemas.openxmlformats.org/officeDocument/2006/relationships" id="261" r:id="R9d1e4b26e8c74732"/>
    <p:sldId xmlns:r="http://schemas.openxmlformats.org/officeDocument/2006/relationships" id="262" r:id="Re88faca1392f4c35"/>
    <p:sldId xmlns:r="http://schemas.openxmlformats.org/officeDocument/2006/relationships" id="263" r:id="R0537c59f4205435d"/>
    <p:sldId xmlns:r="http://schemas.openxmlformats.org/officeDocument/2006/relationships" id="264" r:id="R027bd320668d4fa3"/>
    <p:sldId xmlns:r="http://schemas.openxmlformats.org/officeDocument/2006/relationships" id="265" r:id="Rff700a1ce31240e2"/>
    <p:sldId xmlns:r="http://schemas.openxmlformats.org/officeDocument/2006/relationships" id="266" r:id="Rb180e5bf67964b9e"/>
    <p:sldId xmlns:r="http://schemas.openxmlformats.org/officeDocument/2006/relationships" id="267" r:id="Rdde5aa1c18a9414e"/>
    <p:sldId xmlns:r="http://schemas.openxmlformats.org/officeDocument/2006/relationships" id="268" r:id="R28fba4606d5f4928"/>
    <p:sldId xmlns:r="http://schemas.openxmlformats.org/officeDocument/2006/relationships" id="269" r:id="R7ebbcee51ae44884"/>
    <p:sldId xmlns:r="http://schemas.openxmlformats.org/officeDocument/2006/relationships" id="270" r:id="Rd93fd77cd3974f4f"/>
    <p:sldId xmlns:r="http://schemas.openxmlformats.org/officeDocument/2006/relationships" id="271" r:id="R5bd319f8349f4970"/>
    <p:sldId xmlns:r="http://schemas.openxmlformats.org/officeDocument/2006/relationships" id="272" r:id="Rb422754eb5844f80"/>
    <p:sldId xmlns:r="http://schemas.openxmlformats.org/officeDocument/2006/relationships" id="273" r:id="Re63ffc9b5162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0ca5882fc4223" /><Relationship Type="http://schemas.openxmlformats.org/officeDocument/2006/relationships/slideMaster" Target="/ppt/slideMasters/slideMaster1.xml" Id="R5021cefa5c2540e0" /><Relationship Type="http://schemas.openxmlformats.org/officeDocument/2006/relationships/notesMaster" Target="/ppt/notesMasters/notesMaster1.xml" Id="R5da650abf86e4a5a" /><Relationship Type="http://schemas.openxmlformats.org/officeDocument/2006/relationships/presProps" Target="/ppt/presProps.xml" Id="R67f30c45b4b44e9f" /><Relationship Type="http://schemas.openxmlformats.org/officeDocument/2006/relationships/tableStyles" Target="/ppt/tableStyles.xml" Id="R37c1ea1e559043a5" /><Relationship Type="http://schemas.openxmlformats.org/officeDocument/2006/relationships/slide" Target="/ppt/slides/slide1.xml" Id="R2e5e9ec05f004953" /><Relationship Type="http://schemas.openxmlformats.org/officeDocument/2006/relationships/slide" Target="/ppt/slides/slide2.xml" Id="Ra4f0c7378ed0484f" /><Relationship Type="http://schemas.openxmlformats.org/officeDocument/2006/relationships/slide" Target="/ppt/slides/slide3.xml" Id="R7e7e90d62e2243ac" /><Relationship Type="http://schemas.openxmlformats.org/officeDocument/2006/relationships/slide" Target="/ppt/slides/slide4.xml" Id="R3af169de328c4a95" /><Relationship Type="http://schemas.openxmlformats.org/officeDocument/2006/relationships/slide" Target="/ppt/slides/slide5.xml" Id="R535f3384ced74eab" /><Relationship Type="http://schemas.openxmlformats.org/officeDocument/2006/relationships/slide" Target="/ppt/slides/slide6.xml" Id="R9d1e4b26e8c74732" /><Relationship Type="http://schemas.openxmlformats.org/officeDocument/2006/relationships/slide" Target="/ppt/slides/slide7.xml" Id="Re88faca1392f4c35" /><Relationship Type="http://schemas.openxmlformats.org/officeDocument/2006/relationships/slide" Target="/ppt/slides/slide8.xml" Id="R0537c59f4205435d" /><Relationship Type="http://schemas.openxmlformats.org/officeDocument/2006/relationships/slide" Target="/ppt/slides/slide9.xml" Id="R027bd320668d4fa3" /><Relationship Type="http://schemas.openxmlformats.org/officeDocument/2006/relationships/slide" Target="/ppt/slides/slide10.xml" Id="Rff700a1ce31240e2" /><Relationship Type="http://schemas.openxmlformats.org/officeDocument/2006/relationships/slide" Target="/ppt/slides/slide11.xml" Id="Rb180e5bf67964b9e" /><Relationship Type="http://schemas.openxmlformats.org/officeDocument/2006/relationships/slide" Target="/ppt/slides/slide12.xml" Id="Rdde5aa1c18a9414e" /><Relationship Type="http://schemas.openxmlformats.org/officeDocument/2006/relationships/slide" Target="/ppt/slides/slide13.xml" Id="R28fba4606d5f4928" /><Relationship Type="http://schemas.openxmlformats.org/officeDocument/2006/relationships/slide" Target="/ppt/slides/slide14.xml" Id="R7ebbcee51ae44884" /><Relationship Type="http://schemas.openxmlformats.org/officeDocument/2006/relationships/slide" Target="/ppt/slides/slide15.xml" Id="Rd93fd77cd3974f4f" /><Relationship Type="http://schemas.openxmlformats.org/officeDocument/2006/relationships/slide" Target="/ppt/slides/slide16.xml" Id="R5bd319f8349f4970" /><Relationship Type="http://schemas.openxmlformats.org/officeDocument/2006/relationships/slide" Target="/ppt/slides/slide17.xml" Id="Rb422754eb5844f80" /><Relationship Type="http://schemas.openxmlformats.org/officeDocument/2006/relationships/slide" Target="/ppt/slides/slide18.xml" Id="Re63ffc9b5162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bae03aca1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range Beige Retro">
      <a:dk1>
        <a:srgbClr val="12100E"/>
      </a:dk1>
      <a:lt1>
        <a:srgbClr val="FFF9ED"/>
      </a:lt1>
      <a:dk2>
        <a:srgbClr val="3A2B2B"/>
      </a:dk2>
      <a:lt2>
        <a:srgbClr val="F2EBD3"/>
      </a:lt2>
      <a:accent1>
        <a:srgbClr val="FF6B18"/>
      </a:accent1>
      <a:accent2>
        <a:srgbClr val="AF3F00"/>
      </a:accent2>
      <a:accent3>
        <a:srgbClr val="FBC313"/>
      </a:accent3>
      <a:accent4>
        <a:srgbClr val="F2D9DE"/>
      </a:accent4>
      <a:accent5>
        <a:srgbClr val="EDE4C9"/>
      </a:accent5>
      <a:accent6>
        <a:srgbClr val="715F52"/>
      </a:accent6>
      <a:hlink>
        <a:srgbClr val="FF6B18"/>
      </a:hlink>
      <a:folHlink>
        <a:srgbClr val="AF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nge Beige Re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308ff3662a49d1" /><Relationship Type="http://schemas.openxmlformats.org/officeDocument/2006/relationships/notesMaster" Target="/ppt/notesMasters/notesMaster1.xml" Id="R082e686d107b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a5d462913047c2" /><Relationship Type="http://schemas.openxmlformats.org/officeDocument/2006/relationships/notesMaster" Target="/ppt/notesMasters/notesMaster1.xml" Id="R5da59b04b34346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1d387b0fc440f" /><Relationship Type="http://schemas.openxmlformats.org/officeDocument/2006/relationships/notesMaster" Target="/ppt/notesMasters/notesMaster1.xml" Id="R6f07bd2af07e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a3b252ab6478e" /><Relationship Type="http://schemas.openxmlformats.org/officeDocument/2006/relationships/notesMaster" Target="/ppt/notesMasters/notesMaster1.xml" Id="Rc7f87cfe5a47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379017f314943" /><Relationship Type="http://schemas.openxmlformats.org/officeDocument/2006/relationships/notesMaster" Target="/ppt/notesMasters/notesMaster1.xml" Id="R24368977c96b49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7460c1d6f043fa" /><Relationship Type="http://schemas.openxmlformats.org/officeDocument/2006/relationships/notesMaster" Target="/ppt/notesMasters/notesMaster1.xml" Id="R5d687c876536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b2c5b9cd0e43c6" /><Relationship Type="http://schemas.openxmlformats.org/officeDocument/2006/relationships/notesMaster" Target="/ppt/notesMasters/notesMaster1.xml" Id="Rb94c005219f148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b7dfce8a0f4e88" /><Relationship Type="http://schemas.openxmlformats.org/officeDocument/2006/relationships/notesMaster" Target="/ppt/notesMasters/notesMaster1.xml" Id="R033814f5431743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c5300fcba548e6" /><Relationship Type="http://schemas.openxmlformats.org/officeDocument/2006/relationships/notesMaster" Target="/ppt/notesMasters/notesMaster1.xml" Id="Re06032132bf6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be56dccb3f4e00" /><Relationship Type="http://schemas.openxmlformats.org/officeDocument/2006/relationships/notesMaster" Target="/ppt/notesMasters/notesMaster1.xml" Id="R7196441ccf5d45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4fc59a5ab6439d" /><Relationship Type="http://schemas.openxmlformats.org/officeDocument/2006/relationships/notesMaster" Target="/ppt/notesMasters/notesMaster1.xml" Id="R35562fbfea4b42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e0b898aa8d4990" /><Relationship Type="http://schemas.openxmlformats.org/officeDocument/2006/relationships/notesMaster" Target="/ppt/notesMasters/notesMaster1.xml" Id="R04818c78c66648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234f10b96b475d" /><Relationship Type="http://schemas.openxmlformats.org/officeDocument/2006/relationships/notesMaster" Target="/ppt/notesMasters/notesMaster1.xml" Id="R9532c05059c744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d0a40c31a24ae4" /><Relationship Type="http://schemas.openxmlformats.org/officeDocument/2006/relationships/notesMaster" Target="/ppt/notesMasters/notesMaster1.xml" Id="R15520660612d45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798a48f5c349f7" /><Relationship Type="http://schemas.openxmlformats.org/officeDocument/2006/relationships/notesMaster" Target="/ppt/notesMasters/notesMaster1.xml" Id="R1821e244aa0b49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cf348f3036494b" /><Relationship Type="http://schemas.openxmlformats.org/officeDocument/2006/relationships/notesMaster" Target="/ppt/notesMasters/notesMaster1.xml" Id="R52026ff80a9e44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98754c59764d0e" /><Relationship Type="http://schemas.openxmlformats.org/officeDocument/2006/relationships/notesMaster" Target="/ppt/notesMasters/notesMaster1.xml" Id="R8704984fe3d94f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ee6eb96e7d4e2e" /><Relationship Type="http://schemas.openxmlformats.org/officeDocument/2006/relationships/notesMaster" Target="/ppt/notesMasters/notesMaster1.xml" Id="R97ec0fd0454a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idea: Sentio adapts to both the board and the person sitting behind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/Users/yuza/chess-agent-v2/lib/emotionFusion.ts</a:t>
            </a:r>
          </a:p>
          <a:p xmlns:a="http://schemas.openxmlformats.org/drawingml/2006/main">
            <a:r>
              <a:t>- /Users/yuza/chess-agent-v2/lib/engineProfiles.ts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/Users/yuza/chess-agent-v2/AI_SYSTEM.txt</a:t>
            </a:r>
          </a:p>
          <a:p xmlns:a="http://schemas.openxmlformats.org/drawingml/2006/main">
            <a:r>
              <a:t>- /Users/yuza/chess-agent-v2/package.json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/Users/yuza/chess-agent-v2/app/api/bot-move/route.ts</a:t>
            </a:r>
          </a:p>
          <a:p xmlns:a="http://schemas.openxmlformats.org/drawingml/2006/main">
            <a:r>
              <a:t>- /Users/yuza/chess-agent-v2/app/api/prolog/route.ts</a:t>
            </a:r>
          </a:p>
          <a:p xmlns:a="http://schemas.openxmlformats.org/drawingml/2006/main">
            <a:r>
              <a:t>- /Users/yuza/chess-agent-v2/app/api/coach/route.ts</a:t>
            </a:r>
          </a:p>
          <a:p xmlns:a="http://schemas.openxmlformats.org/drawingml/2006/main">
            <a:r>
              <a:t>- /Users/yuza/chess-agent-v2/app/api/transcribe/route.ts</a:t>
            </a:r>
          </a:p>
          <a:p xmlns:a="http://schemas.openxmlformats.org/drawingml/2006/main">
            <a:r>
              <a:t>- /Users/yuza/chess-agent-v2/backend/main.py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/Users/yuza/chess-agent-v2/hooks/useEmotionDetection.ts</a:t>
            </a:r>
          </a:p>
          <a:p xmlns:a="http://schemas.openxmlformats.org/drawingml/2006/main">
            <a:r>
              <a:t>- /Users/yuza/chess-agent-v2/lib/emotionFusion.ts</a:t>
            </a:r>
          </a:p>
          <a:p xmlns:a="http://schemas.openxmlformats.org/drawingml/2006/main">
            <a:r>
              <a:t>- /Users/yuza/chess-agent-v2/lib/blendshapeEmotion.ts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- /Users/yuza/chess-agent-v2/lib/engineProfiles.ts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- /Users/yuza/chess-agent-v2/components/LogicianPanel.tsx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/Users/yuza/chess-agent-v2/backend/main.py</a:t>
            </a:r>
          </a:p>
          <a:p xmlns:a="http://schemas.openxmlformats.org/drawingml/2006/main">
            <a:r>
              <a:t>- /Users/yuza/chess-agent-v2/app/api/prolog/route.ts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/Users/yuza/chess-agent-v2/backend/main.py</a:t>
            </a:r>
          </a:p>
          <a:p xmlns:a="http://schemas.openxmlformats.org/drawingml/2006/main">
            <a:r>
              <a:t>- /Users/yuza/chess-agent-v2/app/api/coach/route.ts</a:t>
            </a:r>
          </a:p>
          <a:p xmlns:a="http://schemas.openxmlformats.org/drawingml/2006/main">
            <a:r>
              <a:t>- /Users/yuza/chess-agent-v2/prolog/ai_system.pl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/Users/yuza/chess-agent-v2/components/AILabWorkspace.tsx</a:t>
            </a:r>
          </a:p>
          <a:p xmlns:a="http://schemas.openxmlformats.org/drawingml/2006/main">
            <a:r>
              <a:t>- /Users/yuza/chess-agent-v2/components/AIAnalysisTab.tsx</a:t>
            </a:r>
          </a:p>
          <a:p xmlns:a="http://schemas.openxmlformats.org/drawingml/2006/main">
            <a:r>
              <a:t>- /Users/yuza/chess-agent-v2/components/AgentsGraph3D.tsx</a:t>
            </a:r>
          </a:p>
          <a:p xmlns:a="http://schemas.openxmlformats.org/drawingml/2006/main">
            <a:r>
              <a:t>- /Users/yuza/chess-agent-v2/app/page.tsx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/Users/yuza/chess-agent-v2/benchmarks/search-benchmark.json</a:t>
            </a:r>
          </a:p>
          <a:p xmlns:a="http://schemas.openxmlformats.org/drawingml/2006/main">
            <a:r>
              <a:t>- /Users/yuza/chess-agent-v2/components/BenchmarkTab.tsx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/Users/yuza/chess-agent-v2/app/api/coach/route.ts</a:t>
            </a:r>
          </a:p>
          <a:p xmlns:a="http://schemas.openxmlformats.org/drawingml/2006/main">
            <a:r>
              <a:t>- /Users/yuza/chess-agent-v2/app/api/transcribe/route.ts</a:t>
            </a:r>
          </a:p>
          <a:p xmlns:a="http://schemas.openxmlformats.org/drawingml/2006/main">
            <a:r>
              <a:t>- /Users/yuza/chess-agent-v2/components/VoiceCoachControl.tsx</a:t>
            </a:r>
          </a:p>
          <a:p xmlns:a="http://schemas.openxmlformats.org/drawingml/2006/main">
            <a:r>
              <a:t>- /Users/yuza/chess-agent-v2/lib/speechParser.ts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/Users/yuza/chess-agent-v2/app/page.tsx</a:t>
            </a:r>
          </a:p>
          <a:p xmlns:a="http://schemas.openxmlformats.org/drawingml/2006/main">
            <a:r>
              <a:t>- /Users/yuza/chess-agent-v2/components/BoardWorkspace.tsx</a:t>
            </a:r>
          </a:p>
          <a:p xmlns:a="http://schemas.openxmlformats.org/drawingml/2006/main">
            <a:r>
              <a:t>- /Users/yuza/chess-agent-v2/components/AILabWorkspace.tsx</a:t>
            </a:r>
          </a:p>
          <a:p xmlns:a="http://schemas.openxmlformats.org/drawingml/2006/main">
            <a:r>
              <a:t>- /Users/yuza/chess-agent-v2/components/TopBar.tsx</a:t>
            </a:r>
          </a:p>
          <a:p xmlns:a="http://schemas.openxmlformats.org/drawingml/2006/main">
            <a:r>
              <a:t>- /Users/yuza/chess-agent-v2/components/ControllerPanel.tsx</a:t>
            </a:r>
          </a:p>
          <a:p xmlns:a="http://schemas.openxmlformats.org/drawingml/2006/main">
            <a:r>
              <a:t>- /Users/yuza/chess-agent-v2/hooks/useSidebarPreferences.ts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/Users/yuza/chess-agent-v2/components/train/TrainingWorkspace.tsx</a:t>
            </a:r>
          </a:p>
          <a:p xmlns:a="http://schemas.openxmlformats.org/drawingml/2006/main">
            <a:r>
              <a:t>- /Users/yuza/chess-agent-v2/components/train/PuzzleRush.tsx</a:t>
            </a:r>
          </a:p>
          <a:p xmlns:a="http://schemas.openxmlformats.org/drawingml/2006/main">
            <a:r>
              <a:t>- /Users/yuza/chess-agent-v2/components/train/LearnPositions.tsx</a:t>
            </a:r>
          </a:p>
          <a:p xmlns:a="http://schemas.openxmlformats.org/drawingml/2006/main">
            <a:r>
              <a:t>- /Users/yuza/chess-agent-v2/components/train/ProgressView.tsx</a:t>
            </a:r>
          </a:p>
          <a:p xmlns:a="http://schemas.openxmlformats.org/drawingml/2006/main">
            <a:r>
              <a:t>- /Users/yuza/chess-agent-v2/lib/puzzleProgress.ts</a:t>
            </a:r>
          </a:p>
          <a:p xmlns:a="http://schemas.openxmlformats.org/drawingml/2006/main">
            <a:r>
              <a:t>- /Users/yuza/chess-agent-v2/lib/gameAnalysis.ts</a:t>
            </a:r>
          </a:p>
          <a:p xmlns:a="http://schemas.openxmlformats.org/drawingml/2006/main">
            <a:r>
              <a:t>- /Users/yuza/chess-agent-v2/lib/lessons.ts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Verification: npm run test passed 15 files and 145 tests on 2026-08-29.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/Users/yuza/chess-agent-v2/backend/main.py</a:t>
            </a:r>
          </a:p>
          <a:p xmlns:a="http://schemas.openxmlformats.org/drawingml/2006/main">
            <a:r>
              <a:t>- /Users/yuza/chess-agent-v2/components/LogicianPanel.tsx</a:t>
            </a:r>
          </a:p>
          <a:p xmlns:a="http://schemas.openxmlformats.org/drawingml/2006/main">
            <a:r>
              <a:t>- /Users/yuza/chess-agent-v2/app/api/coach/route.ts</a:t>
            </a:r>
          </a:p>
          <a:p xmlns:a="http://schemas.openxmlformats.org/drawingml/2006/main">
            <a:r>
              <a:t>- /Users/yuza/chess-agent-v2/package.json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thesis: trustworthy AI is a coordinated system of models, rules, state, safeguards, and learning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/Users/yuza/Downloads/Orange Beige Retro Illustration Night Chess Presentation.pdf (visual template and all decorative assets)</a:t>
            </a:r>
          </a:p>
          <a:p xmlns:a="http://schemas.openxmlformats.org/drawingml/2006/main">
            <a:r>
              <a:t>- /Users/yuza/Downloads/Sentio_AI_Features_Prolog_Light_Ember (1).pptx</a:t>
            </a:r>
          </a:p>
          <a:p xmlns:a="http://schemas.openxmlformats.org/drawingml/2006/main">
            <a:r>
              <a:t>- /Users/yuza/chess-agent-v2/prolog/ai_system.pl</a:t>
            </a:r>
          </a:p>
          <a:p xmlns:a="http://schemas.openxmlformats.org/drawingml/2006/main">
            <a:r>
              <a:t>- /Users/yuza/chess-agent-v2/components/train/TrainingWorkspace.tsx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421d7604b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57bdcc7de4ba0" /><Relationship Type="http://schemas.openxmlformats.org/officeDocument/2006/relationships/slideLayout" Target="/ppt/slideLayouts/slideLayout1.xml" Id="Rc3cc89cf807f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c89cf807f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range Beige Retro">
      <a:dk1>
        <a:srgbClr val="12100E"/>
      </a:dk1>
      <a:lt1>
        <a:srgbClr val="FFF9ED"/>
      </a:lt1>
      <a:dk2>
        <a:srgbClr val="3A2B2B"/>
      </a:dk2>
      <a:lt2>
        <a:srgbClr val="F2EBD3"/>
      </a:lt2>
      <a:accent1>
        <a:srgbClr val="FF6B18"/>
      </a:accent1>
      <a:accent2>
        <a:srgbClr val="AF3F00"/>
      </a:accent2>
      <a:accent3>
        <a:srgbClr val="FBC313"/>
      </a:accent3>
      <a:accent4>
        <a:srgbClr val="F2D9DE"/>
      </a:accent4>
      <a:accent5>
        <a:srgbClr val="EDE4C9"/>
      </a:accent5>
      <a:accent6>
        <a:srgbClr val="715F52"/>
      </a:accent6>
      <a:hlink>
        <a:srgbClr val="FF6B18"/>
      </a:hlink>
      <a:folHlink>
        <a:srgbClr val="AF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nge Beige Re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f9dd8a2f04bee" /><Relationship Type="http://schemas.openxmlformats.org/officeDocument/2006/relationships/image" Target="/ppt/media/image.png" Id="R9b3b06d2f3f54a12" /><Relationship Type="http://schemas.openxmlformats.org/officeDocument/2006/relationships/notesSlide" Target="/ppt/notesSlides/notesSlide1.xml" Id="Rf138411fa639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0018b27d24db6" /><Relationship Type="http://schemas.openxmlformats.org/officeDocument/2006/relationships/notesSlide" Target="/ppt/notesSlides/notesSlide2.xml" Id="R63833204ed1b47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1ab487c324346" /><Relationship Type="http://schemas.openxmlformats.org/officeDocument/2006/relationships/image" Target="/ppt/media/image2.png" Id="R51ee08a786774471" /><Relationship Type="http://schemas.openxmlformats.org/officeDocument/2006/relationships/notesSlide" Target="/ppt/notesSlides/notesSlide3.xml" Id="Rbc556c2a1907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91611349c422d" /><Relationship Type="http://schemas.openxmlformats.org/officeDocument/2006/relationships/notesSlide" Target="/ppt/notesSlides/notesSlide4.xml" Id="R40b166721b5e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470cdc6d74585" /><Relationship Type="http://schemas.openxmlformats.org/officeDocument/2006/relationships/image" Target="/ppt/media/image3.png" Id="Rd24ca69ad09648f3" /><Relationship Type="http://schemas.openxmlformats.org/officeDocument/2006/relationships/notesSlide" Target="/ppt/notesSlides/notesSlide5.xml" Id="R4ec37b4016eb46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b52591c094417" /><Relationship Type="http://schemas.openxmlformats.org/officeDocument/2006/relationships/image" Target="/ppt/media/image4.png" Id="Rdff3ec80679a4822" /><Relationship Type="http://schemas.openxmlformats.org/officeDocument/2006/relationships/notesSlide" Target="/ppt/notesSlides/notesSlide6.xml" Id="R7c1e888f1d34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0c1a4394e4264" /><Relationship Type="http://schemas.openxmlformats.org/officeDocument/2006/relationships/image" Target="/ppt/media/image5.png" Id="R65f8a22b41dc409c" /><Relationship Type="http://schemas.openxmlformats.org/officeDocument/2006/relationships/image" Target="/ppt/media/image6.png" Id="Rc80f99b189ea45bb" /><Relationship Type="http://schemas.openxmlformats.org/officeDocument/2006/relationships/notesSlide" Target="/ppt/notesSlides/notesSlide7.xml" Id="Refb6810e5f604d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42059d7040a9" /><Relationship Type="http://schemas.openxmlformats.org/officeDocument/2006/relationships/notesSlide" Target="/ppt/notesSlides/notesSlide8.xml" Id="R5e7d5dd133fa42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3d5135b3f4cfc" /><Relationship Type="http://schemas.openxmlformats.org/officeDocument/2006/relationships/notesSlide" Target="/ppt/notesSlides/notesSlide9.xml" Id="Re2747104dddd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2173d1653430c" /><Relationship Type="http://schemas.openxmlformats.org/officeDocument/2006/relationships/notesSlide" Target="/ppt/notesSlides/notesSlide10.xml" Id="R0cd230c45af845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02960bc304d83" /><Relationship Type="http://schemas.openxmlformats.org/officeDocument/2006/relationships/notesSlide" Target="/ppt/notesSlides/notesSlide11.xml" Id="Rcdb5f8d9985948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ce8cb9f794768" /><Relationship Type="http://schemas.openxmlformats.org/officeDocument/2006/relationships/image" Target="/ppt/media/image7.png" Id="R4aef7649fdeb4c1a" /><Relationship Type="http://schemas.openxmlformats.org/officeDocument/2006/relationships/notesSlide" Target="/ppt/notesSlides/notesSlide12.xml" Id="R62b68ea526e540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144f7a8d74561" /><Relationship Type="http://schemas.openxmlformats.org/officeDocument/2006/relationships/notesSlide" Target="/ppt/notesSlides/notesSlide13.xml" Id="R4422c5cee97f42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85d9bbe9a4fcd" /><Relationship Type="http://schemas.openxmlformats.org/officeDocument/2006/relationships/notesSlide" Target="/ppt/notesSlides/notesSlide14.xml" Id="R7f73ab4b0c3046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8384a9bd4fee" /><Relationship Type="http://schemas.openxmlformats.org/officeDocument/2006/relationships/image" Target="/ppt/media/image8.png" Id="R287f51b5c88844e3" /><Relationship Type="http://schemas.openxmlformats.org/officeDocument/2006/relationships/notesSlide" Target="/ppt/notesSlides/notesSlide15.xml" Id="Rfbdd9ecdfc4244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2d6c4c86f4779" /><Relationship Type="http://schemas.openxmlformats.org/officeDocument/2006/relationships/notesSlide" Target="/ppt/notesSlides/notesSlide16.xml" Id="Rfadc53f8188d41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3e50d0bff4f2f" /><Relationship Type="http://schemas.openxmlformats.org/officeDocument/2006/relationships/notesSlide" Target="/ppt/notesSlides/notesSlide17.xml" Id="Rb19eba13c61c4a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3b6bad9d1417d" /><Relationship Type="http://schemas.openxmlformats.org/officeDocument/2006/relationships/image" Target="/ppt/media/image9.png" Id="R955ef7fcfcc34382" /><Relationship Type="http://schemas.openxmlformats.org/officeDocument/2006/relationships/notesSlide" Target="/ppt/notesSlides/notesSlide18.xml" Id="R36a2ed306c9b41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ripe-0">
            <a:extLst xmlns:a="http://schemas.openxmlformats.org/drawingml/2006/main">
              <a:ext uri="{FF2B5EF4-FFF2-40B4-BE49-F238E27FC236}">
                <a16:creationId xmlns:a16="http://schemas.microsoft.com/office/drawing/2014/main" id="{92553CA1-DD9E-4C23-8944-6582055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48E25E16-C5E9-45E3-BE8A-B7E90652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6EB6714E-FE2A-4A88-B1BC-F70B3A1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1CCFDB52-0966-4EF5-9541-C99CE6D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B7C6B1FD-0627-46A2-9013-DC5A61E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3998AE33-6DAA-41A2-B6CF-A6609F8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2176C8C6-555D-4E7B-81E6-DC7B456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54D929C6-E71C-4C98-88A8-E9821C0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FE50C00B-C033-4042-BE29-C28A4FA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ipe-9">
            <a:extLst xmlns:a="http://schemas.openxmlformats.org/drawingml/2006/main">
              <a:ext uri="{FF2B5EF4-FFF2-40B4-BE49-F238E27FC236}">
                <a16:creationId xmlns:a16="http://schemas.microsoft.com/office/drawing/2014/main" id="{833A5F73-AADC-41F7-A896-7C54F0D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ntio-shadow">
            <a:extLst xmlns:a="http://schemas.openxmlformats.org/drawingml/2006/main">
              <a:ext uri="{FF2B5EF4-FFF2-40B4-BE49-F238E27FC236}">
                <a16:creationId xmlns:a16="http://schemas.microsoft.com/office/drawing/2014/main" id="{FBAB37DA-42CB-407A-BD17-B8C3CB3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76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76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SENTIO</a:t>
            </a:r>
          </a:p>
        </p:txBody>
      </p:sp>
      <p:sp>
        <p:nvSpPr>
          <p:cNvPr id="12" name="sentio">
            <a:extLst xmlns:a="http://schemas.openxmlformats.org/drawingml/2006/main">
              <a:ext uri="{FF2B5EF4-FFF2-40B4-BE49-F238E27FC236}">
                <a16:creationId xmlns:a16="http://schemas.microsoft.com/office/drawing/2014/main" id="{29FDC28B-3679-438E-BA34-5B3A78E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76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76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SENTIO</a:t>
            </a:r>
          </a:p>
        </p:txBody>
      </p:sp>
      <p:sp>
        <p:nvSpPr>
          <p:cNvPr id="13" name="strap">
            <a:extLst xmlns:a="http://schemas.openxmlformats.org/drawingml/2006/main">
              <a:ext uri="{FF2B5EF4-FFF2-40B4-BE49-F238E27FC236}">
                <a16:creationId xmlns:a16="http://schemas.microsoft.com/office/drawing/2014/main" id="{27C59843-66EA-4B0C-A3E8-47B0E23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3450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Chess that reads the player</a:t>
            </a:r>
          </a:p>
        </p:txBody>
      </p:sp>
      <p:sp>
        <p:nvSpPr>
          <p:cNvPr id="14" name="subtitle">
            <a:extLst xmlns:a="http://schemas.openxmlformats.org/drawingml/2006/main">
              <a:ext uri="{FF2B5EF4-FFF2-40B4-BE49-F238E27FC236}">
                <a16:creationId xmlns:a16="http://schemas.microsoft.com/office/drawing/2014/main" id="{0C6B2F97-5C1F-4E2E-ABAC-2563A9A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Emotion-adaptive chess intelligence powered by search, symbolic Prolog reasoning, language, voice, and a new learning loop.</a:t>
            </a:r>
          </a:p>
        </p:txBody>
      </p:sp>
      <p:sp>
        <p:nvSpPr>
          <p:cNvPr id="15" name="spotlight">
            <a:extLst xmlns:a="http://schemas.openxmlformats.org/drawingml/2006/main">
              <a:ext uri="{FF2B5EF4-FFF2-40B4-BE49-F238E27FC236}">
                <a16:creationId xmlns:a16="http://schemas.microsoft.com/office/drawing/2014/main" id="{32F55030-E7B6-468F-B3FD-75FA8A2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8100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16" name="spotlight-text">
            <a:extLst xmlns:a="http://schemas.openxmlformats.org/drawingml/2006/main">
              <a:ext uri="{FF2B5EF4-FFF2-40B4-BE49-F238E27FC236}">
                <a16:creationId xmlns:a16="http://schemas.microsoft.com/office/drawing/2014/main" id="{5E0F5702-CD1B-425F-9505-D52712A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4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PROLOG SPOTLIGHT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4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POSITION -&gt; FACTS -&gt; PRIORITIZED ADVICE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b06d2f3f54a12"/>
          <a:stretch xmlns:a="http://schemas.openxmlformats.org/drawingml/2006/main"/>
        </p:blipFill>
        <p:spPr>
          <a:xfrm xmlns:a="http://schemas.openxmlformats.org/drawingml/2006/main">
            <a:off x="7524750" y="727587"/>
            <a:ext cx="4286250" cy="5364726"/>
          </a:xfrm>
          <a:prstGeom xmlns:a="http://schemas.openxmlformats.org/drawingml/2006/main" prst="rect">
            <a:avLst/>
          </a:prstGeom>
        </p:spPr>
      </p:pic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CA02345-60A8-4424-A31C-D46578DF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AI FEATURES + CURRENT PROJECT UPDATE / 2026</a:t>
            </a:r>
          </a:p>
        </p:txBody>
      </p:sp>
    </p:spTree>
    <p:extLst>
      <p:ext uri="{BB962C8B-B14F-4D97-AF65-F5344CB8AC3E}">
        <p14:creationId xmlns:p14="http://schemas.microsoft.com/office/powerpoint/2010/main" val="243687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tripe-0">
            <a:extLst xmlns:a="http://schemas.openxmlformats.org/drawingml/2006/main">
              <a:ext uri="{FF2B5EF4-FFF2-40B4-BE49-F238E27FC236}">
                <a16:creationId xmlns:a16="http://schemas.microsoft.com/office/drawing/2014/main" id="{40ACD18C-40DF-436E-AA71-889F0B21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E856BEF7-4838-4A09-90A8-2B874F6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A881BF9A-ADAA-428E-9228-CF28CA7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F789054A-4790-4882-8B64-634AF3FF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EAC700BB-CB82-48DA-9350-6FA97C92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1055B90C-6179-44A0-AC70-939AADB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F952351B-96FA-45E7-A4B6-4551B07C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F4A27EE0-15E1-44D3-8498-412433C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9A2BF039-69E3-4F07-A557-A42FE3BF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0FABEDA1-C1A9-4B7D-B3A6-DCA154C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AI SYSTEM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A14257-CF3A-4399-9F93-ED4D524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02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9B316245-1F08-4092-8490-AB6CA7B2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THE OPPONENT ADAPTS TO THE HUMAN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70BC2DC-9D38-4BDB-8F65-F254CEB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THE OPPONENT ADAPTS TO THE HUMAN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A1B1E79B-4BD5-4410-B11A-9E2E368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A different way to play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586D38-F4F5-4F87-85E7-4EE97EA8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0-card">
            <a:extLst xmlns:a="http://schemas.openxmlformats.org/drawingml/2006/main">
              <a:ext uri="{FF2B5EF4-FFF2-40B4-BE49-F238E27FC236}">
                <a16:creationId xmlns:a16="http://schemas.microsoft.com/office/drawing/2014/main" id="{7FAB4598-0EBB-46B0-80F5-E6CA282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476500" cy="2619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stage-0-heading">
            <a:extLst xmlns:a="http://schemas.openxmlformats.org/drawingml/2006/main">
              <a:ext uri="{FF2B5EF4-FFF2-40B4-BE49-F238E27FC236}">
                <a16:creationId xmlns:a16="http://schemas.microsoft.com/office/drawing/2014/main" id="{E54FD77A-078C-408D-821E-6D360706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OBSERVE</a:t>
            </a:r>
          </a:p>
        </p:txBody>
      </p:sp>
      <p:sp>
        <p:nvSpPr>
          <p:cNvPr id="18" name="stage-0-body">
            <a:extLst xmlns:a="http://schemas.openxmlformats.org/drawingml/2006/main">
              <a:ext uri="{FF2B5EF4-FFF2-40B4-BE49-F238E27FC236}">
                <a16:creationId xmlns:a16="http://schemas.microsoft.com/office/drawing/2014/main" id="{329E3E08-673A-4A08-8C67-D0AF8B03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1336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Face blendshapes + game telemetry</a:t>
            </a:r>
          </a:p>
        </p:txBody>
      </p:sp>
      <p:sp>
        <p:nvSpPr>
          <p:cNvPr id="19" name="stage-num-0">
            <a:extLst xmlns:a="http://schemas.openxmlformats.org/drawingml/2006/main">
              <a:ext uri="{FF2B5EF4-FFF2-40B4-BE49-F238E27FC236}">
                <a16:creationId xmlns:a16="http://schemas.microsoft.com/office/drawing/2014/main" id="{54B72DE2-4A31-4111-A5A2-8479E72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01</a:t>
            </a:r>
          </a:p>
        </p:txBody>
      </p:sp>
      <p:sp>
        <p:nvSpPr>
          <p:cNvPr id="20" name="stage-1-card">
            <a:extLst xmlns:a="http://schemas.openxmlformats.org/drawingml/2006/main">
              <a:ext uri="{FF2B5EF4-FFF2-40B4-BE49-F238E27FC236}">
                <a16:creationId xmlns:a16="http://schemas.microsoft.com/office/drawing/2014/main" id="{85C111CA-0787-4B1F-8BB0-FD7CEDF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476500" cy="2619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1" name="stage-1-heading">
            <a:extLst xmlns:a="http://schemas.openxmlformats.org/drawingml/2006/main">
              <a:ext uri="{FF2B5EF4-FFF2-40B4-BE49-F238E27FC236}">
                <a16:creationId xmlns:a16="http://schemas.microsoft.com/office/drawing/2014/main" id="{91C2D918-0474-4269-A182-5DA2247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INTERPRET</a:t>
            </a:r>
          </a:p>
        </p:txBody>
      </p:sp>
      <p:sp>
        <p:nvSpPr>
          <p:cNvPr id="22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0085ACFD-6350-438C-818C-3CA2BE06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21336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Six game-relevant emotion states</a:t>
            </a:r>
          </a:p>
        </p:txBody>
      </p:sp>
      <p:sp>
        <p:nvSpPr>
          <p:cNvPr id="23" name="stage-num-1">
            <a:extLst xmlns:a="http://schemas.openxmlformats.org/drawingml/2006/main">
              <a:ext uri="{FF2B5EF4-FFF2-40B4-BE49-F238E27FC236}">
                <a16:creationId xmlns:a16="http://schemas.microsoft.com/office/drawing/2014/main" id="{E24440CA-9D4B-4508-B9F5-850966A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02</a:t>
            </a:r>
          </a:p>
        </p:txBody>
      </p:sp>
      <p:sp>
        <p:nvSpPr>
          <p:cNvPr id="24" name="stage-2-card">
            <a:extLst xmlns:a="http://schemas.openxmlformats.org/drawingml/2006/main">
              <a:ext uri="{FF2B5EF4-FFF2-40B4-BE49-F238E27FC236}">
                <a16:creationId xmlns:a16="http://schemas.microsoft.com/office/drawing/2014/main" id="{1CEE5873-EAC4-483F-85B6-61EA06E9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476500" cy="2619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5" name="stage-2-heading">
            <a:extLst xmlns:a="http://schemas.openxmlformats.org/drawingml/2006/main">
              <a:ext uri="{FF2B5EF4-FFF2-40B4-BE49-F238E27FC236}">
                <a16:creationId xmlns:a16="http://schemas.microsoft.com/office/drawing/2014/main" id="{06CCE53D-4A61-4BAD-AB0D-F2374EC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ADAPT</a:t>
            </a:r>
          </a:p>
        </p:txBody>
      </p:sp>
      <p:sp>
        <p:nvSpPr>
          <p:cNvPr id="26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30164070-D589-44F6-B290-69EDD22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21336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Depth, skill level, and ELO</a:t>
            </a:r>
          </a:p>
        </p:txBody>
      </p:sp>
      <p:sp>
        <p:nvSpPr>
          <p:cNvPr id="27" name="stage-num-2">
            <a:extLst xmlns:a="http://schemas.openxmlformats.org/drawingml/2006/main">
              <a:ext uri="{FF2B5EF4-FFF2-40B4-BE49-F238E27FC236}">
                <a16:creationId xmlns:a16="http://schemas.microsoft.com/office/drawing/2014/main" id="{55B62DDF-9552-49EA-BB93-104ACA98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03</a:t>
            </a:r>
          </a:p>
        </p:txBody>
      </p:sp>
      <p:sp>
        <p:nvSpPr>
          <p:cNvPr id="28" name="stage-3-card">
            <a:extLst xmlns:a="http://schemas.openxmlformats.org/drawingml/2006/main">
              <a:ext uri="{FF2B5EF4-FFF2-40B4-BE49-F238E27FC236}">
                <a16:creationId xmlns:a16="http://schemas.microsoft.com/office/drawing/2014/main" id="{99098306-701B-478D-9EB2-41E22B2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476500" cy="2619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9" name="stage-3-heading">
            <a:extLst xmlns:a="http://schemas.openxmlformats.org/drawingml/2006/main">
              <a:ext uri="{FF2B5EF4-FFF2-40B4-BE49-F238E27FC236}">
                <a16:creationId xmlns:a16="http://schemas.microsoft.com/office/drawing/2014/main" id="{0653CFC5-AF71-43BD-A172-A3E92C8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EXPLAIN</a:t>
            </a:r>
          </a:p>
        </p:txBody>
      </p:sp>
      <p:sp>
        <p:nvSpPr>
          <p:cNvPr id="30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E0447127-FF1C-4BFC-AC67-7B262EA4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38450"/>
            <a:ext cx="21336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Coach language + Prolog advice</a:t>
            </a:r>
          </a:p>
        </p:txBody>
      </p:sp>
      <p:sp>
        <p:nvSpPr>
          <p:cNvPr id="31" name="stage-num-3">
            <a:extLst xmlns:a="http://schemas.openxmlformats.org/drawingml/2006/main">
              <a:ext uri="{FF2B5EF4-FFF2-40B4-BE49-F238E27FC236}">
                <a16:creationId xmlns:a16="http://schemas.microsoft.com/office/drawing/2014/main" id="{F6E06EC9-72C0-4C9E-92C0-18F64DD6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478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0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04</a:t>
            </a:r>
          </a:p>
        </p:txBody>
      </p:sp>
      <p:sp>
        <p:nvSpPr>
          <p:cNvPr id="32" name="goal">
            <a:extLst xmlns:a="http://schemas.openxmlformats.org/drawingml/2006/main">
              <a:ext uri="{FF2B5EF4-FFF2-40B4-BE49-F238E27FC236}">
                <a16:creationId xmlns:a16="http://schemas.microsoft.com/office/drawing/2014/main" id="{386D3C8C-5BCD-4624-A101-7CFC2D9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GOAL: sustain flow - reduce friction when the player struggles and raise the challenge when confidence grows.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9D4FF82D-2FCE-4FCC-9FAC-80FC31D1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THE BOARD CHANGES. THE CHALLENGE AND COMMUNICATION CHANGE WITH IT.</a:t>
            </a:r>
          </a:p>
        </p:txBody>
      </p:sp>
    </p:spTree>
    <p:extLst>
      <p:ext uri="{BB962C8B-B14F-4D97-AF65-F5344CB8AC3E}">
        <p14:creationId xmlns:p14="http://schemas.microsoft.com/office/powerpoint/2010/main" val="430480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tripe-0">
            <a:extLst xmlns:a="http://schemas.openxmlformats.org/drawingml/2006/main">
              <a:ext uri="{FF2B5EF4-FFF2-40B4-BE49-F238E27FC236}">
                <a16:creationId xmlns:a16="http://schemas.microsoft.com/office/drawing/2014/main" id="{A4850F31-E933-4576-9E58-7FEB60B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0B4F1BB3-77B2-49C0-85F2-A2A287F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8A6DE48D-0D5F-45A5-9314-DD83097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9E1C7604-61B7-4F22-99D7-823F6D92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3C0494D5-4095-44E2-8DC1-2A04040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C18CA42C-6C9C-4BAD-B3BB-8D148B2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26B5D5D8-B4F5-46BA-8469-C6FDA988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76564811-2719-41CA-BA49-C756C9B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42ED14F5-37AD-413E-95E8-20F82A3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EE230BC8-E013-4C91-B3F6-790DFB5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ARCHITECTURE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41D41F-387F-4037-BAAF-9F89DD3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03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1B3F6049-30D1-4F4F-9953-A84DD3C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FIVE INTELLIGENCE LAYERS COOPERATE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B7B4B1C-3DB0-4016-A9E5-747542A9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FIVE INTELLIGENCE LAYERS COOPERATE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B9721082-632D-44FB-B1CD-E39A69E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One experience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FF2BD8-11F1-4639-A2AD-732E3F1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yer-bar-0">
            <a:extLst xmlns:a="http://schemas.openxmlformats.org/drawingml/2006/main">
              <a:ext uri="{FF2B5EF4-FFF2-40B4-BE49-F238E27FC236}">
                <a16:creationId xmlns:a16="http://schemas.microsoft.com/office/drawing/2014/main" id="{10FD7BE7-D3BA-4ED0-B850-602AEEE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ayer-0-name">
            <a:extLst xmlns:a="http://schemas.openxmlformats.org/drawingml/2006/main">
              <a:ext uri="{FF2B5EF4-FFF2-40B4-BE49-F238E27FC236}">
                <a16:creationId xmlns:a16="http://schemas.microsoft.com/office/drawing/2014/main" id="{50000253-1E9A-4717-8D40-7CB211C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PERCEPTION</a:t>
            </a:r>
          </a:p>
        </p:txBody>
      </p:sp>
      <p:sp>
        <p:nvSpPr>
          <p:cNvPr id="18" name="layer-0-tech">
            <a:extLst xmlns:a="http://schemas.openxmlformats.org/drawingml/2006/main">
              <a:ext uri="{FF2B5EF4-FFF2-40B4-BE49-F238E27FC236}">
                <a16:creationId xmlns:a16="http://schemas.microsoft.com/office/drawing/2014/main" id="{2B1E565F-4A64-4AB5-B84B-AE8CD2F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MediaPipe + face models</a:t>
            </a:r>
          </a:p>
        </p:txBody>
      </p:sp>
      <p:sp>
        <p:nvSpPr>
          <p:cNvPr id="19" name="layer-0-meaning">
            <a:extLst xmlns:a="http://schemas.openxmlformats.org/drawingml/2006/main">
              <a:ext uri="{FF2B5EF4-FFF2-40B4-BE49-F238E27FC236}">
                <a16:creationId xmlns:a16="http://schemas.microsoft.com/office/drawing/2014/main" id="{36B4C59C-3C6D-4E86-BC64-6DE63C01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764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valence, arousal, expressions</a:t>
            </a:r>
          </a:p>
        </p:txBody>
      </p:sp>
      <p:sp>
        <p:nvSpPr>
          <p:cNvPr id="20" name="layer-bar-1">
            <a:extLst xmlns:a="http://schemas.openxmlformats.org/drawingml/2006/main">
              <a:ext uri="{FF2B5EF4-FFF2-40B4-BE49-F238E27FC236}">
                <a16:creationId xmlns:a16="http://schemas.microsoft.com/office/drawing/2014/main" id="{0B66CA5B-E50C-4FE4-A083-AF93ABE0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yer-1-name">
            <a:extLst xmlns:a="http://schemas.openxmlformats.org/drawingml/2006/main">
              <a:ext uri="{FF2B5EF4-FFF2-40B4-BE49-F238E27FC236}">
                <a16:creationId xmlns:a16="http://schemas.microsoft.com/office/drawing/2014/main" id="{264FEC8D-E03C-4573-B207-A401EFA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ADAPTATION</a:t>
            </a:r>
          </a:p>
        </p:txBody>
      </p:sp>
      <p:sp>
        <p:nvSpPr>
          <p:cNvPr id="22" name="layer-1-tech">
            <a:extLst xmlns:a="http://schemas.openxmlformats.org/drawingml/2006/main">
              <a:ext uri="{FF2B5EF4-FFF2-40B4-BE49-F238E27FC236}">
                <a16:creationId xmlns:a16="http://schemas.microsoft.com/office/drawing/2014/main" id="{60BA74AB-5E9D-4447-8160-7E63366B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Emotion fusion</a:t>
            </a:r>
          </a:p>
        </p:txBody>
      </p:sp>
      <p:sp>
        <p:nvSpPr>
          <p:cNvPr id="23" name="layer-1-meaning">
            <a:extLst xmlns:a="http://schemas.openxmlformats.org/drawingml/2006/main">
              <a:ext uri="{FF2B5EF4-FFF2-40B4-BE49-F238E27FC236}">
                <a16:creationId xmlns:a16="http://schemas.microsoft.com/office/drawing/2014/main" id="{F655538F-5848-4616-9C44-A0C44702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95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player state -&gt; engine profile</a:t>
            </a:r>
          </a:p>
        </p:txBody>
      </p:sp>
      <p:sp>
        <p:nvSpPr>
          <p:cNvPr id="24" name="layer-bar-2">
            <a:extLst xmlns:a="http://schemas.openxmlformats.org/drawingml/2006/main">
              <a:ext uri="{FF2B5EF4-FFF2-40B4-BE49-F238E27FC236}">
                <a16:creationId xmlns:a16="http://schemas.microsoft.com/office/drawing/2014/main" id="{C4DD1296-6597-4979-98F6-0FDB405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ayer-2-name">
            <a:extLst xmlns:a="http://schemas.openxmlformats.org/drawingml/2006/main">
              <a:ext uri="{FF2B5EF4-FFF2-40B4-BE49-F238E27FC236}">
                <a16:creationId xmlns:a16="http://schemas.microsoft.com/office/drawing/2014/main" id="{0B343874-BDB6-40CC-8F05-558553A4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SEARCH</a:t>
            </a:r>
          </a:p>
        </p:txBody>
      </p:sp>
      <p:sp>
        <p:nvSpPr>
          <p:cNvPr id="26" name="layer-2-tech">
            <a:extLst xmlns:a="http://schemas.openxmlformats.org/drawingml/2006/main">
              <a:ext uri="{FF2B5EF4-FFF2-40B4-BE49-F238E27FC236}">
                <a16:creationId xmlns:a16="http://schemas.microsoft.com/office/drawing/2014/main" id="{46CE7DB7-C99D-49E3-A159-8FE1F3A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38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Stockfish + Minimax / MCTS</a:t>
            </a:r>
          </a:p>
        </p:txBody>
      </p:sp>
      <p:sp>
        <p:nvSpPr>
          <p:cNvPr id="27" name="layer-2-meaning">
            <a:extLst xmlns:a="http://schemas.openxmlformats.org/drawingml/2006/main">
              <a:ext uri="{FF2B5EF4-FFF2-40B4-BE49-F238E27FC236}">
                <a16:creationId xmlns:a16="http://schemas.microsoft.com/office/drawing/2014/main" id="{C356F8FD-BBA0-41F5-8D5F-E0384FD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14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moves, scores, decision traces</a:t>
            </a:r>
          </a:p>
        </p:txBody>
      </p:sp>
      <p:sp>
        <p:nvSpPr>
          <p:cNvPr id="28" name="layer-bar-3">
            <a:extLst xmlns:a="http://schemas.openxmlformats.org/drawingml/2006/main">
              <a:ext uri="{FF2B5EF4-FFF2-40B4-BE49-F238E27FC236}">
                <a16:creationId xmlns:a16="http://schemas.microsoft.com/office/drawing/2014/main" id="{D357F611-E19C-4EDC-919A-303D22DF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ayer-3-name">
            <a:extLst xmlns:a="http://schemas.openxmlformats.org/drawingml/2006/main">
              <a:ext uri="{FF2B5EF4-FFF2-40B4-BE49-F238E27FC236}">
                <a16:creationId xmlns:a16="http://schemas.microsoft.com/office/drawing/2014/main" id="{CA1C486E-729A-42E1-9305-E7311E6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rPr>
              <a:t>SYMBOLIC LOGIC</a:t>
            </a:r>
          </a:p>
        </p:txBody>
      </p:sp>
      <p:sp>
        <p:nvSpPr>
          <p:cNvPr id="30" name="layer-3-tech">
            <a:extLst xmlns:a="http://schemas.openxmlformats.org/drawingml/2006/main">
              <a:ext uri="{FF2B5EF4-FFF2-40B4-BE49-F238E27FC236}">
                <a16:creationId xmlns:a16="http://schemas.microsoft.com/office/drawing/2014/main" id="{4A2D3F1B-8824-45EE-891C-40B090E5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SWI-Prolog</a:t>
            </a:r>
          </a:p>
        </p:txBody>
      </p:sp>
      <p:sp>
        <p:nvSpPr>
          <p:cNvPr id="31" name="layer-3-meaning">
            <a:extLst xmlns:a="http://schemas.openxmlformats.org/drawingml/2006/main">
              <a:ext uri="{FF2B5EF4-FFF2-40B4-BE49-F238E27FC236}">
                <a16:creationId xmlns:a16="http://schemas.microsoft.com/office/drawing/2014/main" id="{89DD8388-6307-4A08-8871-831D5FA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33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explainable prioritized advice</a:t>
            </a:r>
          </a:p>
        </p:txBody>
      </p:sp>
      <p:sp>
        <p:nvSpPr>
          <p:cNvPr id="32" name="layer-bar-4">
            <a:extLst xmlns:a="http://schemas.openxmlformats.org/drawingml/2006/main">
              <a:ext uri="{FF2B5EF4-FFF2-40B4-BE49-F238E27FC236}">
                <a16:creationId xmlns:a16="http://schemas.microsoft.com/office/drawing/2014/main" id="{F6B3E796-5788-4BE9-A1A1-89487673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layer-4-name">
            <a:extLst xmlns:a="http://schemas.openxmlformats.org/drawingml/2006/main">
              <a:ext uri="{FF2B5EF4-FFF2-40B4-BE49-F238E27FC236}">
                <a16:creationId xmlns:a16="http://schemas.microsoft.com/office/drawing/2014/main" id="{616D5E9E-2566-4F6B-9459-BADB22F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LANGUAGE + VOICE</a:t>
            </a:r>
          </a:p>
        </p:txBody>
      </p:sp>
      <p:sp>
        <p:nvSpPr>
          <p:cNvPr id="34" name="layer-4-tech">
            <a:extLst xmlns:a="http://schemas.openxmlformats.org/drawingml/2006/main">
              <a:ext uri="{FF2B5EF4-FFF2-40B4-BE49-F238E27FC236}">
                <a16:creationId xmlns:a16="http://schemas.microsoft.com/office/drawing/2014/main" id="{AE61593F-A3CE-4BDD-AB3F-22B6E855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76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LLM + STT / TTS</a:t>
            </a:r>
          </a:p>
        </p:txBody>
      </p:sp>
      <p:sp>
        <p:nvSpPr>
          <p:cNvPr id="35" name="layer-4-meaning">
            <a:extLst xmlns:a="http://schemas.openxmlformats.org/drawingml/2006/main">
              <a:ext uri="{FF2B5EF4-FFF2-40B4-BE49-F238E27FC236}">
                <a16:creationId xmlns:a16="http://schemas.microsoft.com/office/drawing/2014/main" id="{409E5A0A-A0FC-4639-BCA4-705A48F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53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natural coaching + Burmese access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e08a786774471"/>
          <a:srcRect xmlns:a="http://schemas.openxmlformats.org/drawingml/2006/main" l="0" t="17374" r="0" b="17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524000"/>
            <a:ext cx="4238625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60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tripe-0">
            <a:extLst xmlns:a="http://schemas.openxmlformats.org/drawingml/2006/main">
              <a:ext uri="{FF2B5EF4-FFF2-40B4-BE49-F238E27FC236}">
                <a16:creationId xmlns:a16="http://schemas.microsoft.com/office/drawing/2014/main" id="{011E2E9C-EF44-4BC8-A1CC-F44C3FF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862AF511-4CE9-424C-9A28-9549E3F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0D3932AC-53E5-4613-B0CA-0E7EE0D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F35ECCE6-E72C-4B0C-B555-6A4EA5F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62D045FA-8F93-4F7D-8725-9E523659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C6558DE3-78F1-4CD0-AB17-664E2B74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29B329AD-EC49-47BD-AA84-D3D35C85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1CDDC640-E290-4F90-AD1F-74953BB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23E392F9-C8E5-41B7-9584-B8FCD505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1BBC990D-1FDF-434A-B7DC-7EA634AF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SYSTEM BOUNDARIES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E52F1E-6469-46D2-94EC-3ABDE87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04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BD530E8A-3D78-4D5B-8803-B855EC4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SIGNALS CROSS EXPLICIT BOUNDARIES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0FB62A5-C59D-46E6-9474-B1B4673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SIGNALS CROSS EXPLICIT BOUNDARIES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BA6AAD38-7AB5-4525-BE7B-F3FDE96C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Every boundary has a fallback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4554A1-F626-46B3-91C0-49470A2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0-card">
            <a:extLst xmlns:a="http://schemas.openxmlformats.org/drawingml/2006/main">
              <a:ext uri="{FF2B5EF4-FFF2-40B4-BE49-F238E27FC236}">
                <a16:creationId xmlns:a16="http://schemas.microsoft.com/office/drawing/2014/main" id="{9C24B0ED-F0BB-4C90-B7F8-899AD49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809750" cy="20478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node-0-heading">
            <a:extLst xmlns:a="http://schemas.openxmlformats.org/drawingml/2006/main">
              <a:ext uri="{FF2B5EF4-FFF2-40B4-BE49-F238E27FC236}">
                <a16:creationId xmlns:a16="http://schemas.microsoft.com/office/drawing/2014/main" id="{AE100DD1-29EB-4352-954C-88636DC4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BROWSER</a:t>
            </a:r>
          </a:p>
        </p:txBody>
      </p:sp>
      <p:sp>
        <p:nvSpPr>
          <p:cNvPr id="18" name="node-0-body">
            <a:extLst xmlns:a="http://schemas.openxmlformats.org/drawingml/2006/main">
              <a:ext uri="{FF2B5EF4-FFF2-40B4-BE49-F238E27FC236}">
                <a16:creationId xmlns:a16="http://schemas.microsoft.com/office/drawing/2014/main" id="{3E0B25FC-3982-44FB-AB99-C9A8A15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4668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webcam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board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19" name="arrow-0">
            <a:extLst xmlns:a="http://schemas.openxmlformats.org/drawingml/2006/main">
              <a:ext uri="{FF2B5EF4-FFF2-40B4-BE49-F238E27FC236}">
                <a16:creationId xmlns:a16="http://schemas.microsoft.com/office/drawing/2014/main" id="{82423749-CBAB-41DB-93C5-3F7F81F5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33700"/>
            <a:ext cx="36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0" name="node-1-card">
            <a:extLst xmlns:a="http://schemas.openxmlformats.org/drawingml/2006/main">
              <a:ext uri="{FF2B5EF4-FFF2-40B4-BE49-F238E27FC236}">
                <a16:creationId xmlns:a16="http://schemas.microsoft.com/office/drawing/2014/main" id="{3C8B58A1-8FBA-40D9-B957-14911FD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1809750" cy="20478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1" name="node-1-heading">
            <a:extLst xmlns:a="http://schemas.openxmlformats.org/drawingml/2006/main">
              <a:ext uri="{FF2B5EF4-FFF2-40B4-BE49-F238E27FC236}">
                <a16:creationId xmlns:a16="http://schemas.microsoft.com/office/drawing/2014/main" id="{C51A4DBF-EC88-4146-9631-96863371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NEXT.JS</a:t>
            </a:r>
          </a:p>
        </p:txBody>
      </p:sp>
      <p:sp>
        <p:nvSpPr>
          <p:cNvPr id="22" name="node-1-body">
            <a:extLst xmlns:a="http://schemas.openxmlformats.org/drawingml/2006/main">
              <a:ext uri="{FF2B5EF4-FFF2-40B4-BE49-F238E27FC236}">
                <a16:creationId xmlns:a16="http://schemas.microsoft.com/office/drawing/2014/main" id="{C4927A93-2685-437C-BEB2-37B1DF3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4668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API routes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3" name="arrow-1">
            <a:extLst xmlns:a="http://schemas.openxmlformats.org/drawingml/2006/main">
              <a:ext uri="{FF2B5EF4-FFF2-40B4-BE49-F238E27FC236}">
                <a16:creationId xmlns:a16="http://schemas.microsoft.com/office/drawing/2014/main" id="{30F5A1C5-4A58-474A-BE24-D074927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33700"/>
            <a:ext cx="36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4" name="node-2-card">
            <a:extLst xmlns:a="http://schemas.openxmlformats.org/drawingml/2006/main">
              <a:ext uri="{FF2B5EF4-FFF2-40B4-BE49-F238E27FC236}">
                <a16:creationId xmlns:a16="http://schemas.microsoft.com/office/drawing/2014/main" id="{A81FFC01-C3A6-43CF-869B-BEFC39D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1809750" cy="20478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5" name="node-2-heading">
            <a:extLst xmlns:a="http://schemas.openxmlformats.org/drawingml/2006/main">
              <a:ext uri="{FF2B5EF4-FFF2-40B4-BE49-F238E27FC236}">
                <a16:creationId xmlns:a16="http://schemas.microsoft.com/office/drawing/2014/main" id="{33FC60BA-0092-4C0A-9AC6-4BC1135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FASTAPI</a:t>
            </a:r>
          </a:p>
        </p:txBody>
      </p:sp>
      <p:sp>
        <p:nvSpPr>
          <p:cNvPr id="26" name="node-2-body">
            <a:extLst xmlns:a="http://schemas.openxmlformats.org/drawingml/2006/main">
              <a:ext uri="{FF2B5EF4-FFF2-40B4-BE49-F238E27FC236}">
                <a16:creationId xmlns:a16="http://schemas.microsoft.com/office/drawing/2014/main" id="{4DC4DEA6-835C-4918-82D4-0C1A1EA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4668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engine pool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FEN bridge</a:t>
            </a:r>
          </a:p>
        </p:txBody>
      </p:sp>
      <p:sp>
        <p:nvSpPr>
          <p:cNvPr id="27" name="arrow-2">
            <a:extLst xmlns:a="http://schemas.openxmlformats.org/drawingml/2006/main">
              <a:ext uri="{FF2B5EF4-FFF2-40B4-BE49-F238E27FC236}">
                <a16:creationId xmlns:a16="http://schemas.microsoft.com/office/drawing/2014/main" id="{07DEF297-6C86-4F5E-9D9B-45CDC92B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33700"/>
            <a:ext cx="36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8" name="node-3-card">
            <a:extLst xmlns:a="http://schemas.openxmlformats.org/drawingml/2006/main">
              <a:ext uri="{FF2B5EF4-FFF2-40B4-BE49-F238E27FC236}">
                <a16:creationId xmlns:a16="http://schemas.microsoft.com/office/drawing/2014/main" id="{87A8F1BA-60CE-41F2-9B98-5F0643BA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809750" cy="20478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9" name="node-3-heading">
            <a:extLst xmlns:a="http://schemas.openxmlformats.org/drawingml/2006/main">
              <a:ext uri="{FF2B5EF4-FFF2-40B4-BE49-F238E27FC236}">
                <a16:creationId xmlns:a16="http://schemas.microsoft.com/office/drawing/2014/main" id="{E3A05B9E-BFCB-4BCC-8686-B99DE58F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AI ENGINES</a:t>
            </a:r>
          </a:p>
        </p:txBody>
      </p:sp>
      <p:sp>
        <p:nvSpPr>
          <p:cNvPr id="30" name="node-3-body">
            <a:extLst xmlns:a="http://schemas.openxmlformats.org/drawingml/2006/main">
              <a:ext uri="{FF2B5EF4-FFF2-40B4-BE49-F238E27FC236}">
                <a16:creationId xmlns:a16="http://schemas.microsoft.com/office/drawing/2014/main" id="{012E93F7-344C-4383-BECC-D7B229FB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14668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Stockfish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Prolog</a:t>
            </a:r>
          </a:p>
        </p:txBody>
      </p:sp>
      <p:sp>
        <p:nvSpPr>
          <p:cNvPr id="31" name="arrow-3">
            <a:extLst xmlns:a="http://schemas.openxmlformats.org/drawingml/2006/main">
              <a:ext uri="{FF2B5EF4-FFF2-40B4-BE49-F238E27FC236}">
                <a16:creationId xmlns:a16="http://schemas.microsoft.com/office/drawing/2014/main" id="{744665AF-4133-4261-B279-F485729C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33700"/>
            <a:ext cx="36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1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32" name="node-4-card">
            <a:extLst xmlns:a="http://schemas.openxmlformats.org/drawingml/2006/main">
              <a:ext uri="{FF2B5EF4-FFF2-40B4-BE49-F238E27FC236}">
                <a16:creationId xmlns:a16="http://schemas.microsoft.com/office/drawing/2014/main" id="{A093D81B-BADE-4EB7-AF86-E9E8DE1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809750" cy="20478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33" name="node-4-heading">
            <a:extLst xmlns:a="http://schemas.openxmlformats.org/drawingml/2006/main">
              <a:ext uri="{FF2B5EF4-FFF2-40B4-BE49-F238E27FC236}">
                <a16:creationId xmlns:a16="http://schemas.microsoft.com/office/drawing/2014/main" id="{77AA2C4A-8218-4D87-8C21-88775C7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OUTPUT</a:t>
            </a:r>
          </a:p>
        </p:txBody>
      </p:sp>
      <p:sp>
        <p:nvSpPr>
          <p:cNvPr id="34" name="node-4-body">
            <a:extLst xmlns:a="http://schemas.openxmlformats.org/drawingml/2006/main">
              <a:ext uri="{FF2B5EF4-FFF2-40B4-BE49-F238E27FC236}">
                <a16:creationId xmlns:a16="http://schemas.microsoft.com/office/drawing/2014/main" id="{EE153B5F-A7DC-4B73-A402-8B9AAEC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4668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move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advice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coach</a:t>
            </a:r>
          </a:p>
        </p:txBody>
      </p:sp>
      <p:sp>
        <p:nvSpPr>
          <p:cNvPr id="35" name="routes">
            <a:extLst xmlns:a="http://schemas.openxmlformats.org/drawingml/2006/main">
              <a:ext uri="{FF2B5EF4-FFF2-40B4-BE49-F238E27FC236}">
                <a16:creationId xmlns:a16="http://schemas.microsoft.com/office/drawing/2014/main" id="{F69535FF-2161-4067-9FA6-5DC3D4D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AF3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F3F00"/>
                </a:solidFill>
                <a:latin typeface="Helvetica Neue"/>
                <a:ea typeface="Helvetica Neue"/>
                <a:cs typeface="Helvetica Neue"/>
              </a:rPr>
              <a:t>/api/bot-move     /api/prolog     /api/coach     /api/transcribe</a:t>
            </a:r>
          </a:p>
        </p:txBody>
      </p:sp>
      <p:sp>
        <p:nvSpPr>
          <p:cNvPr id="36" name="fallback">
            <a:extLst xmlns:a="http://schemas.openxmlformats.org/drawingml/2006/main">
              <a:ext uri="{FF2B5EF4-FFF2-40B4-BE49-F238E27FC236}">
                <a16:creationId xmlns:a16="http://schemas.microsoft.com/office/drawing/2014/main" id="{81EF375F-F1DD-4D4B-9776-0882BE10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The core game remains playable when Prolog, the LLM, or cloud speech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2020939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tripe-0">
            <a:extLst xmlns:a="http://schemas.openxmlformats.org/drawingml/2006/main">
              <a:ext uri="{FF2B5EF4-FFF2-40B4-BE49-F238E27FC236}">
                <a16:creationId xmlns:a16="http://schemas.microsoft.com/office/drawing/2014/main" id="{83818E22-D773-48B7-9575-DE4D08D9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52B7283A-4EAE-4E45-AE1F-57ADD6E2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C3D1E0A1-8FBD-4872-B355-8529123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1405A58D-662B-4549-9E0C-D9730E2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D65B11E5-DCAA-4EC4-BC5B-F90614B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7DEC8AEE-DE80-4ABF-B678-5F9BC29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0E5A6116-E2E0-411D-B20F-9ABCD271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1A2C94A2-E10B-41DF-8D97-FAA7FCB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FCC71E27-611F-4F76-8CEF-EF34140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4A6BC367-E987-4724-BD94-5EF1069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PERCEPTION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C8DB3C-87A9-4DC7-94C0-ACC47982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05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FFE9AB4C-A382-4F07-B7A4-086DC0E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EMOTION IS A LIVE SIGNAL - NOT A LABEL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0639F48-8C56-4F67-8591-0840A789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EMOTION IS A LIVE SIGNAL - NOT A LABEL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E2C4AC04-1D4C-47D3-BF56-E357345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Anatomy meets gameplay context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63485F-61EC-4146-89A2-657B083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e-card">
            <a:extLst xmlns:a="http://schemas.openxmlformats.org/drawingml/2006/main">
              <a:ext uri="{FF2B5EF4-FFF2-40B4-BE49-F238E27FC236}">
                <a16:creationId xmlns:a16="http://schemas.microsoft.com/office/drawing/2014/main" id="{EED34CCB-4FCD-4AF5-AFAB-C720DE6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476750" cy="3095625"/>
          </a:xfrm>
          <a:prstGeom xmlns:a="http://schemas.openxmlformats.org/drawingml/2006/main" prst="roundRect">
            <a:avLst>
              <a:gd name="adj" fmla="val 5538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face-heading">
            <a:extLst xmlns:a="http://schemas.openxmlformats.org/drawingml/2006/main">
              <a:ext uri="{FF2B5EF4-FFF2-40B4-BE49-F238E27FC236}">
                <a16:creationId xmlns:a16="http://schemas.microsoft.com/office/drawing/2014/main" id="{5DE7B8BA-DDF8-49DA-B9DB-C973B83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FACIAL SIGNAL</a:t>
            </a:r>
          </a:p>
        </p:txBody>
      </p:sp>
      <p:sp>
        <p:nvSpPr>
          <p:cNvPr id="18" name="face-body">
            <a:extLst xmlns:a="http://schemas.openxmlformats.org/drawingml/2006/main">
              <a:ext uri="{FF2B5EF4-FFF2-40B4-BE49-F238E27FC236}">
                <a16:creationId xmlns:a16="http://schemas.microsoft.com/office/drawing/2014/main" id="{AB4BC2BB-0F04-4727-841C-6DC94261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41338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52 blendshapes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Smile, frown, brow, eye, jaw, and mouth motion mix into valence and arousal.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valence: positive / negative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arousal: calm / activated</a:t>
            </a:r>
          </a:p>
        </p:txBody>
      </p:sp>
      <p:sp>
        <p:nvSpPr>
          <p:cNvPr id="19" name="game-card">
            <a:extLst xmlns:a="http://schemas.openxmlformats.org/drawingml/2006/main">
              <a:ext uri="{FF2B5EF4-FFF2-40B4-BE49-F238E27FC236}">
                <a16:creationId xmlns:a16="http://schemas.microsoft.com/office/drawing/2014/main" id="{DEEA86F6-42DE-43FB-9EAE-AEC2187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43125"/>
            <a:ext cx="4476750" cy="3095625"/>
          </a:xfrm>
          <a:prstGeom xmlns:a="http://schemas.openxmlformats.org/drawingml/2006/main" prst="roundRect">
            <a:avLst>
              <a:gd name="adj" fmla="val 5538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0" name="game-heading">
            <a:extLst xmlns:a="http://schemas.openxmlformats.org/drawingml/2006/main">
              <a:ext uri="{FF2B5EF4-FFF2-40B4-BE49-F238E27FC236}">
                <a16:creationId xmlns:a16="http://schemas.microsoft.com/office/drawing/2014/main" id="{14D0A0C2-B6F6-4C71-A282-6A7C579E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9552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GAME SIGNAL</a:t>
            </a:r>
          </a:p>
        </p:txBody>
      </p:sp>
      <p:sp>
        <p:nvSpPr>
          <p:cNvPr id="21" name="game-body">
            <a:extLst xmlns:a="http://schemas.openxmlformats.org/drawingml/2006/main">
              <a:ext uri="{FF2B5EF4-FFF2-40B4-BE49-F238E27FC236}">
                <a16:creationId xmlns:a16="http://schemas.microsoft.com/office/drawing/2014/main" id="{EE22E51A-60DB-43EC-86B2-6A3994FE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90825"/>
            <a:ext cx="41338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12s+ think time -&gt; focus / calm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150cp setback -&gt; stress 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Recent mistakes -&gt; neutral damping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+300cp advantage -&gt; confidence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ca69ad09648f3"/>
          <a:stretch xmlns:a="http://schemas.openxmlformats.org/drawingml/2006/main"/>
        </p:blipFill>
        <p:spPr>
          <a:xfrm xmlns:a="http://schemas.openxmlformats.org/drawingml/2006/main">
            <a:off x="9948559" y="1857375"/>
            <a:ext cx="1915133" cy="4286250"/>
          </a:xfrm>
          <a:prstGeom xmlns:a="http://schemas.openxmlformats.org/drawingml/2006/main" prst="rect">
            <a:avLst/>
          </a:prstGeom>
        </p:spPr>
      </p:pic>
      <p:sp>
        <p:nvSpPr>
          <p:cNvPr id="23" name="fusion">
            <a:extLst xmlns:a="http://schemas.openxmlformats.org/drawingml/2006/main">
              <a:ext uri="{FF2B5EF4-FFF2-40B4-BE49-F238E27FC236}">
                <a16:creationId xmlns:a16="http://schemas.microsoft.com/office/drawing/2014/main" id="{79874A06-837E-4D5C-84C9-7FD7614D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83820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Fusion adjusts soft scores; it does not blindly overwrite the face signal.</a:t>
            </a:r>
          </a:p>
        </p:txBody>
      </p:sp>
    </p:spTree>
    <p:extLst>
      <p:ext uri="{BB962C8B-B14F-4D97-AF65-F5344CB8AC3E}">
        <p14:creationId xmlns:p14="http://schemas.microsoft.com/office/powerpoint/2010/main" val="395807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tripe-0">
            <a:extLst xmlns:a="http://schemas.openxmlformats.org/drawingml/2006/main">
              <a:ext uri="{FF2B5EF4-FFF2-40B4-BE49-F238E27FC236}">
                <a16:creationId xmlns:a16="http://schemas.microsoft.com/office/drawing/2014/main" id="{B5F91165-18E0-40E1-AB2B-6D101F0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D49461A0-12E8-4293-A7C0-5002C82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AC166AAF-7B20-48EA-8FCF-B020768A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127EEEB4-84E5-4EDC-8C71-5879437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CB889501-E87F-4EF5-9391-A9744123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4BC7CAEC-03B6-4CC2-AB25-4038BC3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C3DB0A05-EC67-48DA-B53A-282342C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D690AA36-AB43-4A15-86F7-3772CDB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97F78E8F-68FC-48F9-A05A-A1355F0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1C19BB0F-10C2-4887-9A62-0F03E5F6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ADAPTATION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D400DC-E25F-42DD-BAE3-B2690ED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06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D575D90D-CECE-4339-85F4-237DDE0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SIX PROFILES RESHAPE DIFFICULTY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55A0913-CEEE-431E-81F6-0E40E266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SIX PROFILES RESHAPE DIFFICULTY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CBC3A861-BB27-4CF9-9B5B-EC05E57B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In real time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A59C4D-38BD-4F63-BE35-BEF4A90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ads">
            <a:extLst xmlns:a="http://schemas.openxmlformats.org/drawingml/2006/main">
              <a:ext uri="{FF2B5EF4-FFF2-40B4-BE49-F238E27FC236}">
                <a16:creationId xmlns:a16="http://schemas.microsoft.com/office/drawing/2014/main" id="{FDD67F98-4647-4AA5-BE5E-D76B98A2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EMOTION                      ELO         RELATIVE STRENGTH                         DEPTH / SKILL</a:t>
            </a:r>
          </a:p>
        </p:txBody>
      </p:sp>
      <p:sp>
        <p:nvSpPr>
          <p:cNvPr id="17" name="profile-0">
            <a:extLst xmlns:a="http://schemas.openxmlformats.org/drawingml/2006/main">
              <a:ext uri="{FF2B5EF4-FFF2-40B4-BE49-F238E27FC236}">
                <a16:creationId xmlns:a16="http://schemas.microsoft.com/office/drawing/2014/main" id="{3D6E2FA1-74B0-4468-8CA1-25A15005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15A24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15A24"/>
                </a:solidFill>
                <a:latin typeface="Futura Condensed ExtraBold"/>
                <a:ea typeface="Futura Condensed ExtraBold"/>
                <a:cs typeface="Futura Condensed ExtraBold"/>
              </a:rPr>
              <a:t>STRESSED</a:t>
            </a:r>
          </a:p>
        </p:txBody>
      </p:sp>
      <p:sp>
        <p:nvSpPr>
          <p:cNvPr id="18" name="elo-0">
            <a:extLst xmlns:a="http://schemas.openxmlformats.org/drawingml/2006/main">
              <a:ext uri="{FF2B5EF4-FFF2-40B4-BE49-F238E27FC236}">
                <a16:creationId xmlns:a16="http://schemas.microsoft.com/office/drawing/2014/main" id="{AF18E726-271D-498A-9492-4D581C6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86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1320</a:t>
            </a:r>
          </a:p>
        </p:txBody>
      </p:sp>
      <p:sp>
        <p:nvSpPr>
          <p:cNvPr id="19" name="bar-bg-0">
            <a:extLst xmlns:a="http://schemas.openxmlformats.org/drawingml/2006/main">
              <a:ext uri="{FF2B5EF4-FFF2-40B4-BE49-F238E27FC236}">
                <a16:creationId xmlns:a16="http://schemas.microsoft.com/office/drawing/2014/main" id="{A2B80F8D-FB1B-4757-9ACD-9B207A2C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20" name="bar-0">
            <a:extLst xmlns:a="http://schemas.openxmlformats.org/drawingml/2006/main">
              <a:ext uri="{FF2B5EF4-FFF2-40B4-BE49-F238E27FC236}">
                <a16:creationId xmlns:a16="http://schemas.microsoft.com/office/drawing/2014/main" id="{9CE2D0DD-E680-4DD2-A862-2CE4D6A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123063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s-0">
            <a:extLst xmlns:a="http://schemas.openxmlformats.org/drawingml/2006/main">
              <a:ext uri="{FF2B5EF4-FFF2-40B4-BE49-F238E27FC236}">
                <a16:creationId xmlns:a16="http://schemas.microsoft.com/office/drawing/2014/main" id="{B54034EC-E7BD-418F-9144-0A93A97A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 / 1</a:t>
            </a:r>
          </a:p>
        </p:txBody>
      </p:sp>
      <p:sp>
        <p:nvSpPr>
          <p:cNvPr id="22" name="profile-1">
            <a:extLst xmlns:a="http://schemas.openxmlformats.org/drawingml/2006/main">
              <a:ext uri="{FF2B5EF4-FFF2-40B4-BE49-F238E27FC236}">
                <a16:creationId xmlns:a16="http://schemas.microsoft.com/office/drawing/2014/main" id="{CD09749B-8DAA-4593-8DE5-9F6C6B41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15A24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15A24"/>
                </a:solidFill>
                <a:latin typeface="Futura Condensed ExtraBold"/>
                <a:ea typeface="Futura Condensed ExtraBold"/>
                <a:cs typeface="Futura Condensed ExtraBold"/>
              </a:rPr>
              <a:t>FRUSTRATED</a:t>
            </a:r>
          </a:p>
        </p:txBody>
      </p:sp>
      <p:sp>
        <p:nvSpPr>
          <p:cNvPr id="23" name="elo-1">
            <a:extLst xmlns:a="http://schemas.openxmlformats.org/drawingml/2006/main">
              <a:ext uri="{FF2B5EF4-FFF2-40B4-BE49-F238E27FC236}">
                <a16:creationId xmlns:a16="http://schemas.microsoft.com/office/drawing/2014/main" id="{15513305-9BC2-48D5-8999-E4FA8447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1320</a:t>
            </a:r>
          </a:p>
        </p:txBody>
      </p:sp>
      <p:sp>
        <p:nvSpPr>
          <p:cNvPr id="24" name="bar-bg-1">
            <a:extLst xmlns:a="http://schemas.openxmlformats.org/drawingml/2006/main">
              <a:ext uri="{FF2B5EF4-FFF2-40B4-BE49-F238E27FC236}">
                <a16:creationId xmlns:a16="http://schemas.microsoft.com/office/drawing/2014/main" id="{EB99CC2E-95A8-47DE-90E2-9B4658E0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2417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25" name="bar-1">
            <a:extLst xmlns:a="http://schemas.openxmlformats.org/drawingml/2006/main">
              <a:ext uri="{FF2B5EF4-FFF2-40B4-BE49-F238E27FC236}">
                <a16:creationId xmlns:a16="http://schemas.microsoft.com/office/drawing/2014/main" id="{DEB6B1BC-5F53-4920-8940-FC6FF57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24175"/>
            <a:ext cx="123063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s-1">
            <a:extLst xmlns:a="http://schemas.openxmlformats.org/drawingml/2006/main">
              <a:ext uri="{FF2B5EF4-FFF2-40B4-BE49-F238E27FC236}">
                <a16:creationId xmlns:a16="http://schemas.microsoft.com/office/drawing/2014/main" id="{9D3C6FAB-3EB4-4519-B1C7-56FB8F78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2 / 3</a:t>
            </a:r>
          </a:p>
        </p:txBody>
      </p:sp>
      <p:sp>
        <p:nvSpPr>
          <p:cNvPr id="27" name="profile-2">
            <a:extLst xmlns:a="http://schemas.openxmlformats.org/drawingml/2006/main">
              <a:ext uri="{FF2B5EF4-FFF2-40B4-BE49-F238E27FC236}">
                <a16:creationId xmlns:a16="http://schemas.microsoft.com/office/drawing/2014/main" id="{DD1C2AC7-E7D7-4198-82F4-89FC3E39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CALM</a:t>
            </a:r>
          </a:p>
        </p:txBody>
      </p:sp>
      <p:sp>
        <p:nvSpPr>
          <p:cNvPr id="28" name="elo-2">
            <a:extLst xmlns:a="http://schemas.openxmlformats.org/drawingml/2006/main">
              <a:ext uri="{FF2B5EF4-FFF2-40B4-BE49-F238E27FC236}">
                <a16:creationId xmlns:a16="http://schemas.microsoft.com/office/drawing/2014/main" id="{61D53E51-E0A2-409F-9653-7DBCCF7D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67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1600</a:t>
            </a:r>
          </a:p>
        </p:txBody>
      </p:sp>
      <p:sp>
        <p:nvSpPr>
          <p:cNvPr id="29" name="bar-bg-2">
            <a:extLst xmlns:a="http://schemas.openxmlformats.org/drawingml/2006/main">
              <a:ext uri="{FF2B5EF4-FFF2-40B4-BE49-F238E27FC236}">
                <a16:creationId xmlns:a16="http://schemas.microsoft.com/office/drawing/2014/main" id="{E8BD27A0-DE2E-41EB-8EA7-3E0D7943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30" name="bar-2">
            <a:extLst xmlns:a="http://schemas.openxmlformats.org/drawingml/2006/main">
              <a:ext uri="{FF2B5EF4-FFF2-40B4-BE49-F238E27FC236}">
                <a16:creationId xmlns:a16="http://schemas.microsoft.com/office/drawing/2014/main" id="{5E98218B-ECFE-4580-A244-21DF9C4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166497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s-2">
            <a:extLst xmlns:a="http://schemas.openxmlformats.org/drawingml/2006/main">
              <a:ext uri="{FF2B5EF4-FFF2-40B4-BE49-F238E27FC236}">
                <a16:creationId xmlns:a16="http://schemas.microsoft.com/office/drawing/2014/main" id="{ECEED531-E7F3-49EA-9B2F-6E8DEE4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sp>
        <p:nvSpPr>
          <p:cNvPr id="32" name="profile-3">
            <a:extLst xmlns:a="http://schemas.openxmlformats.org/drawingml/2006/main">
              <a:ext uri="{FF2B5EF4-FFF2-40B4-BE49-F238E27FC236}">
                <a16:creationId xmlns:a16="http://schemas.microsoft.com/office/drawing/2014/main" id="{BAC2C8C0-BCBC-4C3F-B195-54B45F7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NEUTRAL</a:t>
            </a:r>
          </a:p>
        </p:txBody>
      </p:sp>
      <p:sp>
        <p:nvSpPr>
          <p:cNvPr id="33" name="elo-3">
            <a:extLst xmlns:a="http://schemas.openxmlformats.org/drawingml/2006/main">
              <a:ext uri="{FF2B5EF4-FFF2-40B4-BE49-F238E27FC236}">
                <a16:creationId xmlns:a16="http://schemas.microsoft.com/office/drawing/2014/main" id="{7705CCFC-331E-4163-9B57-862DF941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57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2000</a:t>
            </a:r>
          </a:p>
        </p:txBody>
      </p:sp>
      <p:sp>
        <p:nvSpPr>
          <p:cNvPr id="34" name="bar-bg-3">
            <a:extLst xmlns:a="http://schemas.openxmlformats.org/drawingml/2006/main">
              <a:ext uri="{FF2B5EF4-FFF2-40B4-BE49-F238E27FC236}">
                <a16:creationId xmlns:a16="http://schemas.microsoft.com/office/drawing/2014/main" id="{BD693659-AD52-4FCF-A1CE-94E5C2B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35" name="bar-3">
            <a:extLst xmlns:a="http://schemas.openxmlformats.org/drawingml/2006/main">
              <a:ext uri="{FF2B5EF4-FFF2-40B4-BE49-F238E27FC236}">
                <a16:creationId xmlns:a16="http://schemas.microsoft.com/office/drawing/2014/main" id="{48660B03-7C6C-46A2-85D2-87CD3CFC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2171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s-3">
            <a:extLst xmlns:a="http://schemas.openxmlformats.org/drawingml/2006/main">
              <a:ext uri="{FF2B5EF4-FFF2-40B4-BE49-F238E27FC236}">
                <a16:creationId xmlns:a16="http://schemas.microsoft.com/office/drawing/2014/main" id="{6B500C42-5F8B-42AB-8C94-26C5D22B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6 / 10</a:t>
            </a:r>
          </a:p>
        </p:txBody>
      </p:sp>
      <p:sp>
        <p:nvSpPr>
          <p:cNvPr id="37" name="profile-4">
            <a:extLst xmlns:a="http://schemas.openxmlformats.org/drawingml/2006/main">
              <a:ext uri="{FF2B5EF4-FFF2-40B4-BE49-F238E27FC236}">
                <a16:creationId xmlns:a16="http://schemas.microsoft.com/office/drawing/2014/main" id="{5E8724BA-D4B7-4E90-927F-355E70B1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FOCUSED</a:t>
            </a:r>
          </a:p>
        </p:txBody>
      </p:sp>
      <p:sp>
        <p:nvSpPr>
          <p:cNvPr id="38" name="elo-4">
            <a:extLst xmlns:a="http://schemas.openxmlformats.org/drawingml/2006/main">
              <a:ext uri="{FF2B5EF4-FFF2-40B4-BE49-F238E27FC236}">
                <a16:creationId xmlns:a16="http://schemas.microsoft.com/office/drawing/2014/main" id="{80FE5A70-6B70-437A-B3BE-978F7DA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48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2600</a:t>
            </a:r>
          </a:p>
        </p:txBody>
      </p:sp>
      <p:sp>
        <p:nvSpPr>
          <p:cNvPr id="39" name="bar-bg-4">
            <a:extLst xmlns:a="http://schemas.openxmlformats.org/drawingml/2006/main">
              <a:ext uri="{FF2B5EF4-FFF2-40B4-BE49-F238E27FC236}">
                <a16:creationId xmlns:a16="http://schemas.microsoft.com/office/drawing/2014/main" id="{ABEE6297-80C4-4912-B07B-E661BF4E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40" name="bar-4">
            <a:extLst xmlns:a="http://schemas.openxmlformats.org/drawingml/2006/main">
              <a:ext uri="{FF2B5EF4-FFF2-40B4-BE49-F238E27FC236}">
                <a16:creationId xmlns:a16="http://schemas.microsoft.com/office/drawing/2014/main" id="{DB6AC655-6DF7-4E2B-B049-E2F60CC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285940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s-4">
            <a:extLst xmlns:a="http://schemas.openxmlformats.org/drawingml/2006/main">
              <a:ext uri="{FF2B5EF4-FFF2-40B4-BE49-F238E27FC236}">
                <a16:creationId xmlns:a16="http://schemas.microsoft.com/office/drawing/2014/main" id="{8FE377E2-3BFD-4DF8-8567-BE35BDAD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8 / 15</a:t>
            </a:r>
          </a:p>
        </p:txBody>
      </p:sp>
      <p:sp>
        <p:nvSpPr>
          <p:cNvPr id="42" name="profile-5">
            <a:extLst xmlns:a="http://schemas.openxmlformats.org/drawingml/2006/main">
              <a:ext uri="{FF2B5EF4-FFF2-40B4-BE49-F238E27FC236}">
                <a16:creationId xmlns:a16="http://schemas.microsoft.com/office/drawing/2014/main" id="{C959D932-FE6C-4DCF-9FD8-759F4C55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CONFIDENT</a:t>
            </a:r>
          </a:p>
        </p:txBody>
      </p:sp>
      <p:sp>
        <p:nvSpPr>
          <p:cNvPr id="43" name="elo-5">
            <a:extLst xmlns:a="http://schemas.openxmlformats.org/drawingml/2006/main">
              <a:ext uri="{FF2B5EF4-FFF2-40B4-BE49-F238E27FC236}">
                <a16:creationId xmlns:a16="http://schemas.microsoft.com/office/drawing/2014/main" id="{B614260F-BCF6-4FA2-BF48-587A909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38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3190</a:t>
            </a:r>
          </a:p>
        </p:txBody>
      </p:sp>
      <p:sp>
        <p:nvSpPr>
          <p:cNvPr id="44" name="bar-bg-5">
            <a:extLst xmlns:a="http://schemas.openxmlformats.org/drawingml/2006/main">
              <a:ext uri="{FF2B5EF4-FFF2-40B4-BE49-F238E27FC236}">
                <a16:creationId xmlns:a16="http://schemas.microsoft.com/office/drawing/2014/main" id="{7DA5C92B-274A-46D1-BDBF-7EFBC831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AF3F00"/>
            </a:solidFill>
            <a:prstDash val="solid"/>
          </a:ln>
        </p:spPr>
      </p:sp>
      <p:sp>
        <p:nvSpPr>
          <p:cNvPr id="45" name="bar-5">
            <a:extLst xmlns:a="http://schemas.openxmlformats.org/drawingml/2006/main">
              <a:ext uri="{FF2B5EF4-FFF2-40B4-BE49-F238E27FC236}">
                <a16:creationId xmlns:a16="http://schemas.microsoft.com/office/drawing/2014/main" id="{0BEBC385-EA5F-40E3-998A-882B9AD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61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s-5">
            <a:extLst xmlns:a="http://schemas.openxmlformats.org/drawingml/2006/main">
              <a:ext uri="{FF2B5EF4-FFF2-40B4-BE49-F238E27FC236}">
                <a16:creationId xmlns:a16="http://schemas.microsoft.com/office/drawing/2014/main" id="{7878AA18-D846-4B96-B9DB-9DC7E49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10 / 20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3ec80679a4822"/>
          <a:stretch xmlns:a="http://schemas.openxmlformats.org/drawingml/2006/main"/>
        </p:blipFill>
        <p:spPr>
          <a:xfrm xmlns:a="http://schemas.openxmlformats.org/drawingml/2006/main">
            <a:off x="9620250" y="1904767"/>
            <a:ext cx="2238375" cy="4191467"/>
          </a:xfrm>
          <a:prstGeom xmlns:a="http://schemas.openxmlformats.org/drawingml/2006/main" prst="rect">
            <a:avLst/>
          </a:prstGeom>
        </p:spPr>
      </p:pic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934A493E-598F-45C7-949E-991BCBC5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HINTS USE A STRONGER FIXED PROFILE SO ADVICE QUALITY STAYS HIGH.</a:t>
            </a:r>
          </a:p>
        </p:txBody>
      </p:sp>
    </p:spTree>
    <p:extLst>
      <p:ext uri="{BB962C8B-B14F-4D97-AF65-F5344CB8AC3E}">
        <p14:creationId xmlns:p14="http://schemas.microsoft.com/office/powerpoint/2010/main" val="1179068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tripe-0">
            <a:extLst xmlns:a="http://schemas.openxmlformats.org/drawingml/2006/main">
              <a:ext uri="{FF2B5EF4-FFF2-40B4-BE49-F238E27FC236}">
                <a16:creationId xmlns:a16="http://schemas.microsoft.com/office/drawing/2014/main" id="{B933A08A-77E0-4DE5-B704-28BCC0B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66A6C2EA-66E2-4C47-AB71-0B96CBF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BD5C122A-3D7F-4B0B-9684-84E75A02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522A0B05-8B11-4660-964D-C798F98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3D00BD10-F061-4CAA-8574-8D7B302E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981DCA9F-43F1-4D43-B53E-527A65D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AC09209C-C513-4B5C-B087-D0A10F2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51EE99E7-364A-4915-A749-E946A14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A613247B-003E-4308-B377-D096BE7D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8a22b41dc409c"/>
          <a:stretch xmlns:a="http://schemas.openxmlformats.org/drawingml/2006/main"/>
        </p:blipFill>
        <p:spPr>
          <a:xfrm xmlns:a="http://schemas.openxmlformats.org/drawingml/2006/main">
            <a:off x="0" y="727849"/>
            <a:ext cx="2381250" cy="5459451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f99b189ea45bb"/>
          <a:stretch xmlns:a="http://schemas.openxmlformats.org/drawingml/2006/main"/>
        </p:blipFill>
        <p:spPr>
          <a:xfrm xmlns:a="http://schemas.openxmlformats.org/drawingml/2006/main">
            <a:off x="9810750" y="792843"/>
            <a:ext cx="2381250" cy="5329464"/>
          </a:xfrm>
          <a:prstGeom xmlns:a="http://schemas.openxmlformats.org/drawingml/2006/main" prst="rect">
            <a:avLst/>
          </a:prstGeom>
        </p:spPr>
      </p:pic>
      <p:sp>
        <p:nvSpPr>
          <p:cNvPr id="12" name="divider-title-shadow">
            <a:extLst xmlns:a="http://schemas.openxmlformats.org/drawingml/2006/main">
              <a:ext uri="{FF2B5EF4-FFF2-40B4-BE49-F238E27FC236}">
                <a16:creationId xmlns:a16="http://schemas.microsoft.com/office/drawing/2014/main" id="{E6480043-23E5-410A-AA24-DFC5063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858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49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SEARCH FINDS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495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STRONG MOVES</a:t>
            </a:r>
          </a:p>
        </p:txBody>
      </p:sp>
      <p:sp>
        <p:nvSpPr>
          <p:cNvPr id="13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B641631-E5DF-466D-9FEB-0D5C308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72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49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SEARCH FINDS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495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STRONG MOVES</a:t>
            </a:r>
          </a:p>
        </p:txBody>
      </p:sp>
      <p:sp>
        <p:nvSpPr>
          <p:cNvPr id="14" name="divider-accent">
            <a:extLst xmlns:a="http://schemas.openxmlformats.org/drawingml/2006/main">
              <a:ext uri="{FF2B5EF4-FFF2-40B4-BE49-F238E27FC236}">
                <a16:creationId xmlns:a16="http://schemas.microsoft.com/office/drawing/2014/main" id="{F08823AD-AC6D-41A7-B3F9-1C3C7FB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193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450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3450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Prolog makes reasoning visible</a:t>
            </a:r>
          </a:p>
        </p:txBody>
      </p:sp>
      <p:sp>
        <p:nvSpPr>
          <p:cNvPr id="15" name="stockfish">
            <a:extLst xmlns:a="http://schemas.openxmlformats.org/drawingml/2006/main">
              <a:ext uri="{FF2B5EF4-FFF2-40B4-BE49-F238E27FC236}">
                <a16:creationId xmlns:a16="http://schemas.microsoft.com/office/drawing/2014/main" id="{F533282F-C2DB-4E0F-9D2E-BCAEB404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27146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STOCKFISH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What move scores best?</a:t>
            </a:r>
          </a:p>
        </p:txBody>
      </p:sp>
      <p:sp>
        <p:nvSpPr>
          <p:cNvPr id="16" name="logician">
            <a:extLst xmlns:a="http://schemas.openxmlformats.org/drawingml/2006/main">
              <a:ext uri="{FF2B5EF4-FFF2-40B4-BE49-F238E27FC236}">
                <a16:creationId xmlns:a16="http://schemas.microsoft.com/office/drawing/2014/main" id="{4B089B21-DF7A-4BE7-83E9-00A7A8D4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7146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THE LOGICIAN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Which rule applies - and why now?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B4036BDE-6F05-4127-983E-5334CBE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PROLOG IS THE EXPLAINABLE BRIDGE BETWEEN POSITION STATE AND HUMAN GUIDANCE.</a:t>
            </a:r>
          </a:p>
        </p:txBody>
      </p:sp>
    </p:spTree>
    <p:extLst>
      <p:ext uri="{BB962C8B-B14F-4D97-AF65-F5344CB8AC3E}">
        <p14:creationId xmlns:p14="http://schemas.microsoft.com/office/powerpoint/2010/main" val="1667489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tripe-0">
            <a:extLst xmlns:a="http://schemas.openxmlformats.org/drawingml/2006/main">
              <a:ext uri="{FF2B5EF4-FFF2-40B4-BE49-F238E27FC236}">
                <a16:creationId xmlns:a16="http://schemas.microsoft.com/office/drawing/2014/main" id="{F4084AE1-9116-4421-9198-068F96F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4FAAA0CE-874D-404B-B8D0-10B2B81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70F4A4CE-73AB-45DF-8061-740DB20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4C83741C-D2C3-4236-AC43-2F585BD5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596E651D-544C-4051-8BCF-7E95E4C9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CBE65B94-D8CD-49B2-880E-88AB670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737527A2-562F-4D26-84D2-77B751E5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C057C265-F57F-4CD5-ABFA-907A980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2424DFF3-EA30-4F0E-BA68-0BD7623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E950B3B9-9A3E-4C2A-AEDF-BF97F64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PROLOG SPOTLIGHT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0773E8-D23E-4B45-8D0B-8498B83E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08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96D9CE8F-223B-46DA-B1C0-A7D77FB2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FACTS, RULES, AND ADVICE STAY SEPARATE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05C0554A-7433-4052-93CC-9A625DF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FACTS, RULES, AND ADVICE STAY SEPARATE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3CA4C12D-B460-47D9-955C-F20B7381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Priority is data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D1EF9CB-7163-453E-BDE3-C8241B6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s-card">
            <a:extLst xmlns:a="http://schemas.openxmlformats.org/drawingml/2006/main">
              <a:ext uri="{FF2B5EF4-FFF2-40B4-BE49-F238E27FC236}">
                <a16:creationId xmlns:a16="http://schemas.microsoft.com/office/drawing/2014/main" id="{01ED9311-30DD-483F-AAEC-179B22E6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86125" cy="3333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facts-heading">
            <a:extLst xmlns:a="http://schemas.openxmlformats.org/drawingml/2006/main">
              <a:ext uri="{FF2B5EF4-FFF2-40B4-BE49-F238E27FC236}">
                <a16:creationId xmlns:a16="http://schemas.microsoft.com/office/drawing/2014/main" id="{B357952D-4543-4BC3-9FA9-18EE2EF6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DYNAMIC FACTS</a:t>
            </a:r>
          </a:p>
        </p:txBody>
      </p:sp>
      <p:sp>
        <p:nvSpPr>
          <p:cNvPr id="18" name="facts-body">
            <a:extLst xmlns:a="http://schemas.openxmlformats.org/drawingml/2006/main">
              <a:ext uri="{FF2B5EF4-FFF2-40B4-BE49-F238E27FC236}">
                <a16:creationId xmlns:a16="http://schemas.microsoft.com/office/drawing/2014/main" id="{AA057639-6C92-4F8D-BB16-C68FEDFE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29432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piece(e4, white, pawn)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turn(white)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move_number(7)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attacked_by(c3, black)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defended_by(c3, white)</a:t>
            </a:r>
          </a:p>
        </p:txBody>
      </p:sp>
      <p:sp>
        <p:nvSpPr>
          <p:cNvPr id="19" name="concepts-card">
            <a:extLst xmlns:a="http://schemas.openxmlformats.org/drawingml/2006/main">
              <a:ext uri="{FF2B5EF4-FFF2-40B4-BE49-F238E27FC236}">
                <a16:creationId xmlns:a16="http://schemas.microsoft.com/office/drawing/2014/main" id="{1A1629C5-7CDC-429C-881E-225AABD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3286125" cy="3333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0" name="concepts-heading">
            <a:extLst xmlns:a="http://schemas.openxmlformats.org/drawingml/2006/main">
              <a:ext uri="{FF2B5EF4-FFF2-40B4-BE49-F238E27FC236}">
                <a16:creationId xmlns:a16="http://schemas.microsoft.com/office/drawing/2014/main" id="{C0C2EA09-87F6-421B-AF12-7829979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DERIVED CONCEPTS</a:t>
            </a:r>
          </a:p>
        </p:txBody>
      </p:sp>
      <p:sp>
        <p:nvSpPr>
          <p:cNvPr id="21" name="concepts-body">
            <a:extLst xmlns:a="http://schemas.openxmlformats.org/drawingml/2006/main">
              <a:ext uri="{FF2B5EF4-FFF2-40B4-BE49-F238E27FC236}">
                <a16:creationId xmlns:a16="http://schemas.microsoft.com/office/drawing/2014/main" id="{55BE1FD4-6B2F-4A28-AFD3-0EEA442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90825"/>
            <a:ext cx="29432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hanging_mine/2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free_capture/2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undeveloped_minor/2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needs_castling/0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no_center_presence/0</a:t>
            </a:r>
          </a:p>
        </p:txBody>
      </p:sp>
      <p:sp>
        <p:nvSpPr>
          <p:cNvPr id="22" name="advice-card">
            <a:extLst xmlns:a="http://schemas.openxmlformats.org/drawingml/2006/main">
              <a:ext uri="{FF2B5EF4-FFF2-40B4-BE49-F238E27FC236}">
                <a16:creationId xmlns:a16="http://schemas.microsoft.com/office/drawing/2014/main" id="{682B61FD-84A2-4EB5-B498-008210C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286125" cy="3333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3" name="advice-heading">
            <a:extLst xmlns:a="http://schemas.openxmlformats.org/drawingml/2006/main">
              <a:ext uri="{FF2B5EF4-FFF2-40B4-BE49-F238E27FC236}">
                <a16:creationId xmlns:a16="http://schemas.microsoft.com/office/drawing/2014/main" id="{A03013FC-30EA-47CC-BB89-2EFD1554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PRIORITIZED ADVICE</a:t>
            </a:r>
          </a:p>
        </p:txBody>
      </p:sp>
      <p:sp>
        <p:nvSpPr>
          <p:cNvPr id="24" name="advice-body">
            <a:extLst xmlns:a="http://schemas.openxmlformats.org/drawingml/2006/main">
              <a:ext uri="{FF2B5EF4-FFF2-40B4-BE49-F238E27FC236}">
                <a16:creationId xmlns:a16="http://schemas.microsoft.com/office/drawing/2014/main" id="{9734B60E-827F-4C6A-8BE4-1FD3A809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9432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99 safety / 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95 tactics / hanging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90 tactics / free capture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85 opening / castle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60 endgame / activate king</a:t>
            </a:r>
          </a:p>
        </p:txBody>
      </p:sp>
      <p:sp>
        <p:nvSpPr>
          <p:cNvPr id="25" name="meaning">
            <a:extLst xmlns:a="http://schemas.openxmlformats.org/drawingml/2006/main">
              <a:ext uri="{FF2B5EF4-FFF2-40B4-BE49-F238E27FC236}">
                <a16:creationId xmlns:a16="http://schemas.microsoft.com/office/drawing/2014/main" id="{47F8F0CC-A3B3-45DA-A62B-E591D026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The UI can sort deterministically because priority lives in the knowledge base - not in hidden model behavior.</a:t>
            </a:r>
          </a:p>
        </p:txBody>
      </p:sp>
    </p:spTree>
    <p:extLst>
      <p:ext uri="{BB962C8B-B14F-4D97-AF65-F5344CB8AC3E}">
        <p14:creationId xmlns:p14="http://schemas.microsoft.com/office/powerpoint/2010/main" val="329001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tripe-0">
            <a:extLst xmlns:a="http://schemas.openxmlformats.org/drawingml/2006/main">
              <a:ext uri="{FF2B5EF4-FFF2-40B4-BE49-F238E27FC236}">
                <a16:creationId xmlns:a16="http://schemas.microsoft.com/office/drawing/2014/main" id="{398C5EA9-6854-4DB0-8090-F76FDF69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57246BCB-DAB0-4BC9-A1A5-81B910C8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ABE83B52-5183-4F12-8737-1202F3E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37C413F7-69B2-49E6-A2FC-1EDCDBB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44562DCF-3FF3-490B-8AD6-753D8AC4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A158BB86-ABC0-41A3-BC7C-BAB1E182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AE4CE90A-9EA7-49A5-8AF3-9050AEC5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5CF165CE-79BA-45F2-A7EC-0EC7881E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B89FBB7B-B2B6-4F3C-9BAE-198462B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B46D0E83-CAF6-438D-843D-BF276AD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PROLOG BRIDGE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A348A4-D441-4108-AE41-4881FC9C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09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F779DEEC-5E21-41D6-87EA-4D11CCA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FEN BECOMES DECLARATIVE LOGIC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9D2A549-ED24-48E5-9A1E-1C4CB717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FEN BECOMES DECLARATIVE LOGIC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3A86F3F6-67B9-4076-BC7F-9C1FF1F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Imperative state -&gt; explicit facts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BF2660-4174-4923-B6A5-46A4C23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0">
            <a:extLst xmlns:a="http://schemas.openxmlformats.org/drawingml/2006/main">
              <a:ext uri="{FF2B5EF4-FFF2-40B4-BE49-F238E27FC236}">
                <a16:creationId xmlns:a16="http://schemas.microsoft.com/office/drawing/2014/main" id="{E944AE0B-DED1-4C01-8A7C-1D242E6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17" name="step-n-0">
            <a:extLst xmlns:a="http://schemas.openxmlformats.org/drawingml/2006/main">
              <a:ext uri="{FF2B5EF4-FFF2-40B4-BE49-F238E27FC236}">
                <a16:creationId xmlns:a16="http://schemas.microsoft.com/office/drawing/2014/main" id="{2AD3CECD-A867-4C3D-ACE2-B68E792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1</a:t>
            </a:r>
          </a:p>
        </p:txBody>
      </p:sp>
      <p:sp>
        <p:nvSpPr>
          <p:cNvPr id="1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304D61DD-0E5F-41A6-B075-02BEED1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FEN</a:t>
            </a:r>
          </a:p>
        </p:txBody>
      </p:sp>
      <p:sp>
        <p:nvSpPr>
          <p:cNvPr id="1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B217F22-EAA1-494C-9F9C-713382C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live board</a:t>
            </a:r>
          </a:p>
        </p:txBody>
      </p:sp>
      <p:sp>
        <p:nvSpPr>
          <p:cNvPr id="20" name="chev-0">
            <a:extLst xmlns:a="http://schemas.openxmlformats.org/drawingml/2006/main">
              <a:ext uri="{FF2B5EF4-FFF2-40B4-BE49-F238E27FC236}">
                <a16:creationId xmlns:a16="http://schemas.microsoft.com/office/drawing/2014/main" id="{95146400-2C26-4E12-828C-6AEB2486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71800"/>
            <a:ext cx="295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1" name="step-1">
            <a:extLst xmlns:a="http://schemas.openxmlformats.org/drawingml/2006/main">
              <a:ext uri="{FF2B5EF4-FFF2-40B4-BE49-F238E27FC236}">
                <a16:creationId xmlns:a16="http://schemas.microsoft.com/office/drawing/2014/main" id="{FBCFF1AF-ECCF-4748-B89B-58D224B3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22" name="step-n-1">
            <a:extLst xmlns:a="http://schemas.openxmlformats.org/drawingml/2006/main">
              <a:ext uri="{FF2B5EF4-FFF2-40B4-BE49-F238E27FC236}">
                <a16:creationId xmlns:a16="http://schemas.microsoft.com/office/drawing/2014/main" id="{B149BDC1-35AC-43AE-B32F-EC13F1C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2</a:t>
            </a:r>
          </a:p>
        </p:txBody>
      </p:sp>
      <p:sp>
        <p:nvSpPr>
          <p:cNvPr id="23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F10D051D-DADE-4D43-96ED-D2AFB7C3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PYTHON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CHESS</a:t>
            </a:r>
          </a:p>
        </p:txBody>
      </p:sp>
      <p:sp>
        <p:nvSpPr>
          <p:cNvPr id="2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C0CB266-8BA6-47BD-846D-1EF79F7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parse</a:t>
            </a:r>
          </a:p>
        </p:txBody>
      </p:sp>
      <p:sp>
        <p:nvSpPr>
          <p:cNvPr id="25" name="chev-1">
            <a:extLst xmlns:a="http://schemas.openxmlformats.org/drawingml/2006/main">
              <a:ext uri="{FF2B5EF4-FFF2-40B4-BE49-F238E27FC236}">
                <a16:creationId xmlns:a16="http://schemas.microsoft.com/office/drawing/2014/main" id="{170A9B7D-A84B-4660-A153-DA9ECAC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295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6" name="step-2">
            <a:extLst xmlns:a="http://schemas.openxmlformats.org/drawingml/2006/main">
              <a:ext uri="{FF2B5EF4-FFF2-40B4-BE49-F238E27FC236}">
                <a16:creationId xmlns:a16="http://schemas.microsoft.com/office/drawing/2014/main" id="{C927F617-6D1B-4418-9F10-E6149761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27" name="step-n-2">
            <a:extLst xmlns:a="http://schemas.openxmlformats.org/drawingml/2006/main">
              <a:ext uri="{FF2B5EF4-FFF2-40B4-BE49-F238E27FC236}">
                <a16:creationId xmlns:a16="http://schemas.microsoft.com/office/drawing/2014/main" id="{5C3C80E7-D70B-424A-A933-46D8C8D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3</a:t>
            </a:r>
          </a:p>
        </p:txBody>
      </p:sp>
      <p:sp>
        <p:nvSpPr>
          <p:cNvPr id="28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E7823279-F50E-4E45-8B8D-871779F8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ASSERT</a:t>
            </a:r>
          </a:p>
        </p:txBody>
      </p:sp>
      <p:sp>
        <p:nvSpPr>
          <p:cNvPr id="29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A66CAA8-F737-4743-A9A5-9D6FAA32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facts</a:t>
            </a:r>
          </a:p>
        </p:txBody>
      </p:sp>
      <p:sp>
        <p:nvSpPr>
          <p:cNvPr id="30" name="chev-2">
            <a:extLst xmlns:a="http://schemas.openxmlformats.org/drawingml/2006/main">
              <a:ext uri="{FF2B5EF4-FFF2-40B4-BE49-F238E27FC236}">
                <a16:creationId xmlns:a16="http://schemas.microsoft.com/office/drawing/2014/main" id="{FB49A325-2E83-4E00-A464-9D67AAD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71800"/>
            <a:ext cx="295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31" name="step-3">
            <a:extLst xmlns:a="http://schemas.openxmlformats.org/drawingml/2006/main">
              <a:ext uri="{FF2B5EF4-FFF2-40B4-BE49-F238E27FC236}">
                <a16:creationId xmlns:a16="http://schemas.microsoft.com/office/drawing/2014/main" id="{D535042C-4C14-4183-98A8-D05F8F92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32" name="step-n-3">
            <a:extLst xmlns:a="http://schemas.openxmlformats.org/drawingml/2006/main">
              <a:ext uri="{FF2B5EF4-FFF2-40B4-BE49-F238E27FC236}">
                <a16:creationId xmlns:a16="http://schemas.microsoft.com/office/drawing/2014/main" id="{631B3265-AD2F-4917-9B81-C94A6BC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4</a:t>
            </a:r>
          </a:p>
        </p:txBody>
      </p:sp>
      <p:sp>
        <p:nvSpPr>
          <p:cNvPr id="33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C896371-034E-4015-8D78-34B6221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QUERY</a:t>
            </a:r>
          </a:p>
        </p:txBody>
      </p:sp>
      <p:sp>
        <p:nvSpPr>
          <p:cNvPr id="3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C0376C3-4646-430D-B005-F0090E6A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advice(P,C,T)</a:t>
            </a:r>
          </a:p>
        </p:txBody>
      </p:sp>
      <p:sp>
        <p:nvSpPr>
          <p:cNvPr id="35" name="chev-3">
            <a:extLst xmlns:a="http://schemas.openxmlformats.org/drawingml/2006/main">
              <a:ext uri="{FF2B5EF4-FFF2-40B4-BE49-F238E27FC236}">
                <a16:creationId xmlns:a16="http://schemas.microsoft.com/office/drawing/2014/main" id="{75DDCB36-D801-4808-955F-E16B565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295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36" name="step-4">
            <a:extLst xmlns:a="http://schemas.openxmlformats.org/drawingml/2006/main">
              <a:ext uri="{FF2B5EF4-FFF2-40B4-BE49-F238E27FC236}">
                <a16:creationId xmlns:a16="http://schemas.microsoft.com/office/drawing/2014/main" id="{80E7F854-22D6-4DDD-9B3B-BBBEF508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37" name="step-n-4">
            <a:extLst xmlns:a="http://schemas.openxmlformats.org/drawingml/2006/main">
              <a:ext uri="{FF2B5EF4-FFF2-40B4-BE49-F238E27FC236}">
                <a16:creationId xmlns:a16="http://schemas.microsoft.com/office/drawing/2014/main" id="{D0A20330-B2B6-4F7D-A1F2-0D8E409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5</a:t>
            </a:r>
          </a:p>
        </p:txBody>
      </p:sp>
      <p:sp>
        <p:nvSpPr>
          <p:cNvPr id="38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7C3D1312-65E4-446C-88CC-519812D7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JSON</a:t>
            </a:r>
          </a:p>
        </p:txBody>
      </p:sp>
      <p:sp>
        <p:nvSpPr>
          <p:cNvPr id="39" name="step-body-4">
            <a:extLst xmlns:a="http://schemas.openxmlformats.org/drawingml/2006/main">
              <a:ext uri="{FF2B5EF4-FFF2-40B4-BE49-F238E27FC236}">
                <a16:creationId xmlns:a16="http://schemas.microsoft.com/office/drawing/2014/main" id="{A3F1C465-F95A-4503-AD8D-84DE056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top 6 sorted</a:t>
            </a:r>
          </a:p>
        </p:txBody>
      </p:sp>
      <p:sp>
        <p:nvSpPr>
          <p:cNvPr id="40" name="chev-4">
            <a:extLst xmlns:a="http://schemas.openxmlformats.org/drawingml/2006/main">
              <a:ext uri="{FF2B5EF4-FFF2-40B4-BE49-F238E27FC236}">
                <a16:creationId xmlns:a16="http://schemas.microsoft.com/office/drawing/2014/main" id="{ED5E13FF-7D27-4252-88B0-9939A13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71800"/>
            <a:ext cx="295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7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41" name="step-5">
            <a:extLst xmlns:a="http://schemas.openxmlformats.org/drawingml/2006/main">
              <a:ext uri="{FF2B5EF4-FFF2-40B4-BE49-F238E27FC236}">
                <a16:creationId xmlns:a16="http://schemas.microsoft.com/office/drawing/2014/main" id="{17705C74-812B-4B91-8382-1F65D6B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571625" cy="16192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42" name="step-n-5">
            <a:extLst xmlns:a="http://schemas.openxmlformats.org/drawingml/2006/main">
              <a:ext uri="{FF2B5EF4-FFF2-40B4-BE49-F238E27FC236}">
                <a16:creationId xmlns:a16="http://schemas.microsoft.com/office/drawing/2014/main" id="{BEAB55FF-C6C9-422D-AB0B-F4E0BF43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9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6</a:t>
            </a:r>
          </a:p>
        </p:txBody>
      </p:sp>
      <p:sp>
        <p:nvSpPr>
          <p:cNvPr id="43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F4900137-40DC-4880-858F-6E07284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480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0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LOGICIAN</a:t>
            </a:r>
          </a:p>
        </p:txBody>
      </p:sp>
      <p:sp>
        <p:nvSpPr>
          <p:cNvPr id="4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40E270A0-5C8B-4703-91D7-E31ABC2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76625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category + reason</a:t>
            </a:r>
          </a:p>
        </p:txBody>
      </p:sp>
      <p:sp>
        <p:nvSpPr>
          <p:cNvPr id="45" name="lock">
            <a:extLst xmlns:a="http://schemas.openxmlformats.org/drawingml/2006/main">
              <a:ext uri="{FF2B5EF4-FFF2-40B4-BE49-F238E27FC236}">
                <a16:creationId xmlns:a16="http://schemas.microsoft.com/office/drawing/2014/main" id="{A9105F88-38F3-459B-AFC9-88ED02A1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1000125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CONCURRENCY SAFEGUARD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A lock protects the shared Prolog instance while old facts are retracted, new facts are asserted, and the query runs.</a:t>
            </a:r>
          </a:p>
        </p:txBody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A223CBB7-3581-4B06-8441-B701159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PROLOG REMAINS OBSERVATIONAL: IT NEVER EXECUTES A CHESS MOVE.</a:t>
            </a:r>
          </a:p>
        </p:txBody>
      </p:sp>
    </p:spTree>
    <p:extLst>
      <p:ext uri="{BB962C8B-B14F-4D97-AF65-F5344CB8AC3E}">
        <p14:creationId xmlns:p14="http://schemas.microsoft.com/office/powerpoint/2010/main" val="382144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tripe-0">
            <a:extLst xmlns:a="http://schemas.openxmlformats.org/drawingml/2006/main">
              <a:ext uri="{FF2B5EF4-FFF2-40B4-BE49-F238E27FC236}">
                <a16:creationId xmlns:a16="http://schemas.microsoft.com/office/drawing/2014/main" id="{12E9028A-1110-4555-853D-AF1F7D2F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158D1CE4-F5F9-44B2-8637-8D014201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BA1BBF67-26DA-4A23-ADB8-9745F56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E5587F86-A4F3-49F9-8324-D71E8DE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D36BDECA-6255-45C2-8E06-E35D67C5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4E717E4B-B1FB-4403-849D-FDAA7CE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F69AEC0D-71DE-4A56-824D-5A1ABF8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464AE1B6-2753-489A-BE53-B7D9059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0451A8D2-5FDC-4FF4-ABD0-B194BC35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DDD3AB68-3F03-4015-B56C-8851504D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PROLOG EXAMPLE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6C35E5-9A83-4F6F-AB43-A762F05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10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5B8C3558-6FDB-456B-8095-1CA868D4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A HANGING BISHOP BECOMES PRIORITY 95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D383613-9C1D-40C7-AA31-26C07FF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A HANGING BISHOP BECOMES PRIORITY 95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BA1CD80F-2793-44A3-B656-FC11669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Every phrase is grounded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7CE2B1-319F-4A26-8E51-8733E146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sserted-card">
            <a:extLst xmlns:a="http://schemas.openxmlformats.org/drawingml/2006/main">
              <a:ext uri="{FF2B5EF4-FFF2-40B4-BE49-F238E27FC236}">
                <a16:creationId xmlns:a16="http://schemas.microsoft.com/office/drawing/2014/main" id="{3A3F3B2F-3EFB-4A5F-B218-17552B44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33387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asserted-heading">
            <a:extLst xmlns:a="http://schemas.openxmlformats.org/drawingml/2006/main">
              <a:ext uri="{FF2B5EF4-FFF2-40B4-BE49-F238E27FC236}">
                <a16:creationId xmlns:a16="http://schemas.microsoft.com/office/drawing/2014/main" id="{68022DB2-4BC5-4B69-91AF-77AD543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95525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ASSERTED FACTS</a:t>
            </a:r>
          </a:p>
        </p:txBody>
      </p:sp>
      <p:sp>
        <p:nvSpPr>
          <p:cNvPr id="18" name="asserted-body">
            <a:extLst xmlns:a="http://schemas.openxmlformats.org/drawingml/2006/main">
              <a:ext uri="{FF2B5EF4-FFF2-40B4-BE49-F238E27FC236}">
                <a16:creationId xmlns:a16="http://schemas.microsoft.com/office/drawing/2014/main" id="{129E3A44-1BD7-4681-ADD0-C4ED9B8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0825"/>
            <a:ext cx="399097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turn(white).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piece(c3, white, bishop).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attacked_by(c3, black).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% no defended_by(c3, white).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hanging_mine(c3, bishop).</a:t>
            </a:r>
          </a:p>
        </p:txBody>
      </p:sp>
      <p:sp>
        <p:nvSpPr>
          <p:cNvPr id="19" name="big-arrow">
            <a:extLst xmlns:a="http://schemas.openxmlformats.org/drawingml/2006/main">
              <a:ext uri="{FF2B5EF4-FFF2-40B4-BE49-F238E27FC236}">
                <a16:creationId xmlns:a16="http://schemas.microsoft.com/office/drawing/2014/main" id="{C251904F-FDEA-40C7-A825-62FD24E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78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650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4650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rPr>
              <a:t>&gt;</a:t>
            </a:r>
          </a:p>
        </p:txBody>
      </p:sp>
      <p:sp>
        <p:nvSpPr>
          <p:cNvPr id="20" name="result-box">
            <a:extLst xmlns:a="http://schemas.openxmlformats.org/drawingml/2006/main">
              <a:ext uri="{FF2B5EF4-FFF2-40B4-BE49-F238E27FC236}">
                <a16:creationId xmlns:a16="http://schemas.microsoft.com/office/drawing/2014/main" id="{733348B1-FD73-45F7-A91A-797590DD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1435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28575">
            <a:solidFill>
              <a:srgbClr val="FF6B18"/>
            </a:solidFill>
            <a:prstDash val="solid"/>
          </a:ln>
        </p:spPr>
      </p:sp>
      <p:sp>
        <p:nvSpPr>
          <p:cNvPr id="21" name="priority">
            <a:extLst xmlns:a="http://schemas.openxmlformats.org/drawingml/2006/main">
              <a:ext uri="{FF2B5EF4-FFF2-40B4-BE49-F238E27FC236}">
                <a16:creationId xmlns:a16="http://schemas.microsoft.com/office/drawing/2014/main" id="{9EDF8865-E3F6-447B-8DDD-6582E18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575" b="1" i="0">
                <a:solidFill>
                  <a:srgbClr val="FF6B18"/>
                </a:solidFill>
                <a:latin typeface="Futura Condensed ExtraBold"/>
                <a:ea typeface="Futura Condensed ExtraBold"/>
                <a:cs typeface="Futura Condensed ExtraBold"/>
              </a:rPr>
              <a:t>TACTICS / PRIORITY 95</a:t>
            </a:r>
          </a:p>
        </p:txBody>
      </p:sp>
      <p:sp>
        <p:nvSpPr>
          <p:cNvPr id="22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86140048-4C8E-46B5-8A9F-7655252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3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YOUR BISHOP ON C3 IS ATTACKED AND UNDEFENDED - DEFEND IT OR MOVE IT.</a:t>
            </a:r>
          </a:p>
        </p:txBody>
      </p:sp>
      <p:sp>
        <p:nvSpPr>
          <p:cNvPr id="23" name="explain">
            <a:extLst xmlns:a="http://schemas.openxmlformats.org/drawingml/2006/main">
              <a:ext uri="{FF2B5EF4-FFF2-40B4-BE49-F238E27FC236}">
                <a16:creationId xmlns:a16="http://schemas.microsoft.com/office/drawing/2014/main" id="{E0FE5E07-FC60-47CC-AC9F-A72C0A4C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WHY THIS IS EXPLAINABLE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The advice names a visible predicate, a named rule, and a deterministic priority.</a:t>
            </a:r>
          </a:p>
        </p:txBody>
      </p:sp>
    </p:spTree>
    <p:extLst>
      <p:ext uri="{BB962C8B-B14F-4D97-AF65-F5344CB8AC3E}">
        <p14:creationId xmlns:p14="http://schemas.microsoft.com/office/powerpoint/2010/main" val="18485178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tripe-0">
            <a:extLst xmlns:a="http://schemas.openxmlformats.org/drawingml/2006/main">
              <a:ext uri="{FF2B5EF4-FFF2-40B4-BE49-F238E27FC236}">
                <a16:creationId xmlns:a16="http://schemas.microsoft.com/office/drawing/2014/main" id="{FABF9F6D-B983-4EBA-9FEF-939517A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09A44669-5202-4B1F-984A-590CDB4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CEDC19B3-9ED0-4E3E-9FB7-009D99CB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50B7193E-861E-4EB2-AFD6-E6658EA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C9BB49F7-74C0-434A-AD13-1331CA8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26BBB624-F1A1-4C06-A1BA-540CBE1C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6107EC54-C705-4623-9AD8-41E7175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FF0C96F1-E4AD-4CC3-B6D9-F506EB6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5C3F05EA-E111-4136-B725-ECACBE63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B2722D91-2A79-4384-ADF4-67F49B03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HYBRID AI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132424-F702-40BB-B0E3-8E668D65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11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431E67DC-96F3-4EFF-B1F9-4ED040A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EACH ENGINE OWNS THE JOB IT DOES BEST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A32688A-2747-4B21-BCE6-EDAEC2E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EACH ENGINE OWNS THE JOB IT DOES BEST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7FE335C0-2C64-474A-A4ED-6F56CEC4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One system, three strengths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75B76D-878D-4507-B1D9-E07B67A7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f-card">
            <a:extLst xmlns:a="http://schemas.openxmlformats.org/drawingml/2006/main">
              <a:ext uri="{FF2B5EF4-FFF2-40B4-BE49-F238E27FC236}">
                <a16:creationId xmlns:a16="http://schemas.microsoft.com/office/drawing/2014/main" id="{379CF055-EF16-4D6B-AE03-676BFCB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86125" cy="3476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sf-heading">
            <a:extLst xmlns:a="http://schemas.openxmlformats.org/drawingml/2006/main">
              <a:ext uri="{FF2B5EF4-FFF2-40B4-BE49-F238E27FC236}">
                <a16:creationId xmlns:a16="http://schemas.microsoft.com/office/drawing/2014/main" id="{A8F5743F-9727-4C94-A91F-A0812B1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STOCKFISH</a:t>
            </a:r>
          </a:p>
        </p:txBody>
      </p:sp>
      <p:sp>
        <p:nvSpPr>
          <p:cNvPr id="18" name="sf-body">
            <a:extLst xmlns:a="http://schemas.openxmlformats.org/drawingml/2006/main">
              <a:ext uri="{FF2B5EF4-FFF2-40B4-BE49-F238E27FC236}">
                <a16:creationId xmlns:a16="http://schemas.microsoft.com/office/drawing/2014/main" id="{B5AA3BF7-E8D4-4DA6-833A-D94A53A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2943225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Search and 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Best move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STRENGTH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Tactical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LIMIT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Hard to narrate directly</a:t>
            </a:r>
          </a:p>
        </p:txBody>
      </p:sp>
      <p:sp>
        <p:nvSpPr>
          <p:cNvPr id="19" name="pl-card">
            <a:extLst xmlns:a="http://schemas.openxmlformats.org/drawingml/2006/main">
              <a:ext uri="{FF2B5EF4-FFF2-40B4-BE49-F238E27FC236}">
                <a16:creationId xmlns:a16="http://schemas.microsoft.com/office/drawing/2014/main" id="{E548A13A-3C09-428A-90B8-EDEE771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3286125" cy="3476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0" name="pl-heading">
            <a:extLst xmlns:a="http://schemas.openxmlformats.org/drawingml/2006/main">
              <a:ext uri="{FF2B5EF4-FFF2-40B4-BE49-F238E27FC236}">
                <a16:creationId xmlns:a16="http://schemas.microsoft.com/office/drawing/2014/main" id="{B60A1E0D-5678-4FEC-8BF9-37A5988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PROLOG</a:t>
            </a:r>
          </a:p>
        </p:txBody>
      </p:sp>
      <p:sp>
        <p:nvSpPr>
          <p:cNvPr id="21" name="pl-body">
            <a:extLst xmlns:a="http://schemas.openxmlformats.org/drawingml/2006/main">
              <a:ext uri="{FF2B5EF4-FFF2-40B4-BE49-F238E27FC236}">
                <a16:creationId xmlns:a16="http://schemas.microsoft.com/office/drawing/2014/main" id="{DD5679D1-C3B0-4E5A-9909-2BA23CEC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90825"/>
            <a:ext cx="2943225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Rules and explanation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Ranked advice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STRENGTH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Transparent logic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LIMIT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Narrow encoded knowledge</a:t>
            </a:r>
          </a:p>
        </p:txBody>
      </p:sp>
      <p:sp>
        <p:nvSpPr>
          <p:cNvPr id="22" name="llm-card">
            <a:extLst xmlns:a="http://schemas.openxmlformats.org/drawingml/2006/main">
              <a:ext uri="{FF2B5EF4-FFF2-40B4-BE49-F238E27FC236}">
                <a16:creationId xmlns:a16="http://schemas.microsoft.com/office/drawing/2014/main" id="{E8491D05-9620-44B8-9C44-0ED1745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286125" cy="3476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3" name="llm-heading">
            <a:extLst xmlns:a="http://schemas.openxmlformats.org/drawingml/2006/main">
              <a:ext uri="{FF2B5EF4-FFF2-40B4-BE49-F238E27FC236}">
                <a16:creationId xmlns:a16="http://schemas.microsoft.com/office/drawing/2014/main" id="{88B6B10B-9A24-4674-ABE5-E67AE961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LLM COACH</a:t>
            </a:r>
          </a:p>
        </p:txBody>
      </p:sp>
      <p:sp>
        <p:nvSpPr>
          <p:cNvPr id="24" name="llm-body">
            <a:extLst xmlns:a="http://schemas.openxmlformats.org/drawingml/2006/main">
              <a:ext uri="{FF2B5EF4-FFF2-40B4-BE49-F238E27FC236}">
                <a16:creationId xmlns:a16="http://schemas.microsoft.com/office/drawing/2014/main" id="{39E0E811-6445-433E-BE4B-9782633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943225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Dialogue and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Natural coaching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STRENGTH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Flexible communication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LIMIT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Needs grounding + fallback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97C4C777-AD53-46A8-B7B9-0FB7079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HYBRID DESIGN TURNS ONE OPAQUE 'AI' INTO ACCOUNTABLE, COMPOSABLE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08400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tripe-0">
            <a:extLst xmlns:a="http://schemas.openxmlformats.org/drawingml/2006/main">
              <a:ext uri="{FF2B5EF4-FFF2-40B4-BE49-F238E27FC236}">
                <a16:creationId xmlns:a16="http://schemas.microsoft.com/office/drawing/2014/main" id="{3FFA4462-2B00-41A9-8CA2-49CE2EC2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6E105F93-6B29-4190-9EBA-E88291A8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074A95B2-C358-4884-9E94-71482117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94AA3AB6-37C7-455A-9EA7-7DE1105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B1C478CA-902C-4EFF-BD7E-6C0F036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E00B2F32-916D-42D2-890A-ECFF68E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852DE05B-7B30-4AAB-AFB7-D99FB25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89E8BA9F-03D3-44FB-A775-930D462F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3670D1EB-2CF7-4E04-A22F-19E8DE22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A3767EED-8C04-418D-9B68-B933DC0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CURRENT UPDATE / AI LAB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CFFDAE-6DA3-421B-97F6-CF87FC7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12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924633A2-89C8-4013-83FE-487C118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SEARCH BEHAVIOR BECOMES INSPECTABLE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98F0B0A-0541-4647-A2B8-F54FBEA1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SEARCH BEHAVIOR BECOMES INSPECTABLE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9C80D916-4466-4026-A0D6-3CFBCBAC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Live analysis, not a black box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9A5D052-E6D8-4103-81AE-CA6ABC69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f7649fdeb4c1a"/>
          <a:srcRect xmlns:a="http://schemas.openxmlformats.org/drawingml/2006/main" l="7565" t="0" r="7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95450"/>
            <a:ext cx="4381500" cy="5162550"/>
          </a:xfrm>
          <a:prstGeom xmlns:a="http://schemas.openxmlformats.org/drawingml/2006/main" prst="rect">
            <a:avLst/>
          </a:prstGeom>
        </p:spPr>
      </p:pic>
      <p:sp>
        <p:nvSpPr>
          <p:cNvPr id="17" name="lab-row-0">
            <a:extLst xmlns:a="http://schemas.openxmlformats.org/drawingml/2006/main">
              <a:ext uri="{FF2B5EF4-FFF2-40B4-BE49-F238E27FC236}">
                <a16:creationId xmlns:a16="http://schemas.microsoft.com/office/drawing/2014/main" id="{BA16B0BE-5E26-46A7-B236-E1CAF59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1987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18" name="lab-h-0">
            <a:extLst xmlns:a="http://schemas.openxmlformats.org/drawingml/2006/main">
              <a:ext uri="{FF2B5EF4-FFF2-40B4-BE49-F238E27FC236}">
                <a16:creationId xmlns:a16="http://schemas.microsoft.com/office/drawing/2014/main" id="{E93B0CCB-8291-4B71-99EC-89BC58D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LIVE-GAME SCOPE</a:t>
            </a:r>
          </a:p>
        </p:txBody>
      </p:sp>
      <p:sp>
        <p:nvSpPr>
          <p:cNvPr id="19" name="lab-b-0">
            <a:extLst xmlns:a="http://schemas.openxmlformats.org/drawingml/2006/main">
              <a:ext uri="{FF2B5EF4-FFF2-40B4-BE49-F238E27FC236}">
                <a16:creationId xmlns:a16="http://schemas.microsoft.com/office/drawing/2014/main" id="{16CBECDB-1B51-4665-BB50-0F09F48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Analysis waits for the first real move and follows the current position.</a:t>
            </a:r>
          </a:p>
        </p:txBody>
      </p:sp>
      <p:sp>
        <p:nvSpPr>
          <p:cNvPr id="20" name="lab-row-1">
            <a:extLst xmlns:a="http://schemas.openxmlformats.org/drawingml/2006/main">
              <a:ext uri="{FF2B5EF4-FFF2-40B4-BE49-F238E27FC236}">
                <a16:creationId xmlns:a16="http://schemas.microsoft.com/office/drawing/2014/main" id="{745B4A6B-55B5-4C56-A303-0901E08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661987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1" name="lab-h-1">
            <a:extLst xmlns:a="http://schemas.openxmlformats.org/drawingml/2006/main">
              <a:ext uri="{FF2B5EF4-FFF2-40B4-BE49-F238E27FC236}">
                <a16:creationId xmlns:a16="http://schemas.microsoft.com/office/drawing/2014/main" id="{E7145746-71A0-4623-BB7B-3F709763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86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TWO ALGORITHMS</a:t>
            </a:r>
          </a:p>
        </p:txBody>
      </p:sp>
      <p:sp>
        <p:nvSpPr>
          <p:cNvPr id="22" name="lab-b-1">
            <a:extLst xmlns:a="http://schemas.openxmlformats.org/drawingml/2006/main">
              <a:ext uri="{FF2B5EF4-FFF2-40B4-BE49-F238E27FC236}">
                <a16:creationId xmlns:a16="http://schemas.microsoft.com/office/drawing/2014/main" id="{99C0635C-8D35-463D-A363-3AA4C57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7657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Switch between Minimax branch-and-prune traces and MCTS rollouts.</a:t>
            </a:r>
          </a:p>
        </p:txBody>
      </p:sp>
      <p:sp>
        <p:nvSpPr>
          <p:cNvPr id="23" name="lab-row-2">
            <a:extLst xmlns:a="http://schemas.openxmlformats.org/drawingml/2006/main">
              <a:ext uri="{FF2B5EF4-FFF2-40B4-BE49-F238E27FC236}">
                <a16:creationId xmlns:a16="http://schemas.microsoft.com/office/drawing/2014/main" id="{9CD43B18-29A3-40EF-B673-98C750EA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661987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4" name="lab-h-2">
            <a:extLst xmlns:a="http://schemas.openxmlformats.org/drawingml/2006/main">
              <a:ext uri="{FF2B5EF4-FFF2-40B4-BE49-F238E27FC236}">
                <a16:creationId xmlns:a16="http://schemas.microsoft.com/office/drawing/2014/main" id="{21ACCEB6-4F21-428C-8847-8696D49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TWO VIEWS</a:t>
            </a:r>
          </a:p>
        </p:txBody>
      </p:sp>
      <p:sp>
        <p:nvSpPr>
          <p:cNvPr id="25" name="lab-b-2">
            <a:extLst xmlns:a="http://schemas.openxmlformats.org/drawingml/2006/main">
              <a:ext uri="{FF2B5EF4-FFF2-40B4-BE49-F238E27FC236}">
                <a16:creationId xmlns:a16="http://schemas.microsoft.com/office/drawing/2014/main" id="{4E88B43B-92D2-41E2-8FBA-0A38967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Inspect the position as a board or orbit the 3D search graph.</a:t>
            </a:r>
          </a:p>
        </p:txBody>
      </p:sp>
      <p:sp>
        <p:nvSpPr>
          <p:cNvPr id="26" name="lab-row-3">
            <a:extLst xmlns:a="http://schemas.openxmlformats.org/drawingml/2006/main">
              <a:ext uri="{FF2B5EF4-FFF2-40B4-BE49-F238E27FC236}">
                <a16:creationId xmlns:a16="http://schemas.microsoft.com/office/drawing/2014/main" id="{0A214D1D-A98C-4735-BB7D-9C4B579C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52975"/>
            <a:ext cx="661987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7" name="lab-h-3">
            <a:extLst xmlns:a="http://schemas.openxmlformats.org/drawingml/2006/main">
              <a:ext uri="{FF2B5EF4-FFF2-40B4-BE49-F238E27FC236}">
                <a16:creationId xmlns:a16="http://schemas.microsoft.com/office/drawing/2014/main" id="{F225B945-D643-485E-878D-83E4FB2F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42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VISIBLE WORK</a:t>
            </a:r>
          </a:p>
        </p:txBody>
      </p:sp>
      <p:sp>
        <p:nvSpPr>
          <p:cNvPr id="28" name="lab-b-3">
            <a:extLst xmlns:a="http://schemas.openxmlformats.org/drawingml/2006/main">
              <a:ext uri="{FF2B5EF4-FFF2-40B4-BE49-F238E27FC236}">
                <a16:creationId xmlns:a16="http://schemas.microsoft.com/office/drawing/2014/main" id="{C62C8EA7-267E-4F4A-AFEB-3190014D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Surface depth, evaluated leaves, rollouts, root visits, and pruned branches.</a:t>
            </a:r>
          </a:p>
        </p:txBody>
      </p:sp>
      <p:sp>
        <p:nvSpPr>
          <p:cNvPr id="29" name="update-note">
            <a:extLst xmlns:a="http://schemas.openxmlformats.org/drawingml/2006/main">
              <a:ext uri="{FF2B5EF4-FFF2-40B4-BE49-F238E27FC236}">
                <a16:creationId xmlns:a16="http://schemas.microsoft.com/office/drawing/2014/main" id="{956567A9-53BF-423F-B9E3-8DA63B6D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CURRENT CHECKOUT: the full-width component follows the live position and waits for the first real move.</a:t>
            </a:r>
          </a:p>
        </p:txBody>
      </p:sp>
    </p:spTree>
    <p:extLst>
      <p:ext uri="{BB962C8B-B14F-4D97-AF65-F5344CB8AC3E}">
        <p14:creationId xmlns:p14="http://schemas.microsoft.com/office/powerpoint/2010/main" val="1937439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tripe-0">
            <a:extLst xmlns:a="http://schemas.openxmlformats.org/drawingml/2006/main">
              <a:ext uri="{FF2B5EF4-FFF2-40B4-BE49-F238E27FC236}">
                <a16:creationId xmlns:a16="http://schemas.microsoft.com/office/drawing/2014/main" id="{72535229-6155-4BF0-A80E-2587B5C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ED7B2130-E183-45F3-BCE2-B4ADB0A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1A4B0B67-1BE6-4023-9717-482FB80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EBF2AAAA-4F0B-46F9-BCFC-2105CE8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CB52F371-0673-431A-BEAE-377375C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A3B1845A-610C-4E30-9444-4157C5F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09904B46-7B34-4451-B679-08E824F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43E3184F-86B7-4F2D-9916-8D8EFDE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96063638-BA4A-4618-824B-C34D9369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05928630-AAF6-433C-AAE5-7172181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CURRENT UPDATE / BENCHMARKS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CD04C4-6CE6-4A72-A7CC-B83BFBAF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13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77D8F4E4-FDBA-4317-AEC4-5FB18669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SEARCH TRADE-OFFS ARE MEASURABLE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6D204C5-2EBC-4D91-BAAE-127BED8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SEARCH TRADE-OFFS ARE MEASURABLE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83E4919C-CF13-4CA8-9C9B-F047C9D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One position, six depths, two algorithms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EF2445-A482-444E-983C-1838344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nchmark-context">
            <a:extLst xmlns:a="http://schemas.openxmlformats.org/drawingml/2006/main">
              <a:ext uri="{FF2B5EF4-FFF2-40B4-BE49-F238E27FC236}">
                <a16:creationId xmlns:a16="http://schemas.microsoft.com/office/drawing/2014/main" id="{5A47B6BD-4DAE-4323-9E66-E2DEEA95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OPENING RESPONSE / DEPTH 6 / 5 SAMPLES + 2 WARMUPS</a:t>
            </a:r>
          </a:p>
        </p:txBody>
      </p:sp>
      <p:sp>
        <p:nvSpPr>
          <p:cNvPr id="17" name="metric-0-card">
            <a:extLst xmlns:a="http://schemas.openxmlformats.org/drawingml/2006/main">
              <a:ext uri="{FF2B5EF4-FFF2-40B4-BE49-F238E27FC236}">
                <a16:creationId xmlns:a16="http://schemas.microsoft.com/office/drawing/2014/main" id="{2FEC64D9-DFA3-4195-8139-79E27A92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8137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8" name="metric-0-heading">
            <a:extLst xmlns:a="http://schemas.openxmlformats.org/drawingml/2006/main">
              <a:ext uri="{FF2B5EF4-FFF2-40B4-BE49-F238E27FC236}">
                <a16:creationId xmlns:a16="http://schemas.microsoft.com/office/drawing/2014/main" id="{BD470F81-B3E5-4584-8885-551C5F94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03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25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MINIMAX</a:t>
            </a:r>
          </a:p>
        </p:txBody>
      </p:sp>
      <p:sp>
        <p:nvSpPr>
          <p:cNvPr id="19" name="metric-0-body">
            <a:extLst xmlns:a="http://schemas.openxmlformats.org/drawingml/2006/main">
              <a:ext uri="{FF2B5EF4-FFF2-40B4-BE49-F238E27FC236}">
                <a16:creationId xmlns:a16="http://schemas.microsoft.com/office/drawing/2014/main" id="{84D4F21B-7971-4F26-9B34-639A9B1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0384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837.8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1,103 evaluated leaves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1,572 pruned branches</a:t>
            </a:r>
          </a:p>
        </p:txBody>
      </p:sp>
      <p:sp>
        <p:nvSpPr>
          <p:cNvPr id="20" name="metric-1-card">
            <a:extLst xmlns:a="http://schemas.openxmlformats.org/drawingml/2006/main">
              <a:ext uri="{FF2B5EF4-FFF2-40B4-BE49-F238E27FC236}">
                <a16:creationId xmlns:a16="http://schemas.microsoft.com/office/drawing/2014/main" id="{1456670E-165C-40C2-970D-BB61FA7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8137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1" name="metric-1-heading">
            <a:extLst xmlns:a="http://schemas.openxmlformats.org/drawingml/2006/main">
              <a:ext uri="{FF2B5EF4-FFF2-40B4-BE49-F238E27FC236}">
                <a16:creationId xmlns:a16="http://schemas.microsoft.com/office/drawing/2014/main" id="{A659E7C9-F2B7-478C-AF59-FAFA23AB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303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250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MCTS</a:t>
            </a:r>
          </a:p>
        </p:txBody>
      </p:sp>
      <p:sp>
        <p:nvSpPr>
          <p:cNvPr id="22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877F8158-C6F5-4DC3-9280-CDEFB59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30384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578.7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144 rollout work units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145 search nodes</a:t>
            </a:r>
          </a:p>
        </p:txBody>
      </p:sp>
      <p:sp>
        <p:nvSpPr>
          <p:cNvPr id="23" name="mini-bg">
            <a:extLst xmlns:a="http://schemas.openxmlformats.org/drawingml/2006/main">
              <a:ext uri="{FF2B5EF4-FFF2-40B4-BE49-F238E27FC236}">
                <a16:creationId xmlns:a16="http://schemas.microsoft.com/office/drawing/2014/main" id="{1F6EF574-6C30-4884-BEE8-D5C42BC9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4" name="mini">
            <a:extLst xmlns:a="http://schemas.openxmlformats.org/drawingml/2006/main">
              <a:ext uri="{FF2B5EF4-FFF2-40B4-BE49-F238E27FC236}">
                <a16:creationId xmlns:a16="http://schemas.microsoft.com/office/drawing/2014/main" id="{683AE017-7BFA-40D4-8051-A0B31630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label">
            <a:extLst xmlns:a="http://schemas.openxmlformats.org/drawingml/2006/main">
              <a:ext uri="{FF2B5EF4-FFF2-40B4-BE49-F238E27FC236}">
                <a16:creationId xmlns:a16="http://schemas.microsoft.com/office/drawing/2014/main" id="{F5195DA5-C443-42C5-ABE6-E4C90F5D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1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MINIMAX  837.8 ms</a:t>
            </a:r>
          </a:p>
        </p:txBody>
      </p:sp>
      <p:sp>
        <p:nvSpPr>
          <p:cNvPr id="26" name="mcts-bg">
            <a:extLst xmlns:a="http://schemas.openxmlformats.org/drawingml/2006/main">
              <a:ext uri="{FF2B5EF4-FFF2-40B4-BE49-F238E27FC236}">
                <a16:creationId xmlns:a16="http://schemas.microsoft.com/office/drawing/2014/main" id="{D17DCF17-9D2C-4FDD-A55B-63DCF9CA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857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DE4C9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7" name="mcts">
            <a:extLst xmlns:a="http://schemas.openxmlformats.org/drawingml/2006/main">
              <a:ext uri="{FF2B5EF4-FFF2-40B4-BE49-F238E27FC236}">
                <a16:creationId xmlns:a16="http://schemas.microsoft.com/office/drawing/2014/main" id="{D147648B-5E14-471A-88EC-961043C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9716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cts-label">
            <a:extLst xmlns:a="http://schemas.openxmlformats.org/drawingml/2006/main">
              <a:ext uri="{FF2B5EF4-FFF2-40B4-BE49-F238E27FC236}">
                <a16:creationId xmlns:a16="http://schemas.microsoft.com/office/drawing/2014/main" id="{71F79578-0F29-48FA-9901-BA86466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12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MCTS  578.7 ms</a:t>
            </a:r>
          </a:p>
        </p:txBody>
      </p:sp>
      <p:sp>
        <p:nvSpPr>
          <p:cNvPr id="29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86A73D3A-B676-4C2D-BD02-2801CED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3238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Interpretation: workload definitions differ - Minimax counts evaluated leaves; MCTS counts rollout iterations. The UI exposes both instead of forcing a misleading single ranking.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969E2F48-14F6-4048-A776-D076A64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BENCHMARK GENERATED 2026-08-15 / LOCAL TRACE BUILDERS</a:t>
            </a:r>
          </a:p>
        </p:txBody>
      </p:sp>
    </p:spTree>
    <p:extLst>
      <p:ext uri="{BB962C8B-B14F-4D97-AF65-F5344CB8AC3E}">
        <p14:creationId xmlns:p14="http://schemas.microsoft.com/office/powerpoint/2010/main" val="1961286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tripe-0">
            <a:extLst xmlns:a="http://schemas.openxmlformats.org/drawingml/2006/main">
              <a:ext uri="{FF2B5EF4-FFF2-40B4-BE49-F238E27FC236}">
                <a16:creationId xmlns:a16="http://schemas.microsoft.com/office/drawing/2014/main" id="{F3E954F5-E380-46C8-B480-2331A01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3E7B6CF7-FD5A-4484-A810-1CD316FA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0EF14ECD-F183-465D-BE17-3E0F5F29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E9AEEEDF-559C-40AE-992F-7AA11EB2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0149A429-0676-4284-B747-D4F27183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15D45F30-7892-4622-B9C0-650FB13A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2680F782-FAB6-4409-8357-F5F723F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1195E325-724B-4BB2-AB50-2656230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C007C5A8-09D5-4C4A-B770-E579811A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9E87737D-8B10-49FD-B0A7-F7EB4C5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LANGUAGE + VOICE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9E51E7-253E-4CA5-990C-F6D21585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14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FB8DD9DF-D2D5-430F-8A34-55F085C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LANGUAGE STAYS GROUNDED AND SAFE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4BE30B6A-9193-4F30-9A8B-C44B5B6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LANGUAGE STAYS GROUNDED AND SAFE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69A7FAD9-EA21-44CB-866C-F01E2EA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Two voice paths, two different permissions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954CAA-B65F-461D-B441-93061D7A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ach-card">
            <a:extLst xmlns:a="http://schemas.openxmlformats.org/drawingml/2006/main">
              <a:ext uri="{FF2B5EF4-FFF2-40B4-BE49-F238E27FC236}">
                <a16:creationId xmlns:a16="http://schemas.microsoft.com/office/drawing/2014/main" id="{1467741B-FFB9-47F6-91D6-8A8AC61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81375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coach-heading">
            <a:extLst xmlns:a="http://schemas.openxmlformats.org/drawingml/2006/main">
              <a:ext uri="{FF2B5EF4-FFF2-40B4-BE49-F238E27FC236}">
                <a16:creationId xmlns:a16="http://schemas.microsoft.com/office/drawing/2014/main" id="{70FC8534-FA2C-4489-B14B-E774445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303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COACH</a:t>
            </a:r>
          </a:p>
        </p:txBody>
      </p:sp>
      <p:sp>
        <p:nvSpPr>
          <p:cNvPr id="18" name="coach-body">
            <a:extLst xmlns:a="http://schemas.openxmlformats.org/drawingml/2006/main">
              <a:ext uri="{FF2B5EF4-FFF2-40B4-BE49-F238E27FC236}">
                <a16:creationId xmlns:a16="http://schemas.microsoft.com/office/drawing/2014/main" id="{506AEAE1-C8B7-4D46-BA3F-AD086F2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38450"/>
            <a:ext cx="303847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FEN + emotion + question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legal moves + best move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Groq or local LLM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structured fallback advice</a:t>
            </a:r>
          </a:p>
        </p:txBody>
      </p:sp>
      <p:sp>
        <p:nvSpPr>
          <p:cNvPr id="19" name="voice-move-card">
            <a:extLst xmlns:a="http://schemas.openxmlformats.org/drawingml/2006/main">
              <a:ext uri="{FF2B5EF4-FFF2-40B4-BE49-F238E27FC236}">
                <a16:creationId xmlns:a16="http://schemas.microsoft.com/office/drawing/2014/main" id="{20EB08AD-A7F9-4CDE-B857-E3B2D225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90750"/>
            <a:ext cx="3381375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0" name="voice-move-heading">
            <a:extLst xmlns:a="http://schemas.openxmlformats.org/drawingml/2006/main">
              <a:ext uri="{FF2B5EF4-FFF2-40B4-BE49-F238E27FC236}">
                <a16:creationId xmlns:a16="http://schemas.microsoft.com/office/drawing/2014/main" id="{61687BF6-7B54-445E-B23C-D541961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303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VOICE MOVE</a:t>
            </a:r>
          </a:p>
        </p:txBody>
      </p:sp>
      <p:sp>
        <p:nvSpPr>
          <p:cNvPr id="21" name="voice-move-body">
            <a:extLst xmlns:a="http://schemas.openxmlformats.org/drawingml/2006/main">
              <a:ext uri="{FF2B5EF4-FFF2-40B4-BE49-F238E27FC236}">
                <a16:creationId xmlns:a16="http://schemas.microsoft.com/office/drawing/2014/main" id="{738CE605-2EF0-4372-8DEE-40A7C74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303847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Audio -&gt; transcript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parseChessMove()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legal move validation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 command executes only after it resolves to a legal move.</a:t>
            </a:r>
          </a:p>
        </p:txBody>
      </p:sp>
      <p:sp>
        <p:nvSpPr>
          <p:cNvPr id="22" name="voice-coach-card">
            <a:extLst xmlns:a="http://schemas.openxmlformats.org/drawingml/2006/main">
              <a:ext uri="{FF2B5EF4-FFF2-40B4-BE49-F238E27FC236}">
                <a16:creationId xmlns:a16="http://schemas.microsoft.com/office/drawing/2014/main" id="{97F504D6-1074-4B61-A8A4-FF9C6549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3381375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3" name="voice-coach-heading">
            <a:extLst xmlns:a="http://schemas.openxmlformats.org/drawingml/2006/main">
              <a:ext uri="{FF2B5EF4-FFF2-40B4-BE49-F238E27FC236}">
                <a16:creationId xmlns:a16="http://schemas.microsoft.com/office/drawing/2014/main" id="{721371B6-4CF4-442A-A46D-7B0638F9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03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VOICE COACH</a:t>
            </a:r>
          </a:p>
        </p:txBody>
      </p:sp>
      <p:sp>
        <p:nvSpPr>
          <p:cNvPr id="24" name="voice-coach-body">
            <a:extLst xmlns:a="http://schemas.openxmlformats.org/drawingml/2006/main">
              <a:ext uri="{FF2B5EF4-FFF2-40B4-BE49-F238E27FC236}">
                <a16:creationId xmlns:a16="http://schemas.microsoft.com/office/drawing/2014/main" id="{E08224F0-ADE6-4EB4-9D3E-0106A2C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38450"/>
            <a:ext cx="303847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Audio -&gt; transcript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editable 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/api/coach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Burmese answer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-&gt; optional TTS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 question never auto-plays a move.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E3BA3BF8-256B-4358-BF1D-10F3B534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CHESS.JS VALIDATION REMAINS THE AUTHORITY FOR EVERY PLAYABLE MOVE.</a:t>
            </a:r>
          </a:p>
        </p:txBody>
      </p:sp>
    </p:spTree>
    <p:extLst>
      <p:ext uri="{BB962C8B-B14F-4D97-AF65-F5344CB8AC3E}">
        <p14:creationId xmlns:p14="http://schemas.microsoft.com/office/powerpoint/2010/main" val="955150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tripe-0">
            <a:extLst xmlns:a="http://schemas.openxmlformats.org/drawingml/2006/main">
              <a:ext uri="{FF2B5EF4-FFF2-40B4-BE49-F238E27FC236}">
                <a16:creationId xmlns:a16="http://schemas.microsoft.com/office/drawing/2014/main" id="{A251AF5C-D42A-4CDE-A38A-E270FEC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8AA5221C-75A6-4C1D-B73E-DFECC82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D999EC9A-37ED-42D1-910F-492F0FA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02CCC241-B8E2-4708-9AF5-4C5B00A1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DA2BC0EE-9AFB-4CB8-B450-A712496C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8DF8B52B-86B0-42A8-97AB-BA7BDDCB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90CFB31D-AACD-4565-BD6A-4E2FF760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D773C35B-2A8F-422E-90D5-CD9AE72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79B1C679-8A1B-4D5F-B7EA-6AB322D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EC4D4B04-E22E-4DA6-B3F6-D626C708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CURRENT UPDATE / PRODUCT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7B1B8C-F31B-49BD-A4ED-7C2E548A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15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F7AD3335-8502-4FAE-8409-786F8BC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SENTIO SEPARATES PLAY AND LEARNING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A77459F-65AB-4416-849D-DE654E1F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SENTIO SEPARATES PLAY AND LEARNING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50ACF504-D422-454B-A93C-CEED0617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A clearer workspace model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ED486C-9D1C-4BEF-8A7D-F1623810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51b5c88844e3"/>
          <a:stretch xmlns:a="http://schemas.openxmlformats.org/drawingml/2006/main"/>
        </p:blipFill>
        <p:spPr>
          <a:xfrm xmlns:a="http://schemas.openxmlformats.org/drawingml/2006/main">
            <a:off x="6572250" y="1782792"/>
            <a:ext cx="5334000" cy="2339915"/>
          </a:xfrm>
          <a:prstGeom xmlns:a="http://schemas.openxmlformats.org/drawingml/2006/main" prst="rect">
            <a:avLst/>
          </a:prstGeom>
        </p:spPr>
      </p:pic>
      <p:sp>
        <p:nvSpPr>
          <p:cNvPr id="17" name="workspace-0">
            <a:extLst xmlns:a="http://schemas.openxmlformats.org/drawingml/2006/main">
              <a:ext uri="{FF2B5EF4-FFF2-40B4-BE49-F238E27FC236}">
                <a16:creationId xmlns:a16="http://schemas.microsoft.com/office/drawing/2014/main" id="{139AC21E-EADE-44DF-8427-E4362FD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53340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18" name="workspace-h-0">
            <a:extLst xmlns:a="http://schemas.openxmlformats.org/drawingml/2006/main">
              <a:ext uri="{FF2B5EF4-FFF2-40B4-BE49-F238E27FC236}">
                <a16:creationId xmlns:a16="http://schemas.microsoft.com/office/drawing/2014/main" id="{126A0D7B-93EC-4861-840A-AA9C509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24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BOARD</a:t>
            </a:r>
          </a:p>
        </p:txBody>
      </p:sp>
      <p:sp>
        <p:nvSpPr>
          <p:cNvPr id="19" name="workspace-b-0">
            <a:extLst xmlns:a="http://schemas.openxmlformats.org/drawingml/2006/main">
              <a:ext uri="{FF2B5EF4-FFF2-40B4-BE49-F238E27FC236}">
                <a16:creationId xmlns:a16="http://schemas.microsoft.com/office/drawing/2014/main" id="{1FD83682-558A-4D33-AA4E-4F769FE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Live game, evaluation, camera signal, emotion timeline, and coach controller.</a:t>
            </a:r>
          </a:p>
        </p:txBody>
      </p:sp>
      <p:sp>
        <p:nvSpPr>
          <p:cNvPr id="20" name="workspace-1">
            <a:extLst xmlns:a="http://schemas.openxmlformats.org/drawingml/2006/main">
              <a:ext uri="{FF2B5EF4-FFF2-40B4-BE49-F238E27FC236}">
                <a16:creationId xmlns:a16="http://schemas.microsoft.com/office/drawing/2014/main" id="{59D25898-DC9F-48EC-90B9-B7B8E1B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53340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1" name="workspace-h-1">
            <a:extLst xmlns:a="http://schemas.openxmlformats.org/drawingml/2006/main">
              <a:ext uri="{FF2B5EF4-FFF2-40B4-BE49-F238E27FC236}">
                <a16:creationId xmlns:a16="http://schemas.microsoft.com/office/drawing/2014/main" id="{97ACF793-2491-42F4-A7FC-1C25ADD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194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AI LAB</a:t>
            </a:r>
          </a:p>
        </p:txBody>
      </p:sp>
      <p:sp>
        <p:nvSpPr>
          <p:cNvPr id="22" name="workspace-b-1">
            <a:extLst xmlns:a="http://schemas.openxmlformats.org/drawingml/2006/main">
              <a:ext uri="{FF2B5EF4-FFF2-40B4-BE49-F238E27FC236}">
                <a16:creationId xmlns:a16="http://schemas.microsoft.com/office/drawing/2014/main" id="{4A8B31B8-6CCC-40D6-BA4F-32F0F682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8137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Dedicated full-width component for current-position search inspection.</a:t>
            </a:r>
          </a:p>
        </p:txBody>
      </p:sp>
      <p:sp>
        <p:nvSpPr>
          <p:cNvPr id="23" name="workspace-2">
            <a:extLst xmlns:a="http://schemas.openxmlformats.org/drawingml/2006/main">
              <a:ext uri="{FF2B5EF4-FFF2-40B4-BE49-F238E27FC236}">
                <a16:creationId xmlns:a16="http://schemas.microsoft.com/office/drawing/2014/main" id="{27DEC709-AEE3-4126-8378-0F43452F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53340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4" name="workspace-h-2">
            <a:extLst xmlns:a="http://schemas.openxmlformats.org/drawingml/2006/main">
              <a:ext uri="{FF2B5EF4-FFF2-40B4-BE49-F238E27FC236}">
                <a16:creationId xmlns:a16="http://schemas.microsoft.com/office/drawing/2014/main" id="{ACCC7339-3EA5-4452-9937-A77E9FF9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TRAIN</a:t>
            </a:r>
          </a:p>
        </p:txBody>
      </p:sp>
      <p:sp>
        <p:nvSpPr>
          <p:cNvPr id="25" name="workspace-b-2">
            <a:extLst xmlns:a="http://schemas.openxmlformats.org/drawingml/2006/main">
              <a:ext uri="{FF2B5EF4-FFF2-40B4-BE49-F238E27FC236}">
                <a16:creationId xmlns:a16="http://schemas.microsoft.com/office/drawing/2014/main" id="{74A67F8A-5B1A-4BB3-835A-649508DD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Puzzle Rush, lessons, XP progression, and game-improvement analysis.</a:t>
            </a:r>
          </a:p>
        </p:txBody>
      </p:sp>
      <p:sp>
        <p:nvSpPr>
          <p:cNvPr id="26" name="controls">
            <a:extLst xmlns:a="http://schemas.openxmlformats.org/drawingml/2006/main">
              <a:ext uri="{FF2B5EF4-FFF2-40B4-BE49-F238E27FC236}">
                <a16:creationId xmlns:a16="http://schemas.microsoft.com/office/drawing/2014/main" id="{D232D402-C4CB-46A6-ACD3-F94CB61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0481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ALSO UPDATED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Dock / float / widen the controller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Switch dark / light mode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Choose piece designs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Export PGN + replay games</a:t>
            </a:r>
          </a:p>
        </p:txBody>
      </p:sp>
    </p:spTree>
    <p:extLst>
      <p:ext uri="{BB962C8B-B14F-4D97-AF65-F5344CB8AC3E}">
        <p14:creationId xmlns:p14="http://schemas.microsoft.com/office/powerpoint/2010/main" val="15582968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tripe-0">
            <a:extLst xmlns:a="http://schemas.openxmlformats.org/drawingml/2006/main">
              <a:ext uri="{FF2B5EF4-FFF2-40B4-BE49-F238E27FC236}">
                <a16:creationId xmlns:a16="http://schemas.microsoft.com/office/drawing/2014/main" id="{49F9E7D6-44DD-4A7C-B1F6-596F600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648953CB-9FD9-4E6F-B1EC-554275C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E666F07F-D630-4155-AC10-8E6F149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164464D0-D0AF-4A24-AFEB-0E400C0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954F1D94-7E3B-4A83-BEC8-AB846A7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AC97F5B2-3B8F-422F-A0FB-D79E76D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F79710CA-F187-446E-9E9A-D4A8A04F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5CAD87D9-7643-48C0-921D-796C5B8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A016F988-15E0-4F24-9273-E278413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9A8A3FF1-F0D8-4CC1-A781-43CDF6B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CURRENT UPDATE / TRAINING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1D7B33-CD10-4AD3-BC67-34EEC0DE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16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D0CE13F7-0D47-4FAF-AC84-916470E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TRAINING CLOSES THE LEARNING LOOP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2171170-C832-4262-9D49-72C2C74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TRAINING CLOSES THE LEARNING LOOP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66A27209-DC2D-4C76-A4DC-3A336E42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Play -&gt; practice -&gt; review -&gt; improve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DA87F9-D705-454A-B866-A77F998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sh-card">
            <a:extLst xmlns:a="http://schemas.openxmlformats.org/drawingml/2006/main">
              <a:ext uri="{FF2B5EF4-FFF2-40B4-BE49-F238E27FC236}">
                <a16:creationId xmlns:a16="http://schemas.microsoft.com/office/drawing/2014/main" id="{C1AB39F4-0F0B-4869-8B5A-CF6EEEE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86125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17" name="rush-heading">
            <a:extLst xmlns:a="http://schemas.openxmlformats.org/drawingml/2006/main">
              <a:ext uri="{FF2B5EF4-FFF2-40B4-BE49-F238E27FC236}">
                <a16:creationId xmlns:a16="http://schemas.microsoft.com/office/drawing/2014/main" id="{00F94864-3647-4AB4-81A7-F9A36A1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PUZZLE RUSH</a:t>
            </a:r>
          </a:p>
        </p:txBody>
      </p:sp>
      <p:sp>
        <p:nvSpPr>
          <p:cNvPr id="18" name="rush-body">
            <a:extLst xmlns:a="http://schemas.openxmlformats.org/drawingml/2006/main">
              <a:ext uri="{FF2B5EF4-FFF2-40B4-BE49-F238E27FC236}">
                <a16:creationId xmlns:a16="http://schemas.microsoft.com/office/drawing/2014/main" id="{224C8363-F93F-41F9-8AB8-6205C29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29432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Rush: 3-minute clock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Survival: 3 strikes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Difficulty rises with level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Hints reveal theme and halve XP</a:t>
            </a:r>
          </a:p>
        </p:txBody>
      </p:sp>
      <p:sp>
        <p:nvSpPr>
          <p:cNvPr id="19" name="learn-card">
            <a:extLst xmlns:a="http://schemas.openxmlformats.org/drawingml/2006/main">
              <a:ext uri="{FF2B5EF4-FFF2-40B4-BE49-F238E27FC236}">
                <a16:creationId xmlns:a16="http://schemas.microsoft.com/office/drawing/2014/main" id="{48F710E7-FA29-4D2E-80A3-FB41182A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3286125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0" name="learn-heading">
            <a:extLst xmlns:a="http://schemas.openxmlformats.org/drawingml/2006/main">
              <a:ext uri="{FF2B5EF4-FFF2-40B4-BE49-F238E27FC236}">
                <a16:creationId xmlns:a16="http://schemas.microsoft.com/office/drawing/2014/main" id="{567F8229-D43A-440A-A019-45E197F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LEARN POSITIONS</a:t>
            </a:r>
          </a:p>
        </p:txBody>
      </p:sp>
      <p:sp>
        <p:nvSpPr>
          <p:cNvPr id="21" name="learn-body">
            <a:extLst xmlns:a="http://schemas.openxmlformats.org/drawingml/2006/main">
              <a:ext uri="{FF2B5EF4-FFF2-40B4-BE49-F238E27FC236}">
                <a16:creationId xmlns:a16="http://schemas.microsoft.com/office/drawing/2014/main" id="{39F23479-AE80-4901-BAC4-77019ABC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90825"/>
            <a:ext cx="29432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Curated openings, endgames, and attacks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Every SAN sequence is validated by chess.js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Step through narration or start a game from the lesson FEN</a:t>
            </a:r>
          </a:p>
        </p:txBody>
      </p:sp>
      <p:sp>
        <p:nvSpPr>
          <p:cNvPr id="22" name="progress-card">
            <a:extLst xmlns:a="http://schemas.openxmlformats.org/drawingml/2006/main">
              <a:ext uri="{FF2B5EF4-FFF2-40B4-BE49-F238E27FC236}">
                <a16:creationId xmlns:a16="http://schemas.microsoft.com/office/drawing/2014/main" id="{171AEA17-4676-4A67-B820-3DE9CDD8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286125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14288">
            <a:solidFill>
              <a:srgbClr val="12100E"/>
            </a:solidFill>
            <a:prstDash val="solid"/>
          </a:ln>
        </p:spPr>
      </p:sp>
      <p:sp>
        <p:nvSpPr>
          <p:cNvPr id="23" name="progress-heading">
            <a:extLst xmlns:a="http://schemas.openxmlformats.org/drawingml/2006/main">
              <a:ext uri="{FF2B5EF4-FFF2-40B4-BE49-F238E27FC236}">
                <a16:creationId xmlns:a16="http://schemas.microsoft.com/office/drawing/2014/main" id="{1AC8698B-969D-4AAB-8437-0F2EA03E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875" b="1" i="0">
                <a:solidFill>
                  <a:srgbClr val="FFF9ED"/>
                </a:solidFill>
                <a:latin typeface="Futura Condensed ExtraBold"/>
                <a:ea typeface="Futura Condensed ExtraBold"/>
                <a:cs typeface="Futura Condensed ExtraBold"/>
              </a:rPr>
              <a:t>PROGRESS</a:t>
            </a:r>
          </a:p>
        </p:txBody>
      </p:sp>
      <p:sp>
        <p:nvSpPr>
          <p:cNvPr id="24" name="progress-body">
            <a:extLst xmlns:a="http://schemas.openxmlformats.org/drawingml/2006/main">
              <a:ext uri="{FF2B5EF4-FFF2-40B4-BE49-F238E27FC236}">
                <a16:creationId xmlns:a16="http://schemas.microsoft.com/office/drawing/2014/main" id="{1AB64CC4-296E-4F5D-9B43-BDEA53C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9432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XP + level + tier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Streak and theme statistics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On-demand game analysis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Accuracy, blunders, ACPL, and PGN export</a:t>
            </a:r>
          </a:p>
        </p:txBody>
      </p:sp>
      <p:sp>
        <p:nvSpPr>
          <p:cNvPr id="25" name="mood">
            <a:extLst xmlns:a="http://schemas.openxmlformats.org/drawingml/2006/main">
              <a:ext uri="{FF2B5EF4-FFF2-40B4-BE49-F238E27FC236}">
                <a16:creationId xmlns:a16="http://schemas.microsoft.com/office/drawing/2014/main" id="{58C5EBA9-3759-4972-A08C-E58D1FAF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72125"/>
            <a:ext cx="94297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SENTIO TWIST: live mood can adapt the puzzle difficulty when the player is tense.</a:t>
            </a:r>
          </a:p>
        </p:txBody>
      </p:sp>
    </p:spTree>
    <p:extLst>
      <p:ext uri="{BB962C8B-B14F-4D97-AF65-F5344CB8AC3E}">
        <p14:creationId xmlns:p14="http://schemas.microsoft.com/office/powerpoint/2010/main" val="1560750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E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tripe-0">
            <a:extLst xmlns:a="http://schemas.openxmlformats.org/drawingml/2006/main">
              <a:ext uri="{FF2B5EF4-FFF2-40B4-BE49-F238E27FC236}">
                <a16:creationId xmlns:a16="http://schemas.microsoft.com/office/drawing/2014/main" id="{F5B1A193-5BA7-45E5-ADC0-DDD32B46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1">
            <a:extLst xmlns:a="http://schemas.openxmlformats.org/drawingml/2006/main">
              <a:ext uri="{FF2B5EF4-FFF2-40B4-BE49-F238E27FC236}">
                <a16:creationId xmlns:a16="http://schemas.microsoft.com/office/drawing/2014/main" id="{3CF3E4F6-4704-4AD1-906A-79BE2760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2">
            <a:extLst xmlns:a="http://schemas.openxmlformats.org/drawingml/2006/main">
              <a:ext uri="{FF2B5EF4-FFF2-40B4-BE49-F238E27FC236}">
                <a16:creationId xmlns:a16="http://schemas.microsoft.com/office/drawing/2014/main" id="{F0A73195-A400-4CDE-A9D1-E02BC6DF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3">
            <a:extLst xmlns:a="http://schemas.openxmlformats.org/drawingml/2006/main">
              <a:ext uri="{FF2B5EF4-FFF2-40B4-BE49-F238E27FC236}">
                <a16:creationId xmlns:a16="http://schemas.microsoft.com/office/drawing/2014/main" id="{81760AF8-183F-492F-B3A5-9D6C5429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4">
            <a:extLst xmlns:a="http://schemas.openxmlformats.org/drawingml/2006/main">
              <a:ext uri="{FF2B5EF4-FFF2-40B4-BE49-F238E27FC236}">
                <a16:creationId xmlns:a16="http://schemas.microsoft.com/office/drawing/2014/main" id="{3B406D51-B545-4B64-890A-7D60C311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5">
            <a:extLst xmlns:a="http://schemas.openxmlformats.org/drawingml/2006/main">
              <a:ext uri="{FF2B5EF4-FFF2-40B4-BE49-F238E27FC236}">
                <a16:creationId xmlns:a16="http://schemas.microsoft.com/office/drawing/2014/main" id="{8169EE91-7300-4F3A-9155-94B7F9DD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6">
            <a:extLst xmlns:a="http://schemas.openxmlformats.org/drawingml/2006/main">
              <a:ext uri="{FF2B5EF4-FFF2-40B4-BE49-F238E27FC236}">
                <a16:creationId xmlns:a16="http://schemas.microsoft.com/office/drawing/2014/main" id="{3E4EBC0C-A29C-4160-AD0C-173A7DE2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7">
            <a:extLst xmlns:a="http://schemas.openxmlformats.org/drawingml/2006/main">
              <a:ext uri="{FF2B5EF4-FFF2-40B4-BE49-F238E27FC236}">
                <a16:creationId xmlns:a16="http://schemas.microsoft.com/office/drawing/2014/main" id="{42ED27FF-B627-4CBD-9130-016E0C2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8">
            <a:extLst xmlns:a="http://schemas.openxmlformats.org/drawingml/2006/main">
              <a:ext uri="{FF2B5EF4-FFF2-40B4-BE49-F238E27FC236}">
                <a16:creationId xmlns:a16="http://schemas.microsoft.com/office/drawing/2014/main" id="{C5155671-507F-4AC7-9546-C8A67B6E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507B83DB-C335-41BB-B20B-720AADC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/ RELIABILITY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2E83F2-7398-4E36-9223-6200411C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0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2100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17</a:t>
            </a:r>
          </a:p>
        </p:txBody>
      </p:sp>
      <p:sp>
        <p:nvSpPr>
          <p:cNvPr id="12" name="title-shadow">
            <a:extLst xmlns:a="http://schemas.openxmlformats.org/drawingml/2006/main">
              <a:ext uri="{FF2B5EF4-FFF2-40B4-BE49-F238E27FC236}">
                <a16:creationId xmlns:a16="http://schemas.microsoft.com/office/drawing/2014/main" id="{2B3D391F-3869-4F04-9216-5C85D80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7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THE CORE GAME SURVIVES PARTIAL AI FAILURE</a:t>
            </a:r>
          </a:p>
        </p:txBody>
      </p: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C1F1C1A-1F64-4F9A-88CE-09F301B5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THE CORE GAME SURVIVES PARTIAL AI FAILURE</a:t>
            </a:r>
          </a:p>
        </p:txBody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20488E09-33FC-496D-B438-701A2C8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3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Boundaries make the product trustworthy</a:t>
            </a:r>
          </a:p>
        </p:txBody>
      </p:sp>
      <p:sp>
        <p:nvSpPr>
          <p:cNvPr id="1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5A1A93-2440-448E-9606-A575F6D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liability-0">
            <a:extLst xmlns:a="http://schemas.openxmlformats.org/drawingml/2006/main">
              <a:ext uri="{FF2B5EF4-FFF2-40B4-BE49-F238E27FC236}">
                <a16:creationId xmlns:a16="http://schemas.microsoft.com/office/drawing/2014/main" id="{D9E293B7-3F84-4D22-BB60-1CCDD3A3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7572375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17" name="rel-h-0">
            <a:extLst xmlns:a="http://schemas.openxmlformats.org/drawingml/2006/main">
              <a:ext uri="{FF2B5EF4-FFF2-40B4-BE49-F238E27FC236}">
                <a16:creationId xmlns:a16="http://schemas.microsoft.com/office/drawing/2014/main" id="{D60163E6-3333-42A7-B565-8BF14112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PROLOG UNAVAILABLE</a:t>
            </a:r>
          </a:p>
        </p:txBody>
      </p:sp>
      <p:sp>
        <p:nvSpPr>
          <p:cNvPr id="18" name="rel-b-0">
            <a:extLst xmlns:a="http://schemas.openxmlformats.org/drawingml/2006/main">
              <a:ext uri="{FF2B5EF4-FFF2-40B4-BE49-F238E27FC236}">
                <a16:creationId xmlns:a16="http://schemas.microsoft.com/office/drawing/2014/main" id="{D519679F-BEAB-4ED1-BEF4-5F7A217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Logician shows setup guidance; game logic is unaffected.</a:t>
            </a:r>
          </a:p>
        </p:txBody>
      </p:sp>
      <p:sp>
        <p:nvSpPr>
          <p:cNvPr id="19" name="reliability-1">
            <a:extLst xmlns:a="http://schemas.openxmlformats.org/drawingml/2006/main">
              <a:ext uri="{FF2B5EF4-FFF2-40B4-BE49-F238E27FC236}">
                <a16:creationId xmlns:a16="http://schemas.microsoft.com/office/drawing/2014/main" id="{A5C4C3A3-4CAE-48BE-817C-805C52A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7572375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0" name="rel-h-1">
            <a:extLst xmlns:a="http://schemas.openxmlformats.org/drawingml/2006/main">
              <a:ext uri="{FF2B5EF4-FFF2-40B4-BE49-F238E27FC236}">
                <a16:creationId xmlns:a16="http://schemas.microsoft.com/office/drawing/2014/main" id="{D14CEC8B-0846-4308-8A83-2183778F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LLM UNAVAILABLE</a:t>
            </a:r>
          </a:p>
        </p:txBody>
      </p:sp>
      <p:sp>
        <p:nvSpPr>
          <p:cNvPr id="21" name="rel-b-1">
            <a:extLst xmlns:a="http://schemas.openxmlformats.org/drawingml/2006/main">
              <a:ext uri="{FF2B5EF4-FFF2-40B4-BE49-F238E27FC236}">
                <a16:creationId xmlns:a16="http://schemas.microsoft.com/office/drawing/2014/main" id="{FC74B8F5-5C40-43AE-9B6C-D66B113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Structured fallback coaching remains position-aware.</a:t>
            </a:r>
          </a:p>
        </p:txBody>
      </p:sp>
      <p:sp>
        <p:nvSpPr>
          <p:cNvPr id="22" name="reliability-2">
            <a:extLst xmlns:a="http://schemas.openxmlformats.org/drawingml/2006/main">
              <a:ext uri="{FF2B5EF4-FFF2-40B4-BE49-F238E27FC236}">
                <a16:creationId xmlns:a16="http://schemas.microsoft.com/office/drawing/2014/main" id="{55D0798C-5980-4DA7-9409-BF39C88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7572375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3" name="rel-h-2">
            <a:extLst xmlns:a="http://schemas.openxmlformats.org/drawingml/2006/main">
              <a:ext uri="{FF2B5EF4-FFF2-40B4-BE49-F238E27FC236}">
                <a16:creationId xmlns:a16="http://schemas.microsoft.com/office/drawing/2014/main" id="{73E88481-1522-4B07-B688-193B597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CLOUD STT UNAVAILABLE</a:t>
            </a:r>
          </a:p>
        </p:txBody>
      </p:sp>
      <p:sp>
        <p:nvSpPr>
          <p:cNvPr id="24" name="rel-b-2">
            <a:extLst xmlns:a="http://schemas.openxmlformats.org/drawingml/2006/main">
              <a:ext uri="{FF2B5EF4-FFF2-40B4-BE49-F238E27FC236}">
                <a16:creationId xmlns:a16="http://schemas.microsoft.com/office/drawing/2014/main" id="{9B9C08E8-CEF6-4465-B16A-82DDA7D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Local Whisper or another provider can take over.</a:t>
            </a:r>
          </a:p>
        </p:txBody>
      </p:sp>
      <p:sp>
        <p:nvSpPr>
          <p:cNvPr id="25" name="reliability-3">
            <a:extLst xmlns:a="http://schemas.openxmlformats.org/drawingml/2006/main">
              <a:ext uri="{FF2B5EF4-FFF2-40B4-BE49-F238E27FC236}">
                <a16:creationId xmlns:a16="http://schemas.microsoft.com/office/drawing/2014/main" id="{2B7A7252-435C-4EFF-BCE3-295F4BC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3850"/>
            <a:ext cx="7572375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6B18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6" name="rel-h-3">
            <a:extLst xmlns:a="http://schemas.openxmlformats.org/drawingml/2006/main">
              <a:ext uri="{FF2B5EF4-FFF2-40B4-BE49-F238E27FC236}">
                <a16:creationId xmlns:a16="http://schemas.microsoft.com/office/drawing/2014/main" id="{AE4C233E-61F9-44B6-9C77-5D56C43A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STOCKFISH BUSY</a:t>
            </a:r>
          </a:p>
        </p:txBody>
      </p:sp>
      <p:sp>
        <p:nvSpPr>
          <p:cNvPr id="27" name="rel-b-3">
            <a:extLst xmlns:a="http://schemas.openxmlformats.org/drawingml/2006/main">
              <a:ext uri="{FF2B5EF4-FFF2-40B4-BE49-F238E27FC236}">
                <a16:creationId xmlns:a16="http://schemas.microsoft.com/office/drawing/2014/main" id="{0D9BBF8B-A1E2-4015-B285-F66B05B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0052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The bounded pool returns an explicit 503 instead of corrupt state.</a:t>
            </a:r>
          </a:p>
        </p:txBody>
      </p:sp>
      <p:sp>
        <p:nvSpPr>
          <p:cNvPr id="28" name="reliability-4">
            <a:extLst xmlns:a="http://schemas.openxmlformats.org/drawingml/2006/main">
              <a:ext uri="{FF2B5EF4-FFF2-40B4-BE49-F238E27FC236}">
                <a16:creationId xmlns:a16="http://schemas.microsoft.com/office/drawing/2014/main" id="{F7DF02A6-FD46-4BD8-B810-EFF318FA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29175"/>
            <a:ext cx="7572375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AF3F00"/>
          </a:solidFill>
          <a:ln xmlns:a="http://schemas.openxmlformats.org/drawingml/2006/main" w="9525">
            <a:solidFill>
              <a:srgbClr val="12100E"/>
            </a:solidFill>
            <a:prstDash val="solid"/>
          </a:ln>
        </p:spPr>
      </p:sp>
      <p:sp>
        <p:nvSpPr>
          <p:cNvPr id="29" name="rel-h-4">
            <a:extLst xmlns:a="http://schemas.openxmlformats.org/drawingml/2006/main">
              <a:ext uri="{FF2B5EF4-FFF2-40B4-BE49-F238E27FC236}">
                <a16:creationId xmlns:a16="http://schemas.microsoft.com/office/drawing/2014/main" id="{DA85145C-B058-4AB5-9F17-C9A2E33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1350" b="1" i="0">
                <a:solidFill>
                  <a:srgbClr val="FBC313"/>
                </a:solidFill>
                <a:latin typeface="Futura Condensed ExtraBold"/>
                <a:ea typeface="Futura Condensed ExtraBold"/>
                <a:cs typeface="Futura Condensed ExtraBold"/>
              </a:rPr>
              <a:t>STALE RESPONSE</a:t>
            </a:r>
          </a:p>
        </p:txBody>
      </p:sp>
      <p:sp>
        <p:nvSpPr>
          <p:cNvPr id="30" name="rel-b-4">
            <a:extLst xmlns:a="http://schemas.openxmlformats.org/drawingml/2006/main">
              <a:ext uri="{FF2B5EF4-FFF2-40B4-BE49-F238E27FC236}">
                <a16:creationId xmlns:a16="http://schemas.microsoft.com/office/drawing/2014/main" id="{F0D189DD-ADF7-485C-8FAA-C310420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9ED"/>
                </a:solidFill>
                <a:latin typeface="Helvetica Neue"/>
                <a:ea typeface="Helvetica Neue"/>
                <a:cs typeface="Helvetica Neue"/>
              </a:rPr>
              <a:t>Sequence checks ignore obsolete Logician requests.</a:t>
            </a:r>
          </a:p>
        </p:txBody>
      </p:sp>
      <p:sp>
        <p:nvSpPr>
          <p:cNvPr id="31" name="test-card">
            <a:extLst xmlns:a="http://schemas.openxmlformats.org/drawingml/2006/main">
              <a:ext uri="{FF2B5EF4-FFF2-40B4-BE49-F238E27FC236}">
                <a16:creationId xmlns:a16="http://schemas.microsoft.com/office/drawing/2014/main" id="{2EA9F100-ECBD-4879-BF8E-E66833C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2857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C313"/>
          </a:solidFill>
          <a:ln xmlns:a="http://schemas.openxmlformats.org/drawingml/2006/main" w="19050">
            <a:solidFill>
              <a:srgbClr val="12100E"/>
            </a:solidFill>
            <a:prstDash val="solid"/>
          </a:ln>
        </p:spPr>
      </p:sp>
      <p:sp>
        <p:nvSpPr>
          <p:cNvPr id="32" name="test-big">
            <a:extLst xmlns:a="http://schemas.openxmlformats.org/drawingml/2006/main">
              <a:ext uri="{FF2B5EF4-FFF2-40B4-BE49-F238E27FC236}">
                <a16:creationId xmlns:a16="http://schemas.microsoft.com/office/drawing/2014/main" id="{A7F3485A-B87F-417F-9926-C4D30C7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900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145 / 145</a:t>
            </a:r>
          </a:p>
        </p:txBody>
      </p:sp>
      <p:sp>
        <p:nvSpPr>
          <p:cNvPr id="33" name="test-accent">
            <a:extLst xmlns:a="http://schemas.openxmlformats.org/drawingml/2006/main">
              <a:ext uri="{FF2B5EF4-FFF2-40B4-BE49-F238E27FC236}">
                <a16:creationId xmlns:a16="http://schemas.microsoft.com/office/drawing/2014/main" id="{84C1FE15-6553-4536-B4C3-F680F524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766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9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92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tests passed</a:t>
            </a:r>
          </a:p>
        </p:txBody>
      </p:sp>
      <p:sp>
        <p:nvSpPr>
          <p:cNvPr id="34" name="test-small">
            <a:extLst xmlns:a="http://schemas.openxmlformats.org/drawingml/2006/main">
              <a:ext uri="{FF2B5EF4-FFF2-40B4-BE49-F238E27FC236}">
                <a16:creationId xmlns:a16="http://schemas.microsoft.com/office/drawing/2014/main" id="{D9726FD3-FC58-4AD5-ACBE-D6DD1B6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15 unit test files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verified 2026-08-29</a:t>
            </a:r>
          </a:p>
        </p:txBody>
      </p:sp>
      <p:sp>
        <p:nvSpPr>
          <p:cNvPr id="35" name="footer">
            <a:extLst xmlns:a="http://schemas.openxmlformats.org/drawingml/2006/main">
              <a:ext uri="{FF2B5EF4-FFF2-40B4-BE49-F238E27FC236}">
                <a16:creationId xmlns:a16="http://schemas.microsoft.com/office/drawing/2014/main" id="{C857FEEF-FA6F-4E5E-94B2-E9A21A62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15F52"/>
                </a:solidFill>
                <a:latin typeface="Helvetica Neue"/>
                <a:ea typeface="Helvetica Neue"/>
                <a:cs typeface="Helvetica Neue"/>
              </a:rPr>
              <a:t>A ROBUST AI PRODUCT IS DEFINED AS MUCH BY ITS BOUNDARIES AS BY ITS MODELS.</a:t>
            </a:r>
          </a:p>
        </p:txBody>
      </p:sp>
    </p:spTree>
    <p:extLst>
      <p:ext uri="{BB962C8B-B14F-4D97-AF65-F5344CB8AC3E}">
        <p14:creationId xmlns:p14="http://schemas.microsoft.com/office/powerpoint/2010/main" val="1293294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ef7fcfcc343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41563ED5-2521-4C41-B9D8-592B38E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12192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77A8921C-7F00-4B7D-A866-6F9FF44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6B18"/>
                </a:solidFill>
                <a:latin typeface="Helvetica Neue"/>
                <a:ea typeface="Helvetica Neue"/>
                <a:cs typeface="Helvetica Neue"/>
              </a:rPr>
              <a:t>SENTIO SYNTHESIS</a:t>
            </a:r>
          </a:p>
        </p:txBody>
      </p:sp>
      <p:sp>
        <p:nvSpPr>
          <p:cNvPr id="4" name="closing-title-shadow">
            <a:extLst xmlns:a="http://schemas.openxmlformats.org/drawingml/2006/main">
              <a:ext uri="{FF2B5EF4-FFF2-40B4-BE49-F238E27FC236}">
                <a16:creationId xmlns:a16="http://schemas.microsoft.com/office/drawing/2014/main" id="{08A9FF45-AD9E-4220-8620-5B956A8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12100E"/>
                </a:solidFill>
                <a:latin typeface="Futura Condensed ExtraBold"/>
                <a:ea typeface="Futura Condensed ExtraBold"/>
                <a:cs typeface="Futura Condensed ExtraBold"/>
              </a:rPr>
              <a:t>ONE ADAPTIVE LOOP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D43F738-558F-4C53-818C-1B08503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defRPr>
            </a:pPr>
            <a:r>
              <a:rPr sz="3225" b="1" i="0">
                <a:solidFill>
                  <a:srgbClr val="AF3F00"/>
                </a:solidFill>
                <a:latin typeface="Futura Condensed ExtraBold"/>
                <a:ea typeface="Futura Condensed ExtraBold"/>
                <a:cs typeface="Futura Condensed ExtraBold"/>
              </a:rPr>
              <a:t>ONE ADAPTIVE LOOP</a:t>
            </a:r>
          </a:p>
        </p:txBody>
      </p:sp>
      <p:sp>
        <p:nvSpPr>
          <p:cNvPr id="6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068DDEE0-6345-495A-80EB-EF90CAF2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769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7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defRPr>
            </a:pPr>
            <a:r>
              <a:rPr sz="2475" b="1" i="0">
                <a:solidFill>
                  <a:srgbClr val="FF6B18"/>
                </a:solidFill>
                <a:latin typeface="SignPainter"/>
                <a:ea typeface="SignPainter"/>
                <a:cs typeface="SignPainter"/>
              </a:rPr>
              <a:t>Five forms of intelligence</a:t>
            </a:r>
          </a:p>
        </p:txBody>
      </p:sp>
      <p:sp>
        <p:nvSpPr>
          <p:cNvPr id="7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BE08A53B-362C-498A-B4DC-85465089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1912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A2B2B"/>
                </a:solidFill>
                <a:latin typeface="Helvetica Neue"/>
                <a:ea typeface="Helvetica Neue"/>
                <a:cs typeface="Helvetica Neue"/>
              </a:rPr>
              <a:t>PERCEPTION READS THE PLAYER  /  SEARCH READS THE BOARD  /  PROLOG MAKES RULES VISIBLE  /  LANGUAGE MAKES GUIDANCE USABLE  /  TRAINING MAKES IMPROVEMENT CONTINUOUS</a:t>
            </a:r>
          </a:p>
        </p:txBody>
      </p:sp>
    </p:spTree>
    <p:extLst>
      <p:ext uri="{BB962C8B-B14F-4D97-AF65-F5344CB8AC3E}">
        <p14:creationId xmlns:p14="http://schemas.microsoft.com/office/powerpoint/2010/main" val="523347594"/>
      </p:ext>
    </p:extLst>
  </p:cSld>
</p:sld>
</file>

<file path=ppt/theme/theme1.xml><?xml version="1.0" encoding="utf-8"?>
<a:theme xmlns:a="http://schemas.openxmlformats.org/drawingml/2006/main" name="ChatGPT">
  <a:themeElements>
    <a:clrScheme name="Orange Beige Retro">
      <a:dk1>
        <a:srgbClr val="12100E"/>
      </a:dk1>
      <a:lt1>
        <a:srgbClr val="FFF9ED"/>
      </a:lt1>
      <a:dk2>
        <a:srgbClr val="3A2B2B"/>
      </a:dk2>
      <a:lt2>
        <a:srgbClr val="F2EBD3"/>
      </a:lt2>
      <a:accent1>
        <a:srgbClr val="FF6B18"/>
      </a:accent1>
      <a:accent2>
        <a:srgbClr val="AF3F00"/>
      </a:accent2>
      <a:accent3>
        <a:srgbClr val="FBC313"/>
      </a:accent3>
      <a:accent4>
        <a:srgbClr val="F2D9DE"/>
      </a:accent4>
      <a:accent5>
        <a:srgbClr val="EDE4C9"/>
      </a:accent5>
      <a:accent6>
        <a:srgbClr val="715F52"/>
      </a:accent6>
      <a:hlink>
        <a:srgbClr val="FF6B18"/>
      </a:hlink>
      <a:folHlink>
        <a:srgbClr val="AF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nge Beige Re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2026-08-29T16:09:33.0110000Z</dcterms:created>
  <dcterms:modified xsi:type="dcterms:W3CDTF">2026-08-29T16:09:33.0110000Z</dcterms:modified>
</coreProperties>
</file>