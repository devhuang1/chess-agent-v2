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b8acac98ab4996" /><Relationship Type="http://schemas.openxmlformats.org/officeDocument/2006/relationships/extended-properties" Target="/docProps/app.xml" Id="Rf8d8afba2aff47d1" /><Relationship Type="http://schemas.openxmlformats.org/officeDocument/2006/relationships/officeDocument" Target="/ppt/presentation.xml" Id="R82acf99be236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cafb916704182"/>
  </p:sldMasterIdLst>
  <p:notesMasterIdLst>
    <p:notesMasterId xmlns:r="http://schemas.openxmlformats.org/officeDocument/2006/relationships" r:id="R894301c7a5f94e1a"/>
  </p:notesMasterIdLst>
  <p:sldIdLst>
    <p:sldId xmlns:r="http://schemas.openxmlformats.org/officeDocument/2006/relationships" id="256" r:id="Rb19b8f5dc0ee423c"/>
    <p:sldId xmlns:r="http://schemas.openxmlformats.org/officeDocument/2006/relationships" id="257" r:id="Rf868906bd6984612"/>
    <p:sldId xmlns:r="http://schemas.openxmlformats.org/officeDocument/2006/relationships" id="258" r:id="R47ff43b0599a479c"/>
    <p:sldId xmlns:r="http://schemas.openxmlformats.org/officeDocument/2006/relationships" id="259" r:id="Rcc778bf343c64a6c"/>
    <p:sldId xmlns:r="http://schemas.openxmlformats.org/officeDocument/2006/relationships" id="260" r:id="R3708c16273b34b18"/>
    <p:sldId xmlns:r="http://schemas.openxmlformats.org/officeDocument/2006/relationships" id="261" r:id="Ref9813d4104f44aa"/>
    <p:sldId xmlns:r="http://schemas.openxmlformats.org/officeDocument/2006/relationships" id="262" r:id="R085e6ac7a284483f"/>
    <p:sldId xmlns:r="http://schemas.openxmlformats.org/officeDocument/2006/relationships" id="263" r:id="Rd0bca17ab07242c8"/>
    <p:sldId xmlns:r="http://schemas.openxmlformats.org/officeDocument/2006/relationships" id="264" r:id="R7df41c9bfbea4322"/>
    <p:sldId xmlns:r="http://schemas.openxmlformats.org/officeDocument/2006/relationships" id="265" r:id="Rcfdd7b38068f4e27"/>
    <p:sldId xmlns:r="http://schemas.openxmlformats.org/officeDocument/2006/relationships" id="266" r:id="R718ce47713a04723"/>
    <p:sldId xmlns:r="http://schemas.openxmlformats.org/officeDocument/2006/relationships" id="267" r:id="R9afe339e620c4982"/>
    <p:sldId xmlns:r="http://schemas.openxmlformats.org/officeDocument/2006/relationships" id="268" r:id="Rd4d30c41095d4bcc"/>
    <p:sldId xmlns:r="http://schemas.openxmlformats.org/officeDocument/2006/relationships" id="269" r:id="Rb15b2ed00c264098"/>
    <p:sldId xmlns:r="http://schemas.openxmlformats.org/officeDocument/2006/relationships" id="270" r:id="R459748b691f14ab0"/>
    <p:sldId xmlns:r="http://schemas.openxmlformats.org/officeDocument/2006/relationships" id="271" r:id="Rf55218a56da64c7c"/>
    <p:sldId xmlns:r="http://schemas.openxmlformats.org/officeDocument/2006/relationships" id="272" r:id="Rcd87fc926e20407a"/>
    <p:sldId xmlns:r="http://schemas.openxmlformats.org/officeDocument/2006/relationships" id="273" r:id="R310bcb54b7d64b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141f654a44c28" /><Relationship Type="http://schemas.openxmlformats.org/officeDocument/2006/relationships/slideMaster" Target="/ppt/slideMasters/slideMaster1.xml" Id="R8edcafb916704182" /><Relationship Type="http://schemas.openxmlformats.org/officeDocument/2006/relationships/notesMaster" Target="/ppt/notesMasters/notesMaster1.xml" Id="R894301c7a5f94e1a" /><Relationship Type="http://schemas.openxmlformats.org/officeDocument/2006/relationships/presProps" Target="/ppt/presProps.xml" Id="R1d2ce441d35f4e57" /><Relationship Type="http://schemas.openxmlformats.org/officeDocument/2006/relationships/viewProps" Target="/ppt/viewProps.xml" Id="R787d13fd267d4357" /><Relationship Type="http://schemas.openxmlformats.org/officeDocument/2006/relationships/tableStyles" Target="/ppt/tableStyles.xml" Id="R589b97c639204b59" /><Relationship Type="http://schemas.openxmlformats.org/officeDocument/2006/relationships/slide" Target="/ppt/slides/slide1.xml" Id="Rb19b8f5dc0ee423c" /><Relationship Type="http://schemas.openxmlformats.org/officeDocument/2006/relationships/slide" Target="/ppt/slides/slide2.xml" Id="Rf868906bd6984612" /><Relationship Type="http://schemas.openxmlformats.org/officeDocument/2006/relationships/slide" Target="/ppt/slides/slide3.xml" Id="R47ff43b0599a479c" /><Relationship Type="http://schemas.openxmlformats.org/officeDocument/2006/relationships/slide" Target="/ppt/slides/slide4.xml" Id="Rcc778bf343c64a6c" /><Relationship Type="http://schemas.openxmlformats.org/officeDocument/2006/relationships/slide" Target="/ppt/slides/slide5.xml" Id="R3708c16273b34b18" /><Relationship Type="http://schemas.openxmlformats.org/officeDocument/2006/relationships/slide" Target="/ppt/slides/slide6.xml" Id="Ref9813d4104f44aa" /><Relationship Type="http://schemas.openxmlformats.org/officeDocument/2006/relationships/slide" Target="/ppt/slides/slide7.xml" Id="R085e6ac7a284483f" /><Relationship Type="http://schemas.openxmlformats.org/officeDocument/2006/relationships/slide" Target="/ppt/slides/slide8.xml" Id="Rd0bca17ab07242c8" /><Relationship Type="http://schemas.openxmlformats.org/officeDocument/2006/relationships/slide" Target="/ppt/slides/slide9.xml" Id="R7df41c9bfbea4322" /><Relationship Type="http://schemas.openxmlformats.org/officeDocument/2006/relationships/slide" Target="/ppt/slides/slide10.xml" Id="Rcfdd7b38068f4e27" /><Relationship Type="http://schemas.openxmlformats.org/officeDocument/2006/relationships/slide" Target="/ppt/slides/slide11.xml" Id="R718ce47713a04723" /><Relationship Type="http://schemas.openxmlformats.org/officeDocument/2006/relationships/slide" Target="/ppt/slides/slide12.xml" Id="R9afe339e620c4982" /><Relationship Type="http://schemas.openxmlformats.org/officeDocument/2006/relationships/slide" Target="/ppt/slides/slide13.xml" Id="Rd4d30c41095d4bcc" /><Relationship Type="http://schemas.openxmlformats.org/officeDocument/2006/relationships/slide" Target="/ppt/slides/slide14.xml" Id="Rb15b2ed00c264098" /><Relationship Type="http://schemas.openxmlformats.org/officeDocument/2006/relationships/slide" Target="/ppt/slides/slide15.xml" Id="R459748b691f14ab0" /><Relationship Type="http://schemas.openxmlformats.org/officeDocument/2006/relationships/slide" Target="/ppt/slides/slide16.xml" Id="Rf55218a56da64c7c" /><Relationship Type="http://schemas.openxmlformats.org/officeDocument/2006/relationships/slide" Target="/ppt/slides/slide17.xml" Id="Rcd87fc926e20407a" /><Relationship Type="http://schemas.openxmlformats.org/officeDocument/2006/relationships/slide" Target="/ppt/slides/slide18.xml" Id="R310bcb54b7d64b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fbe9d1656e4a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dd8c0d8e64b44" /><Relationship Type="http://schemas.openxmlformats.org/officeDocument/2006/relationships/notesMaster" Target="/ppt/notesMasters/notesMaster1.xml" Id="R77b7f0aacd4249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7a2355e6244045" /><Relationship Type="http://schemas.openxmlformats.org/officeDocument/2006/relationships/notesMaster" Target="/ppt/notesMasters/notesMaster1.xml" Id="R88b98b110116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695eda0e84ebe" /><Relationship Type="http://schemas.openxmlformats.org/officeDocument/2006/relationships/notesMaster" Target="/ppt/notesMasters/notesMaster1.xml" Id="Rc806e0f99b92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680281881b425b" /><Relationship Type="http://schemas.openxmlformats.org/officeDocument/2006/relationships/notesMaster" Target="/ppt/notesMasters/notesMaster1.xml" Id="R28d11b63370f4a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94969cfd1f4b03" /><Relationship Type="http://schemas.openxmlformats.org/officeDocument/2006/relationships/notesMaster" Target="/ppt/notesMasters/notesMaster1.xml" Id="R4647c0564e77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11e1eea55a4b81" /><Relationship Type="http://schemas.openxmlformats.org/officeDocument/2006/relationships/notesMaster" Target="/ppt/notesMasters/notesMaster1.xml" Id="R8cba75c1059846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52b48854224970" /><Relationship Type="http://schemas.openxmlformats.org/officeDocument/2006/relationships/notesMaster" Target="/ppt/notesMasters/notesMaster1.xml" Id="R94454121f67043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a8096b1564c90" /><Relationship Type="http://schemas.openxmlformats.org/officeDocument/2006/relationships/notesMaster" Target="/ppt/notesMasters/notesMaster1.xml" Id="Ra0916ec7fe4b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d422ee67234aa6" /><Relationship Type="http://schemas.openxmlformats.org/officeDocument/2006/relationships/notesMaster" Target="/ppt/notesMasters/notesMaster1.xml" Id="R4da272e5dd41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59219945e2455e" /><Relationship Type="http://schemas.openxmlformats.org/officeDocument/2006/relationships/notesMaster" Target="/ppt/notesMasters/notesMaster1.xml" Id="Rc4821b966df145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cab73f7b2341d5" /><Relationship Type="http://schemas.openxmlformats.org/officeDocument/2006/relationships/notesMaster" Target="/ppt/notesMasters/notesMaster1.xml" Id="Ra32a55c55e8b47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b8654c0d3241a8" /><Relationship Type="http://schemas.openxmlformats.org/officeDocument/2006/relationships/notesMaster" Target="/ppt/notesMasters/notesMaster1.xml" Id="Ra51e5af2b9f848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f3bc0d83a64aa3" /><Relationship Type="http://schemas.openxmlformats.org/officeDocument/2006/relationships/notesMaster" Target="/ppt/notesMasters/notesMaster1.xml" Id="Rf89e508273f246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ee2f80b47a498a" /><Relationship Type="http://schemas.openxmlformats.org/officeDocument/2006/relationships/notesMaster" Target="/ppt/notesMasters/notesMaster1.xml" Id="R9ef5ab079a1243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6a79662be046be" /><Relationship Type="http://schemas.openxmlformats.org/officeDocument/2006/relationships/notesMaster" Target="/ppt/notesMasters/notesMaster1.xml" Id="Reb71ba9603bf40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83a552d52d4269" /><Relationship Type="http://schemas.openxmlformats.org/officeDocument/2006/relationships/notesMaster" Target="/ppt/notesMasters/notesMaster1.xml" Id="R2d5a417a957848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2766ec2e8e483a" /><Relationship Type="http://schemas.openxmlformats.org/officeDocument/2006/relationships/notesMaster" Target="/ppt/notesMasters/notesMaster1.xml" Id="R69f6e7e15a2a45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dcba14f7b044fa" /><Relationship Type="http://schemas.openxmlformats.org/officeDocument/2006/relationships/notesMaster" Target="/ppt/notesMasters/notesMaster1.xml" Id="R60c2e7eec3cb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responsibility details supplied by the user in this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 narrative structure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- /Users/yuza/chess-agent-v2/.presentation-build/assets/sentio-analysis.png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/Users/yuza/chess-agent-v2/app/page.tsx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/Users/yuza/chess-agent-v2/backend/main.py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/Users/yuza/chess-agent-v2/app/page.tsx</a:t>
            </a:r>
          </a:p>
          <a:p xmlns:a="http://schemas.openxmlformats.org/drawingml/2006/main">
            <a:r>
              <a:t>- /Users/yuza/chess-agent-v2/lib/blendshapeEmotion.ts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/Users/yuza/chess-agent-v2/lib/engineProfiles.ts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/Users/yuza/chess-agent-v2/backend/main.py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- /Users/yuza/chess-agent-v2/app/api/prolog/route.ts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/Users/yuza/chess-agent-v2/lib/speechParser.ts</a:t>
            </a:r>
          </a:p>
          <a:p xmlns:a="http://schemas.openxmlformats.org/drawingml/2006/main">
            <a:r>
              <a:t>- /Users/yuza/chess-agent-v2/components/VoiceCoachControl.tsx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/Users/yuza/chess-agent-v2/lib/engineProfiles.ts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/Users/yuza/chess-agent-v2/.presentation-build/assets/sentio-main.png</a:t>
            </a:r>
          </a:p>
          <a:p xmlns:a="http://schemas.openxmlformats.org/drawingml/2006/main">
            <a:r>
              <a:t>- /Users/yuza/chess-agent-v2/.presentation-build/assets/sentio-logician.png</a:t>
            </a:r>
          </a:p>
          <a:p xmlns:a="http://schemas.openxmlformats.org/drawingml/2006/main">
            <a:r>
              <a:t>- /Users/yuza/chess-agent-v2/.presentation-build/assets/sentio-3d.png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summarized from the current deck and repository scope.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/Users/yuza/chess-agent-v2/README.md</a:t>
            </a:r>
          </a:p>
          <a:p xmlns:a="http://schemas.openxmlformats.org/drawingml/2006/main">
            <a:r>
              <a:t>- /Users/yuza/chess-agent-v2/components/Simulation3D.tsx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slide; no external claims or assets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a1bcc5a114c2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945236a7314e78" /><Relationship Type="http://schemas.openxmlformats.org/officeDocument/2006/relationships/slideLayout" Target="/ppt/slideLayouts/slideLayout1.xml" Id="R056ce5b986294f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ce5b986294ff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f6dddb1c47ae" /><Relationship Type="http://schemas.openxmlformats.org/officeDocument/2006/relationships/image" Target="/ppt/media/image.jpeg" Id="R112812bf16134dbb" /><Relationship Type="http://schemas.openxmlformats.org/officeDocument/2006/relationships/notesSlide" Target="/ppt/notesSlides/notesSlide1.xml" Id="Rdced7f53804c44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b034bf0c4339" /><Relationship Type="http://schemas.openxmlformats.org/officeDocument/2006/relationships/image" Target="/ppt/media/image2.jpeg" Id="Rf4d8ab5fc04d47f8" /><Relationship Type="http://schemas.openxmlformats.org/officeDocument/2006/relationships/notesSlide" Target="/ppt/notesSlides/notesSlide2.xml" Id="R9cffb9c6e51847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3b9d4723442ff" /><Relationship Type="http://schemas.openxmlformats.org/officeDocument/2006/relationships/image" Target="/ppt/media/image3.jpeg" Id="R8ed8b7dd572a4858" /><Relationship Type="http://schemas.openxmlformats.org/officeDocument/2006/relationships/notesSlide" Target="/ppt/notesSlides/notesSlide3.xml" Id="R3dff85b74574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2b7f974674df1" /><Relationship Type="http://schemas.openxmlformats.org/officeDocument/2006/relationships/image" Target="/ppt/media/image4.jpeg" Id="Rd2bf52d8535e4596" /><Relationship Type="http://schemas.openxmlformats.org/officeDocument/2006/relationships/image" Target="/ppt/media/image5.jpeg" Id="R4141e69a8aa74c98" /><Relationship Type="http://schemas.openxmlformats.org/officeDocument/2006/relationships/notesSlide" Target="/ppt/notesSlides/notesSlide4.xml" Id="R91a09feb3ff14b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974b0a65451f" /><Relationship Type="http://schemas.openxmlformats.org/officeDocument/2006/relationships/image" Target="/ppt/media/image6.jpeg" Id="Rcf2b03d676b24241" /><Relationship Type="http://schemas.openxmlformats.org/officeDocument/2006/relationships/notesSlide" Target="/ppt/notesSlides/notesSlide5.xml" Id="Rc860290712b043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9247e98824889" /><Relationship Type="http://schemas.openxmlformats.org/officeDocument/2006/relationships/image" Target="/ppt/media/image7.jpeg" Id="R0b478379b9a04f23" /><Relationship Type="http://schemas.openxmlformats.org/officeDocument/2006/relationships/notesSlide" Target="/ppt/notesSlides/notesSlide6.xml" Id="R7eb05b0f284e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e571a18e42b5" /><Relationship Type="http://schemas.openxmlformats.org/officeDocument/2006/relationships/image" Target="/ppt/media/image8.jpeg" Id="R2075a64f4f7c4513" /><Relationship Type="http://schemas.openxmlformats.org/officeDocument/2006/relationships/notesSlide" Target="/ppt/notesSlides/notesSlide7.xml" Id="R3790251cedf9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1184e9cd545b1" /><Relationship Type="http://schemas.openxmlformats.org/officeDocument/2006/relationships/image" Target="/ppt/media/image9.jpeg" Id="Rba9575c471c94fd9" /><Relationship Type="http://schemas.openxmlformats.org/officeDocument/2006/relationships/notesSlide" Target="/ppt/notesSlides/notesSlide8.xml" Id="Ree046369d64147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b1e913814093" /><Relationship Type="http://schemas.openxmlformats.org/officeDocument/2006/relationships/image" Target="/ppt/media/image10.jpeg" Id="Rd502c0a40a97413d" /><Relationship Type="http://schemas.openxmlformats.org/officeDocument/2006/relationships/notesSlide" Target="/ppt/notesSlides/notesSlide9.xml" Id="Rcd4d095bd117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16410b533406f" /><Relationship Type="http://schemas.openxmlformats.org/officeDocument/2006/relationships/image" Target="/ppt/media/image11.jpeg" Id="R32240cb847ae4344" /><Relationship Type="http://schemas.openxmlformats.org/officeDocument/2006/relationships/notesSlide" Target="/ppt/notesSlides/notesSlide10.xml" Id="R798a362ed43642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e2a11e00442f" /><Relationship Type="http://schemas.openxmlformats.org/officeDocument/2006/relationships/image" Target="/ppt/media/image12.jpeg" Id="Re652dd336b5147d0" /><Relationship Type="http://schemas.openxmlformats.org/officeDocument/2006/relationships/notesSlide" Target="/ppt/notesSlides/notesSlide11.xml" Id="Rd15727cb743547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4b2f863f041d8" /><Relationship Type="http://schemas.openxmlformats.org/officeDocument/2006/relationships/image" Target="/ppt/media/image13.jpeg" Id="R15594acca7dd46a7" /><Relationship Type="http://schemas.openxmlformats.org/officeDocument/2006/relationships/notesSlide" Target="/ppt/notesSlides/notesSlide12.xml" Id="R465f0ea4dc6c4d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352fe78994c28" /><Relationship Type="http://schemas.openxmlformats.org/officeDocument/2006/relationships/image" Target="/ppt/media/image14.jpeg" Id="R057627d5dc124ca6" /><Relationship Type="http://schemas.openxmlformats.org/officeDocument/2006/relationships/notesSlide" Target="/ppt/notesSlides/notesSlide13.xml" Id="R1dae4978c27b4c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95892754e42e9" /><Relationship Type="http://schemas.openxmlformats.org/officeDocument/2006/relationships/image" Target="/ppt/media/image4.jpeg" Id="R17d6f4728d0546e3" /><Relationship Type="http://schemas.openxmlformats.org/officeDocument/2006/relationships/image" Target="/ppt/media/image15.jpeg" Id="Re09ac2a6a39f49d9" /><Relationship Type="http://schemas.openxmlformats.org/officeDocument/2006/relationships/image" Target="/ppt/media/image16.jpeg" Id="R662e0530e3a64286" /><Relationship Type="http://schemas.openxmlformats.org/officeDocument/2006/relationships/image" Target="/ppt/media/image17.jpeg" Id="Rb3055e7af5cb4b54" /><Relationship Type="http://schemas.openxmlformats.org/officeDocument/2006/relationships/notesSlide" Target="/ppt/notesSlides/notesSlide14.xml" Id="R2e473be8ed734c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9bb60b48c44a8" /><Relationship Type="http://schemas.openxmlformats.org/officeDocument/2006/relationships/image" Target="/ppt/media/image18.jpeg" Id="Rd64032227fab4523" /><Relationship Type="http://schemas.openxmlformats.org/officeDocument/2006/relationships/notesSlide" Target="/ppt/notesSlides/notesSlide15.xml" Id="R89a363d5b36a48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bcc474084e9b" /><Relationship Type="http://schemas.openxmlformats.org/officeDocument/2006/relationships/image" Target="/ppt/media/image19.jpeg" Id="Rc712b934241f4f59" /><Relationship Type="http://schemas.openxmlformats.org/officeDocument/2006/relationships/notesSlide" Target="/ppt/notesSlides/notesSlide16.xml" Id="Rb2df51a0518642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5220f2ae646af" /><Relationship Type="http://schemas.openxmlformats.org/officeDocument/2006/relationships/image" Target="/ppt/media/image20.jpeg" Id="R351f60ee65cb4b2c" /><Relationship Type="http://schemas.openxmlformats.org/officeDocument/2006/relationships/notesSlide" Target="/ppt/notesSlides/notesSlide17.xml" Id="Rb5421c2e502b48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1a2b7b4ee4d83" /><Relationship Type="http://schemas.openxmlformats.org/officeDocument/2006/relationships/image" Target="/ppt/media/image.jpeg" Id="R5e7cbbe3581c4b2b" /><Relationship Type="http://schemas.openxmlformats.org/officeDocument/2006/relationships/notesSlide" Target="/ppt/notesSlides/notesSlide18.xml" Id="Ra93aab4b11ce425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2812bf16134db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20202D-5CE4-4E90-9289-C02CC97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0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C07B6A-7716-4D6F-A551-8350F3D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AI PROJECT  · 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AB5B3D-69D4-4CC8-A3D9-C81E999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5953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SENTIO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666E46-54AE-40AF-9C45-42FD747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2384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An Emotion-Adaptive Chess AI Agent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3651E0-2AB1-4105-92E0-124FE65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12464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An emotion-aware chess system that adapts difficulty, explains positions, and supports Burmese voice interaction.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DD7C34-BA0F-4B6A-BFEF-B468364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0832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E912B6-9BD9-42F1-9830-D3F3EBA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Presented by  Group-X   ·   Section-C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C2E8AF-7EAF-4A71-90AE-4A8337B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University of Information Technology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23CCBD-9B4A-4041-B096-8220DEF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>
              <a:alpha val="14000"/>
            </a:srgbClr>
          </a:solidFill>
          <a:ln xmlns:a="http://schemas.openxmlformats.org/drawingml/2006/main" w="15875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3D9322-FD6A-481E-8BE9-CB25044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AB9E3A-1D58-46BF-BFFB-A28F29E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365548-960A-4BDC-87CE-0727D7F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9774163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d8ab5fc04d47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9848D0-78B9-4137-BCC3-C9479E0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GROUP-X  ·  SECTION-C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FD972B-556A-47D8-A801-C706F6C7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Team &amp; Responsibilities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5C770E-A2DB-4603-81C1-4EFF3D2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0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EEB9C94-7D3A-4E41-B535-1047C67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56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E7B37F-A2B7-4964-A9EB-7DD807E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56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362F7D-BC8E-4443-A2F4-CC1D4378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b="1"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Member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EE3A7A-37A0-4EB3-8525-06E06D0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TEAM LEADER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2B1119C-A238-4120-A42C-B35062C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20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724268-252D-41CA-A9C4-AC289C7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20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1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Architecture · frontend · backend/API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1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 AI · Stockfish · Prolog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1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features · 3D integration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F08FE0-ABF1-43EC-AC90-F7BDE2E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Full-System Developer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B6E022-2666-49EC-8D48-277C9F6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368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3FA313C-81A7-4138-A46D-BF995EC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84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5E9D37-9548-4EAD-937C-F536B7A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84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49E7F4-3EDA-4CA2-9EF2-ECC747C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b="1"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Member 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269C2A-3198-4010-AD7B-76B4703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CONTRIBUTOR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47985D4-976D-4538-844E-36F40BCF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448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779E41-3A3F-4B2D-BAF9-0C08155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248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coach idea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Burmese coaching concept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55D25A4-D53D-49E9-9D28-3F25F133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Feature Support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A6AD4D-9A88-4A84-9D1F-7BE1F5BF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296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AA12B5D-83E2-4FE3-9934-6776DCA6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112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0D732B5-2FE2-43E8-ADEE-8C00BD7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112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B5D264A-8FEB-46C1-BEA1-D1CF220D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b="1"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Member 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1D272AA-B541-43DB-A6A7-2A5FC34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CONTRIBUTOR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D71AB78-EDFF-4FEE-B33F-F946E07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76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C96BA58-111F-4AA6-9B71-6D10C09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Voice-command idea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Spoken move concept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10D0F1E-D29D-45B1-B579-9A2E148D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Feature Support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DA073EC-0DBB-4747-949D-7FAD58AD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224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7ACCBDD-64D2-46DF-9029-DFB9502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040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A90391-A3D9-4E3D-A0F6-6545460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040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5056A0B-D777-4755-BA52-8A2689D0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b="1"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Member 4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2CC142D-F33E-4904-A08B-4E2A18E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CONTRIBUTOR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28D7AC2-88ED-41B8-B6DD-5444310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304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D4D4A87-63E6-44B9-9F6B-F59D0D4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104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3D hand-tracking design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Interaction · UI feature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2F5D010-9CB8-4530-B90D-1B30D91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Feature Support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61CD63E-6168-4854-89EF-A2DB561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Member 1 built every system layer; Members 2–4 supported the listed concepts and interaction design.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3B4F260-862C-4D48-9123-1754565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2426EE7-EACC-496A-B82B-C8C225E0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2561172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d8b7dd572a485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9C77BF-1F5C-48A1-86B8-6A92D64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WHAT WE WILL COVER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48F105-5458-48CC-8D2B-F0186EF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Contents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1764B0-4196-467C-A044-A3AB0E5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8DCF94-4075-4318-AAAB-EC1C7C1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4A3175-619A-4B81-82E3-40270E8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A7F362-2884-4FF2-B515-3DCA092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011680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7F8C5-1B51-4248-B3AE-A750CC8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1828800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05DA4F-7386-4D19-920B-0FF6F4BC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19659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99C054-86BF-43E6-8C9C-89A53FA8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196596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99CAF3-D520-4353-94C0-1112912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2011680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System Objectives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5BC7A7-4FC5-4BCD-A5CB-454A7EE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0048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F0AC250-F98D-4A04-91A6-4BDBAE8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072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7E9DD5-A5AC-4AB4-B8C7-5C502F3A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072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AD007-9C36-4BE9-BE17-08743E35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852928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Functional Requirements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9F4ED6F-CA53-46E0-96AE-2E7EF79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670048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DC909C-97B3-4B45-8B9B-B00D589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8072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8831C0-69EB-4F1A-B550-815A24A8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8072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84BADD-BD12-44BB-844A-469923EF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2852928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6B5B00D-5071-43CC-BC92-6BA0591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11296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8CA9BE9-2651-43D9-B873-34219C5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4845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2A0BA8-9D21-450E-8754-97A33D8E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6E24A5-4C2D-4BD6-9D81-0E8A433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694176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DA6F61-A42E-4FAE-905B-DA7C2E76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511296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7CEA911-A062-4F6F-B783-99EE861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64845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B2B7779-81B0-47B1-9171-7C906E5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695E11C-F5DC-487B-BE85-2F9EB06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3694176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Code Example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5EE8591-212C-4348-8BC8-3D2F4CB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131948C-89FD-48B3-81BF-4DFDDAE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897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15ABC54-D895-48B4-9CDD-CC97D6C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897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6F98680-0976-411A-9C71-0BC9AA04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535424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System UI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7F30249-A106-4050-8894-C52BF2F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52544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20E85AC-C529-40EB-AC6B-78ED4F8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4897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FEC974-AED7-4AD3-82ED-48E84E5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4897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B5279DF-D0D4-460D-8115-0DE81BB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4535424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Benefits &amp; Limitations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72293D0-3FAE-4B9C-949B-655BF2B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93792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DE8BEAB-B5AD-4B84-A00E-9C3B38A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309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FEEF5A3-861D-4D81-8BB4-5FA1AB7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309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8930C4D-2A1A-45C8-869C-5F5B7ED9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5376672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7BC08C-128B-4AE6-AF1B-EEA62CF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93792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17C6D71-147F-457F-987F-ED01FF4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3309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BC9894C-03D9-4B08-ABF4-42E86131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3309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5FD6559-0B17-420F-A6BC-C7DE32F8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5376672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Conclusion &amp; References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D82F489-691E-433C-8376-462D747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0F7D634-DC9A-4597-B7B1-A2B66109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27717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bf52d8535e459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CAA2B8-571B-43AC-8AD7-D6489AAC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The project in one slide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09CAE8-89B7-4EC4-9366-8D5867B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What is Sentio?</a:t>
            </a:r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B093FC3E-1D47-42D4-93F0-A562EA4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564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C59A7961-061B-4A36-BDA3-DB02049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F65D8D4D-F4C1-4693-AFDB-60F5D2C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EB4A7C25-3C97-4980-9878-CCE2FD5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3852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Emotion-aware chess</a:t>
            </a:r>
          </a:p>
        </p:txBody>
      </p:sp>
      <p:sp>
        <p:nvSpPr>
          <p:cNvPr id="100" name="Text 98">
            <a:extLst xmlns:a="http://schemas.openxmlformats.org/drawingml/2006/main">
              <a:ext uri="{FF2B5EF4-FFF2-40B4-BE49-F238E27FC236}">
                <a16:creationId xmlns:a16="http://schemas.microsoft.com/office/drawing/2014/main" id="{260B3FDE-E0A5-49E5-85B9-51D326B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1284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7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 full-stack chess app that senses the player's state while the game is running.</a:t>
            </a:r>
          </a:p>
        </p:txBody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32A34447-487A-4AB0-B45F-ECDE1C87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720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53B0939C-FEB4-494C-973C-C14A476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F84C0B39-E1A2-41E7-8523-D4D3BD5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AA00D044-0898-4F74-9E27-FC99DB7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99008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Adaptive Stockfish</a:t>
            </a:r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2587A5AC-74BD-482E-9072-97A6DE8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26440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7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 changes engine depth, skill level, and ELO automatically.</a:t>
            </a:r>
          </a:p>
        </p:txBody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7C63A311-DF95-4F15-A302-5A2E7E6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3D8281E-1868-4064-ADED-957A584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08" name="Text 106">
            <a:extLst xmlns:a="http://schemas.openxmlformats.org/drawingml/2006/main">
              <a:ext uri="{FF2B5EF4-FFF2-40B4-BE49-F238E27FC236}">
                <a16:creationId xmlns:a16="http://schemas.microsoft.com/office/drawing/2014/main" id="{E38F7DB4-08F6-4B61-B06A-7176FD2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64EB684E-FCD8-46E1-8BDB-17EBA3B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04164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Explainable coaching</a:t>
            </a:r>
          </a:p>
        </p:txBody>
      </p:sp>
      <p:sp>
        <p:nvSpPr>
          <p:cNvPr id="110" name="Text 108">
            <a:extLst xmlns:a="http://schemas.openxmlformats.org/drawingml/2006/main">
              <a:ext uri="{FF2B5EF4-FFF2-40B4-BE49-F238E27FC236}">
                <a16:creationId xmlns:a16="http://schemas.microsoft.com/office/drawing/2014/main" id="{16BDD02C-6FB1-478C-8B44-5E2BDAB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31596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7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Prolog gives traceable rule-based advice; the LLM provides separate natural-language coaching.</a:t>
            </a:r>
          </a:p>
        </p:txBody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9403614D-2FB8-49B5-9E83-D719034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032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CFF0CC3A-531E-48EA-A522-927DA1E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7E9CEF40-A74E-44CC-8EB4-AE75C49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78010794-EC12-4FA6-AA46-5418E4C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09320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+ 3D interaction</a:t>
            </a:r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49AB668A-706E-47BB-88EA-B110F53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36752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7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Burmese voice moves, voice coaching, and a hand-tracked 3D arena.</a:t>
            </a:r>
          </a:p>
        </p:txBody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F29BB27D-13F6-461D-873D-FAE0FE1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85533176-6A70-46E4-B821-D5BA49A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1e69a8aa74c98"/>
          <a:stretch xmlns:a="http://schemas.openxmlformats.org/drawingml/2006/main"/>
        </p:blipFill>
        <p:spPr>
          <a:xfrm xmlns:a="http://schemas.openxmlformats.org/drawingml/2006/main">
            <a:off x="566928" y="1755648"/>
            <a:ext cx="6858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1070504145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2b03d676b242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AACAB0-0CFF-40C7-8B5E-63B5C39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Why Sentio is needed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52471F-5525-4C76-8D28-31114696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Problem Statement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146C90-D4E5-4141-B4B2-240C08A4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D984BA-2A9C-4A5D-8E73-1262B8C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14BC38-4476-4720-9D55-421D877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943FAA-7C74-4362-9E60-0FDE17D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Fixed difficulty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F6393C-4E8C-4672-A746-C407474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One fixed setting cannot match a player's changing focus, stress, or confidence.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E878861-A139-4803-A3B2-ADBDD96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EC4C2E-D357-4C42-A90C-8052F2DD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09729A-499B-4BC0-BD3E-8BEB80F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785268-2744-4A72-94C6-0BE6B37F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Beginners give up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4685B-138E-428B-9830-B55B3FF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Beginners lose motivation when every game feels impossible; stronger players stop being challenged.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8BA3E67-BDA3-4204-8F67-BF60E39A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4C4A53-0211-45CA-91C5-DCCABCA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937302-B5D6-4765-B879-162F4A3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E60D7B-02EC-49BD-966B-D1AF4C8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Feelings are ignored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DB4A67E-8BE9-4779-8F17-B252184B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No engine notices that the player is stressed, tilted, or completely focused.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A7E6472-9510-49A8-BB51-19D5211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BDBB652-9F67-4BF0-82A6-FD0174A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5A723E-A85F-46DD-A20C-ACAAF37E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C7362E-BBDA-4DF2-8306-C802F07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No encouragement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AA0A6C-B51B-44F2-9A0C-5811BE8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 frustrated player receives no support — only another losing position.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CD50C64-F0BD-4565-BC81-770F6491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66DDA39-D965-48DE-8B41-99AE00F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2E4630-CB7E-416D-BD10-E7FB0A2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461CBFC-03F3-4DC5-B86A-79D04B25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Language barrier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DD2B55-77BA-45EB-A17A-4ED9FC5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Chess coaching tools are English-only, closing them off to many local players.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C42008A-BEBA-4717-BCB0-D33DFCD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7B7142A-6AD8-4C89-ACFE-066CAB0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885" y="3849624"/>
            <a:ext cx="2881274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 b="1" i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The engine should adapt to the player — not the other way around.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02F0EEF-7FF3-4BDC-8CC5-0F8C76F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F98428-27C6-43F1-83EA-3E7480E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2360219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478379b9a04f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29BF03-F44A-486D-BBE1-00B967ED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What Sentio must deliver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84C6F0-6AB2-4FF6-A76C-5B829FD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System Objectives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628268-E176-494F-8D98-F5642EBB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0A35D6-547A-41FD-8351-112EFED8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EE2D68-EEA4-4971-AC22-FCA3DFB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984248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8A3D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35F0DAC-2DEB-4E32-B1E0-E5E1F45F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1965960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Detect emotion in real time from the player's webcam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28C8EC-1ABB-4620-86FC-E46DE570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9192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34250B-84BD-4808-B8E2-6E21113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9192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A492A6-92E1-4220-AB83-8ED357FD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80360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C24B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6A9BDD-207A-4046-8DCD-DC777FC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862072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Adapt engine strength automatically to that emotional state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23C409-7385-42AF-A7AF-F8B9ACF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75304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B8B21A-3CE7-43E9-B1B4-C7B5409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75304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0181D4-B2DD-41ED-814B-10E9214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76472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705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64BB94-60B4-46F5-8F25-D297607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3758184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Give natural-language coaching through a large language model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2787A5-E49B-4128-9658-149D768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71416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9868B31-91BC-4E42-8C8C-3C38CBB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71416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4B14548-D9EB-4FEE-905F-56F67C1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672584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D9663D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D81548-13D3-4732-BA47-5384490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654296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Give explainable, rule-based advice from a Prolog knowledge base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547679-0C9B-4E13-B5C4-1778F05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6C1DCCD-4737-417F-8554-4396E7D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1C3F7C7-FE9A-47CF-A791-A4590034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568696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8FA6C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E1942A5-6D2A-4172-A6BE-8EA35C75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5550408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Accept Burmese voice input for both moves and coaching questions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259564B-EC99-4239-98CB-AD339E1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3950EC1-B731-4DDF-A25E-BDCDCE1B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2738444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075a64f4f7c451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5CF967-3C05-4DCF-A8B9-1A8CDDB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Core system requirements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BD88B2-C18B-45B3-915C-12F37C7C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Functional Requirements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84C63A-88AB-46E6-963E-80A1269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326D1B-89DD-4B1E-8DD3-7BA25B8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0E45EAE-64C5-48BB-B093-8D53310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♟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9B1A87-B587-4729-9B1C-F0F6EFE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Full legal chess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C5EBA5-FB80-4B7D-ADBC-AE8A64D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Move validation, promotion picker, undo and PGN export.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6D4093-0FC4-4482-8EF6-58C67B92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98D465D-8A23-4C16-B259-351BF78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769D63-91DA-4260-ACF1-69BB508F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37BE05-C2AD-4721-9094-9130914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 capture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EB3427-33D4-4955-BCDB-AFBDE9A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Read webcam frames and classify them into six emotion labels.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7F5EFC8-FB00-4678-AB24-3B3E527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F1A319E-7279-4EDD-A1FB-DD48A84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F9DE55-46CA-4110-B065-D6CBBB4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⚙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A224A4-8023-4C4C-8B96-340D46E6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Strength mapping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7407F9-50C7-4F7E-BC15-D64645DD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Turn the emotion into engine depth, skill level and ELO.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BB78C8-5EC4-4DA2-8390-F9C2B09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E1CCEE6-2021-4BDB-944F-774365C9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A9F42AE-72E6-4B6E-A4EB-878A553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⚑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D4196B0-242C-475A-95C5-5066E7B9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Coach chat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DD815A-3E83-4719-AB0A-8D87E210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Answer position questions in the AI Coach panel.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9D7C90A-F8FA-446E-BFBB-5BB5E22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AE9F34E-A272-457D-9C1A-BDBFB3EA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3C45D22-2052-4494-8439-0CA05477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▶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8D8885-202C-4E70-8C8F-F82BE26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moves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35C8A7-BE5E-410C-944D-ECA2CC7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Accept spoken moves in Burmese and in English.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4C44534-EE80-4FD3-A046-7F25068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F93E76A-3A7D-4B8F-834F-02B71AD6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E75F6B4-BC5B-4A87-8D8D-97DA870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▦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A5AB17A-E2CE-4C68-BA79-09190EB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Live feedback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A54DFE8-0C11-436C-8CF9-3EDDF24F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Evaluation bar, opening names and move hints on demand.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4820AC4-6EDA-4A03-8B4E-469B9A1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CF91224-4C1B-4C48-9DE7-58BDD0A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836379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9575c471c94fd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B028B1-FBE9-4631-83AD-E451C93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How Sentio connects every AI layer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738D2A-B64D-4070-8305-076D1BB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System Architecture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41A2EC-63EF-4A7E-AFF3-326D0F9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B44301-C2E1-49FC-8469-10CD222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01952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0E504D-4000-495F-A244-B954549A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01952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BROWSER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133243-F4CD-4A71-AB34-7E3CCC1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77039E-DFAA-4367-90FF-38AEA75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React chessboard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9D970AC-B864-4C65-89CA-414F572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17BE34-ADD3-46AD-B2C4-00B76F5E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face-api.js emotion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F79B97C-3151-4B52-A327-F3541E8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69AB9BD-236E-4309-8D45-AC8F6E2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Coach chat panel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5423E6-BAB0-499C-B793-DF7C613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F259C5-C684-4EC4-BB63-AE0C31F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Three.js 3D board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D86B2CD-1B10-4B64-9903-BFF1A4C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32" y="2889504"/>
            <a:ext cx="256032" cy="25603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9D98B1-35BB-4D68-B909-67E822E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2898648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HTTP / JSON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67666AD-8ADE-428D-8539-AF7D478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82112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413C37-5BD0-42DE-A3B2-92FE97B7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83280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62E4D77-A3FF-465C-9DEE-4C9AF57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83280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NEXT.JS SERVER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315D866-E563-4413-BC81-D7CC505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648410C-8D24-4EB8-AE0B-420D1B9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/api/bot-move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5AC0FC4-50C5-46CD-AF5C-6571420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180EE3A-1858-4613-854D-5D21A5C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/api/coach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CD2000B-C702-45DA-B865-005421B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782402A-4DA1-43E9-9E23-4AA00F7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/api/transcribe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0BF3040-CA25-4579-A63B-96409CE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A01C4E-AD50-4725-A650-998C634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/api/tts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AAB12B8-6588-4C32-97FE-0B59E4E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32" y="4370832"/>
            <a:ext cx="256032" cy="25603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2698CB-C7E3-4BF6-AF5F-2AB8B2F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379976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HTTP / JSON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BBFBBCA-2063-4A80-A3FF-A6BEE99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3440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965C41E-1B22-4BD3-BC82-44D7A25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64608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AE86753-35F0-4EB9-A4BC-DA71580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64608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PYTHON BACKEND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D51A1C-BC43-42F0-802A-8EB6F5E9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E7BD007-BC4C-47E7-9E92-96D3AAA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pool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81D05C9-3A9D-493B-AE08-30ECA98E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4EE07AE-DF38-4E61-BB91-8799E7B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faster-whisper STT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3658BBC-8D0E-43BF-AF02-CD7833E5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A4F6793-3F19-4946-8550-71E39E8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SWI-Prolog + pyswip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4E27400-5BA6-4DB5-B1A3-5E87F58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5EB4D6E-6A1E-4565-AF62-5EDDBFC9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FastAPI + Uvicorn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A82CDAD-8C2C-4545-B942-217296F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08192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Next.js  ·  React  ·  TypeScript  ·  Tailwind  ·  chess.js  ·  Python  ·  FastAPI  ·  Stockfish  ·  SWI-Prolog  ·  Groq LLM  ·  Whisper  ·  Three.js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38D6792-D4DC-4036-9800-1938E4B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3990220-9357-4210-9A10-3B29AF8A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6302299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502c0a40a97413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A232A7-8296-4619-B15C-465287A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Stable emotion detection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8C8195-6FDA-4852-9625-03D2438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Methodology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8FAB92-9D13-4FFA-8368-4E297C60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CA18DA1-8AE8-4C29-B35C-7294D42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4201D53-B3B3-4604-B74D-C538FFC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7AD4C8-B256-4796-AC92-450F3A0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Capture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16248B0-6E4D-4082-8E68-3171766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 webcam frame every 2.2 seconds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8F37481-5CA8-4655-9BFC-7F771DAE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1B9B39-DC79-45E9-AF45-5C515F4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122EDE-3C96-4733-AD36-3D69C10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6AA979-3A0A-4C02-BDB4-03FD924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87160E-5C44-43EE-914B-7B8AC11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Detect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401E115-AD06-4C06-9F85-17C3A6D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TinyFaceDetector locates the face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4A751F-4283-4F50-82CE-57C300E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9B1AB13-217D-4C37-AC1F-BD15D01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60D543B-9CB0-4D51-AFFE-2F1D1EC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514638-EA07-45E1-83B1-FD2F133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D084D8E-1E43-41FC-8583-E70DC01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9A85A89-6929-4447-8F5F-34439E0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FaceExpressionNet returns 7 expressions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20FDE4B-8B2D-44DB-A27F-73CC50A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4940276-0CAE-49CA-BEF9-08EF158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877D295-C279-4860-8350-DD51AA5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A15B10-E56B-4D39-B203-53C69AA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093BAB-A909-459D-A632-155AEAF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97C446F-FD1B-492F-9BAF-F9FB3AEB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The last 3 readings are stored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24BDE9F-9523-4E7F-AD3C-3FB9098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889A362-1AF5-4836-9A48-678C4F1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05FF8DD-55A2-49F6-91A5-5E7C9142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5D8EAEF-E24D-41FE-ACBF-D0DBB66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1B8C9D5-DEC9-4B72-A589-912F7B3C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D8CF01A-8D95-4534-AD4E-70A6351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Majority label becomes the emotion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8A8977C-5B96-4C34-BC00-10400EC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11057839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8A99FEF-1AFF-4A10-AF70-4D992EC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01184"/>
            <a:ext cx="10436047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If two labels tie, the previous emotion is kept — this stops the engine strength from flickering mid-game.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07870D5-8CA2-47E4-99EC-D2BD1B6B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28DE13-DE22-41AD-BA61-5CFA0FF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6547012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240cb847ae43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4D6990-E0DC-48FD-8E43-0B5B369B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 changes Stockfish strength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65A172-78EF-4C7E-A960-759AF1D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Methodology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3EBFD4-AB62-4E06-818B-4EF1336D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856C6B-17F4-499C-BE43-0C8F1C72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4A8391-BE13-4D73-9DE9-61309E2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DB475B-164A-4F9D-B4E9-84C62F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27632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ELO RATING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350087-ED4D-4880-A0C0-76051059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E5A3BF6-C7A6-4844-A56C-F40ABDA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484B"/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45DE410-943E-4310-843E-A8C03E8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20824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Stressed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EBF4D94-E398-4E30-95E7-79B2D28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0253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484B">
              <a:alpha val="22000"/>
            </a:srgbClr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748D4E8-1C55-4944-9376-7008757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0253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F38EA2-CC01-4C02-88B6-8A55226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00253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484B">
              <a:alpha val="22000"/>
            </a:srgbClr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0DB284-13ED-46BA-8911-46EB2B56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00253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9B6A32-E274-4383-AA4C-39F2707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2996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17BA407-641B-4D8B-A110-3372D25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29968"/>
            <a:ext cx="126729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4B"/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24ADF9-236B-4F3B-B845-C240F70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302" y="202996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1320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BC9136-8557-4CBF-AA16-C237F46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23744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588BEC1-35B3-48DD-9C53-7B1DC19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23744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63C"/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D9F54FF-FB5D-4E4F-8CBB-116D0FC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97480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Frustrated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A1982B9-E932-4A77-885D-52097B2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679192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663C">
              <a:alpha val="22000"/>
            </a:srgbClr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98EE2A-FBBB-47A3-8616-8405690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679192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F9CD4C4-1422-4865-94E3-897910B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79192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663C">
              <a:alpha val="22000"/>
            </a:srgbClr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F99008-60B5-46F1-A2D3-FB8B06C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79192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1DA8087-6075-4081-AB16-8422951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706624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C7D4DA7-6CBE-4AA7-93C5-DCB4D73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706624"/>
            <a:ext cx="126729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63C"/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851F27-BC30-4AA9-967D-C0AA315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302" y="2706624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1320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E3D7928-A23E-48B1-B92D-15735628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51DB18A-8715-4071-A94A-65DAFAD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BA05D6-7C33-4517-A2F3-4FDF63F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74136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Calm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5ECB773-4D11-4AE5-84FC-4F92C65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>
              <a:alpha val="22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84E0D92-4551-4312-858B-0357980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204E3E6-DFBF-4353-B6E6-5CA3FA9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55848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>
              <a:alpha val="22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F8AEF41-2A0D-44A1-A28C-778C5A7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5584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0985620-A54F-4B42-8918-385DB82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383280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33C5EE6-203D-4923-9F1A-19B161C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383280"/>
            <a:ext cx="209071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1DD4635-E143-4AEB-80AA-2CB331E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2" y="33832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1600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6BEF433-B51E-4AC2-9FED-47EC15DE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77056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75F3FBC-7873-4E14-99CD-F28589D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77056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A83F"/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7313CCC-3E39-4371-8A0A-932CCA5C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50792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Neutral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3D6B948-8266-484B-8040-910E5358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32504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A83F">
              <a:alpha val="22000"/>
            </a:srgbClr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A34A546-04A1-4671-8B34-6BF97E5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3250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E5C1CF7-DAC7-42AC-8A61-BA5B695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32504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A83F">
              <a:alpha val="22000"/>
            </a:srgbClr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226EB43-2FD2-47D1-9D87-0784D19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3250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6965329-1B88-45DF-97B8-10F88F9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59936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74323A4-8B33-4F3C-B45E-6CA72DB0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59936"/>
            <a:ext cx="326702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83F"/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7ABA0AF-AB6E-40B8-AE48-AC8C44BB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035" y="4059936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2000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5ED2CB30-6255-489B-BEC7-5426DAA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786056D-4CAA-456A-8677-BF007FC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59E89A1-2B76-4032-B316-278E5E9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27448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Focused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BF6F628-7115-40ED-B907-50D78C66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09160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9772F25-2DDB-4DE7-9CC7-A211C7E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091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C946F63C-7776-4DBA-9D7E-02AF65E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709160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F9882FCA-EB8A-4642-8763-B55E70E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7091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96BE1F7-94E8-4469-AD9B-97635CF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736592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6EDFEC4-EA47-426A-A8FE-874CFAE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736592"/>
            <a:ext cx="503149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D332D0A3-742C-4555-9690-7F992E70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505" y="4736592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2600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6BBB8C62-BB67-4F24-B429-1ED630D2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5370205-94EB-42DB-B930-410AB59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7A"/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62F44F98-96D4-4ED6-BA83-19FFD99F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04104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Confident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217D741-D356-4A82-AD08-6CF01A6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8581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DE7A">
              <a:alpha val="22000"/>
            </a:srgbClr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F8DBFAA-6DEB-4F0C-A0F6-43513FA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8581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F533D67D-1583-4E1F-BCC0-CA9C48D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38581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DE7A">
              <a:alpha val="22000"/>
            </a:srgbClr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9435A51C-A72F-446A-87F7-1EAEDE2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38581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0DE3481E-A0BA-4C60-8DFD-9DD9ACDB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41324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375C021-DE6D-4FB4-A410-1129AE2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41324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E7A"/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9486713E-A3CC-4545-855D-CB4C900B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54132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3190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271C3B8-B455-480F-86C2-2566D35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accepts a UCI_Elo between 1320 and 3190 — the full supported range is used.</a:t>
            </a:r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B1588727-E770-4609-A360-53C81E0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34B614E4-9691-4B3C-AA73-CE0EB5F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394849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52dd336b5147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8ADC4B-DB00-4E25-A699-43E5840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moves; Prolog explains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3AF495-F5EB-47B4-ABE1-65CF2A6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Methodology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A5549F-19E8-4BDA-A907-11A972F4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engine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4C1886-67FF-4A89-9312-97BFA07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38528"/>
            <a:ext cx="5486400" cy="196596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00FBF84-0A1D-4BDD-BAEF-B1D814D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2E48FF-633B-4BDB-8207-4B69C64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103120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fen + emotion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5B3110-420F-42AC-9A2F-4160E12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468880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4AF9CD1-1BF4-4BE4-945D-E547E35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ABA685-5166-41A7-888E-9B2B97AC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578608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resolve_strength_profile()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DCF2D4-BF49-4F21-901D-ABC2580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944368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8C0864-3423-4762-B171-D9A9D55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4096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9B29BCC-F2F8-42EC-BEF0-748F8F6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054096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Stockfish engine pool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94ECF0C-B898-4B99-AD1C-628FEEA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3419856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A1A59C-3BA6-4CA0-B56E-E11A141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705A">
              <a:alpha val="16000"/>
            </a:srgbClr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5D27F3-0522-40B3-B676-5EF0B06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29584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botMove returned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A1E6E2-13F2-4831-8A81-4D4E149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41648"/>
            <a:ext cx="53035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 pool of persistent engine instances keeps replies fast.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Each request sets UCI_Elo, skill level and depth from the profile.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F1BE575-0990-41B5-B1B0-79E13A7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522396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The Logician — Prolog reasoning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1CA71A9-1027-45EF-88F4-0DE223C8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38528"/>
            <a:ext cx="5223967" cy="2615184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805E24B-EFD8-4ACA-90F2-05779871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2140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7EE3733-DD2F-4884-8888-048F5CF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35000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FB63A63-A1A8-4852-941E-62D14AE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35000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2181B5-6A7E-45E1-A5C5-A8DB090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12140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Your knight on f6 is hanging — attacked and undefended.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59DC999-E54C-4651-B78F-5EB45D1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94436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5961313-3AB7-4A9B-A1F9-6150DB4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7296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FD6318-F15E-4EFA-BE74-D51332C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7296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MEDIUM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C8F133C-6D3F-46CC-BF00-A1EDDA1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94436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You have not castled; your king is still in the centre.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49518C-8036-4DBA-B4BE-512DCFD2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76732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976F06B-0B93-4A3A-B522-4E1493A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99592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3299090-8FF1-4A25-84E6-AACB64D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99592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431F705-A334-49AE-8BAD-9997310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76732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Black controls d4 and e5 — good central presence.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2B4D4D4-D805-47AF-AC06-5BD17E2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1728"/>
            <a:ext cx="5223967" cy="877824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2705A">
              <a:alpha val="18000"/>
            </a:srgbClr>
          </a:solidFill>
          <a:ln xmlns:a="http://schemas.openxmlformats.org/drawingml/2006/main" w="15875">
            <a:solidFill>
              <a:srgbClr val="F2705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613E9CB-B9FE-45DD-ADEC-9E3F5B5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681728"/>
            <a:ext cx="4675327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searches for strong moves. Prolog reads the same position and returns rule-based advice that can be traced and explained.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91BFFD8-797B-4E00-B665-6089844F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33C4FFF-A8F3-48CB-A2C5-0E014F81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5487509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594acca7dd46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5655F0-5664-41EA-A5DB-BF59D52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Two voice paths: move or ask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51C5BD-2B10-4C1E-A3B4-36EF675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Methodology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2A478E-92DE-4F65-807C-18BB956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LLM Coach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64E43E-9BEB-43C3-9010-37A20853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53035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Receives the current FEN, the detected emotion and the question.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Produces position analysis in plain language.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Suggested moves appear as clickable “Play” buttons.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Tone follows emotion — encouragement or a challenge.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5C032A-3022-482C-865C-E332B989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5486400" cy="20116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8CFF89-6E5F-4FDC-AF3B-BA9172E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9534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AI COACH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00F1AC4-83DC-4D75-A62C-163B026D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58768"/>
            <a:ext cx="11887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4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2F48A5-0456-4C85-A842-3F38A44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58768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focused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6BDA378-7C6B-48D9-B803-50626A1C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4261104"/>
            <a:ext cx="32918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EA7060-E627-4C65-9E49-3991549A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261104"/>
            <a:ext cx="2999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What is the best plan here?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8C6640-867B-49BF-8C1A-A060860A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46634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23E87E-5457-4844-AD4C-63B06EC0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19472"/>
            <a:ext cx="4370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Castle short first, then push d4 to open the centre.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61BDDA-5545-4D92-87B8-5454A58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522396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Burmese voice interface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D13F862-E842-4394-A878-02D4228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6816"/>
            <a:ext cx="5223967" cy="859536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27F8D32-48A2-4B77-8E51-4B9DBED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396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9EB602-3164-4AA8-B00B-2E9CFCB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3969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211F96-B684-4F3E-A3FB-839153F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139696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3B19C81-F987-4548-A7BB-746CB4C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414016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Push-to-talk in the browser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AD8D2D0-D7C8-473B-906B-E67BA20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7792"/>
            <a:ext cx="5223967" cy="859536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14AE97B-B232-4232-A0EE-828E7EF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0906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D774065-CF8C-4A66-9EFC-8867995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0906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◆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368D5F-3CB3-487A-9829-4D7D319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090672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Transcribe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5899DE-7F05-4904-9BAF-49D8FB0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364992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Local Whisper first, cloud as fallback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016B36-467A-4967-8D68-C97ECDDB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7056"/>
            <a:ext cx="2474824" cy="1883664"/>
          </a:xfrm>
          <a:prstGeom xmlns:a="http://schemas.openxmlformats.org/drawingml/2006/main" prst="roundRect">
            <a:avLst>
              <a:gd name="adj" fmla="val 534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FE1D2F2-0CF4-4A86-9141-D40D28F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7056"/>
            <a:ext cx="2474824" cy="475488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CF84EEA-3AE8-442E-B474-D2C5187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77056"/>
            <a:ext cx="21090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Moves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88D38B8-C8E8-4E67-B2F0-BC11E69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517136"/>
            <a:ext cx="1962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Parsed by speechParser.ts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Burmese chess vocabulary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Only legal moves are played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13DC680-BB7F-46FB-8C41-D085D13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944" y="3877056"/>
            <a:ext cx="2474824" cy="1883664"/>
          </a:xfrm>
          <a:prstGeom xmlns:a="http://schemas.openxmlformats.org/drawingml/2006/main" prst="roundRect">
            <a:avLst>
              <a:gd name="adj" fmla="val 534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1686A23-9868-4A77-916F-C974924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944" y="3877056"/>
            <a:ext cx="2474824" cy="475488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CE90495-65D4-4C33-8E4A-061C92B8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877056"/>
            <a:ext cx="21090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Coach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CF7626A-9741-4150-A78B-6D5B1B0F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76" y="4517136"/>
            <a:ext cx="1962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Sent to /api/coach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Answered in Burmese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Read aloud by Burmese TTS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F8B4783-D1C4-4294-905C-3875272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B3724DE-71ED-4C2F-BBF5-E485179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1206058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7627d5dc124c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C86C27-03B0-4107-B88E-C90D095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One emotion profile, two implementations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219C0B-4F8C-40B8-8744-979D04A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Code Example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4FAC38-90F5-499A-99D0-D05FB1B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5669280" cy="4160520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5875">
            <a:solidFill>
              <a:srgbClr val="FF8A3D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012231-C29B-4D38-8462-CA52B3FB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493578-7D38-4259-8D90-79CD1A8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8712600-DFAA-494C-B4BA-08FF3DB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D17E"/>
          </a:solidFill>
          <a:ln xmlns:a="http://schemas.openxmlformats.org/drawingml/2006/main" w="12700">
            <a:solidFill>
              <a:srgbClr val="9BD17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CC85E5-3299-4824-807E-87B15E8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28800"/>
            <a:ext cx="4480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lib/engineProfiles.ts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ED1237B-1966-4B5C-A671-4AA6724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03120"/>
            <a:ext cx="512064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export const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EMOTION_PROFILES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= {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stressed:  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1320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frustrated: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1320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calm:      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1600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neutral:   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2000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focused:   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2600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confident:  { depth: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3190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export function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clampElo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(elo: number) {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return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Math.max(1320, Math.min(3190, elo));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73ABFDA-4176-46C4-8456-EE2E760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700784"/>
            <a:ext cx="5111496" cy="4160520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5875">
            <a:solidFill>
              <a:srgbClr val="F2705A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2767078-13A5-40BD-8841-D4164F6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21BD8DC-D76F-4658-A8EE-9A73C9F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7DAF47C-F398-45E0-9420-12BBDF66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D17E"/>
          </a:solidFill>
          <a:ln xmlns:a="http://schemas.openxmlformats.org/drawingml/2006/main" w="12700">
            <a:solidFill>
              <a:srgbClr val="9BD17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76F968-FD6A-43A6-9E62-6A1984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828800"/>
            <a:ext cx="3922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prolog/ai_system.pl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FD03A2-B1C6-4EA3-A625-2EEBB94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103120"/>
            <a:ext cx="4562856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% emotion to engine strength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(stressed,    1,  1, 1320).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(frustrated,  2,  3, 1320).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(calm,        4,  6, 1600).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(confident,  10, 20, 3190).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% face to emotion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expression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(happy, confident).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expression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(angry, frustrated).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% join the two together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engine_for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(Expr, D, S, E) 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:-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  expression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(Expr, Emo),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    profile</a:t>
            </a:r>
            <a:r>
              <a:rPr sz="11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(Emo, D, S, E).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3C764D-B56F-4ABD-AB03-BBF29257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53328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One source of truth in TypeScript; the same knowledge as declarative facts in Prolog.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C5CA9E-CB17-4A3B-97D9-3224C05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8BF894-1B1F-4EC3-8D96-B99555C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8581913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d6f4728d0546e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CAA2B8-571B-43AC-8AD7-D6489AAC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Real Sentio UI — game, reasoning, and 3D control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09CAE8-89B7-4EC4-9366-8D5867B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System UI</a:t>
            </a:r>
          </a:p>
        </p:txBody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F29BB27D-13F6-461D-873D-FAE0FE1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85533176-6A70-46E4-B821-D5BA49A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18" name="ui-label-live-game-coaching">
            <a:extLst xmlns:a="http://schemas.openxmlformats.org/drawingml/2006/main">
              <a:ext uri="{FF2B5EF4-FFF2-40B4-BE49-F238E27FC236}">
                <a16:creationId xmlns:a16="http://schemas.microsoft.com/office/drawing/2014/main" id="{B11451DA-F607-41B4-90B2-5AA388C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81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LIVE GAME + COACHING</a:t>
            </a:r>
          </a:p>
        </p:txBody>
      </p:sp>
      <p:sp>
        <p:nvSpPr>
          <p:cNvPr id="119" name="ui-label-prolog-logician">
            <a:extLst xmlns:a="http://schemas.openxmlformats.org/drawingml/2006/main">
              <a:ext uri="{FF2B5EF4-FFF2-40B4-BE49-F238E27FC236}">
                <a16:creationId xmlns:a16="http://schemas.microsoft.com/office/drawing/2014/main" id="{35622E88-DD14-41C8-9CC8-82B5B30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PROLOG LOGICIAN</a:t>
            </a:r>
          </a:p>
        </p:txBody>
      </p:sp>
      <p:sp>
        <p:nvSpPr>
          <p:cNvPr id="120" name="ui-label-3d-hand-tracked-arena">
            <a:extLst xmlns:a="http://schemas.openxmlformats.org/drawingml/2006/main">
              <a:ext uri="{FF2B5EF4-FFF2-40B4-BE49-F238E27FC236}">
                <a16:creationId xmlns:a16="http://schemas.microsoft.com/office/drawing/2014/main" id="{083A5D2F-1153-4FB6-9676-141DBC06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3D HAND-TRACKED ARENA</a:t>
            </a:r>
          </a:p>
        </p:txBody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ac2a6a39f49d9"/>
          <a:stretch xmlns:a="http://schemas.openxmlformats.org/drawingml/2006/main"/>
        </p:blipFill>
        <p:spPr>
          <a:xfrm xmlns:a="http://schemas.openxmlformats.org/drawingml/2006/main">
            <a:off x="739436" y="1809750"/>
            <a:ext cx="6722533" cy="3781425"/>
          </a:xfrm>
          <a:prstGeom xmlns:a="http://schemas.openxmlformats.org/drawingml/2006/main" prst="roundRect">
            <a:avLst>
              <a:gd name="adj" fmla="val 2519"/>
            </a:avLst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e0530e3a64286"/>
          <a:stretch xmlns:a="http://schemas.openxmlformats.org/drawingml/2006/main"/>
        </p:blipFill>
        <p:spPr>
          <a:xfrm xmlns:a="http://schemas.openxmlformats.org/drawingml/2006/main">
            <a:off x="8154458" y="1809750"/>
            <a:ext cx="3217333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55e7af5cb4b54"/>
          <a:stretch xmlns:a="http://schemas.openxmlformats.org/drawingml/2006/main"/>
        </p:blipFill>
        <p:spPr>
          <a:xfrm xmlns:a="http://schemas.openxmlformats.org/drawingml/2006/main">
            <a:off x="8154458" y="4029075"/>
            <a:ext cx="3217333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</p:spTree>
    <p:extLst>
      <p:ext uri="{BB962C8B-B14F-4D97-AF65-F5344CB8AC3E}">
        <p14:creationId xmlns:p14="http://schemas.microsoft.com/office/powerpoint/2010/main" val="107050414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64032227fab45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256236-D392-4916-906F-25F458A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Benefits — and honest limits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3BA325-062B-4165-91EE-9E75E0D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Benefits &amp; Limitations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B0631E-68D8-4B1F-B101-1BFD9DD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460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C04CF5-C4FD-4122-8A1A-E375633A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88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BENEFITS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A9CF6AD-6195-4DAA-804E-CE3D837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208BE1-C56F-4C8A-A539-1888B64A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140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C48243-A7E1-4643-A91B-CDF10BB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140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7BBC75F-90A0-4344-9704-E0FCEDE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Always the right challenge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16812F-959D-4138-B911-EE5E0CC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8336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Difficulty follows the player, so the game stays winnable.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CA3678-225F-402D-BAE7-B04EA67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0DBC16A-1194-4922-A5ED-3570CE5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F736AC7-BCE1-449A-A327-AE9507F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B24454-8EDF-4E25-A4D5-4956D4A6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144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Beginners stay motivated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B72CC0-E774-4020-AA7C-6CAA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2464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Emotion-aware feedback supports players through hard positions.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8DB105-2E85-4AB6-9924-96F58FB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44A0C19-08AB-463F-8018-51386BC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622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0950F1-D48A-4494-BFD3-CFA060A6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622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92FD34-3C4E-43DA-8C02-B8E0ECC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2272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Explainable advice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54FC69-7177-4D2E-9100-099D0D7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36592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Prolog shows why a chess principle applies to the current position.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5D8346E-6EB1-4956-9C81-AB9A538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0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351ACD9-4C75-429B-8E31-6CD8A37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864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4D091F8-5A39-4456-A0F4-A7049D1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864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154AE4-89AC-451E-AE49-C22240B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Accessible in Burmese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D15978-0D8F-418E-9182-6F310CDA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60720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Voice moves and coaching remove the English-only barrier.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C2BE567-67EF-4AD4-B4E7-D544689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645920"/>
            <a:ext cx="53460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CC827C1-F5BB-4F69-9CD8-E2C87F1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760" y="1645920"/>
            <a:ext cx="488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408C511-97AB-4BD0-B17C-79704E7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231136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007D4AA-0557-4ABA-BA98-805836D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4140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FACB45B-C0DF-4FA6-ADCD-AD1043B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4140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57116E2-2369-46B9-8DB4-31A03B7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414016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Expression ≠ emotion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C64FF1E-978B-4A75-BF70-7D06C020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688336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 face is only an approximation of what a player feels.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D722BDE-7DEC-49EE-8AFA-FF8E67D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255264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256181E-2C0A-4024-97E5-9161CDE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43814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0283A99-A49E-453F-8B82-0DACDA7B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43814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440F225-5FF8-4D64-908A-D480B55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3438144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Environment sensitive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4BE23D6-9FDB-468C-8698-B7AF8E1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3712464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Accuracy drops with poor lighting or a turned head.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0F33C2F-839D-4DC3-AE49-4C1F4D8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4279392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90DEABB-0C16-4875-A0AA-48EDF03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44622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48EE2F3-2544-4F0C-A90D-6D47045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44622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0C0F1A7-6F54-4716-9CD1-801041C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4462272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Privacy concerns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82225C48-1823-4A99-A38D-95EF297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4736592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The webcam requirement will not suit every setting.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3C5E7CD-6CFC-41A3-929D-8A79BAA9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5303520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E66125E-9025-41BB-8E78-E9A0035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54864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D145B6E-877B-43EE-AAFC-85E6640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54864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981FF3B-12D2-4439-9525-7E81F1F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5486400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Heavy on resources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B0C5AD8-22B5-413B-895C-428A66D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5760720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Local Whisper and Stockfish both need real memory and CPU.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D9EF339C-665A-4AD1-A169-3B19478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CE8856B-B4A6-4B9A-8B3B-EE60D88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11011166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12b934241f4f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46BCBB-C32A-428C-9BAE-1047E7C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What comes next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C71E1D-65F7-47FC-9A8F-BABF74B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Future Work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3D93C6-7DF8-4908-87CB-8216B731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36" y="2615184"/>
            <a:ext cx="9107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A707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87660A-7472-4246-BB64-1DC5D1C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04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D0FCC0-6F8C-44CF-82EF-274ABBB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04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EC9ADC4-2078-4F77-BB93-B8E74A4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36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7051CF-31FB-4A66-AD71-2C63007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16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Richer emotion signal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D1CCF7-2FF4-4102-88BD-DA45B5B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04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Combine facial expression with move timing and blunder rate.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8BC6B8-1136-4E94-B79E-9DF648F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960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FB6C97-4247-4CBF-91EF-76FF9356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960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6D33D5D-0A07-4943-932E-CE49615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292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4765A9-5DE1-4F7F-9BE1-5EFBC61D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172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Better Burmese STT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B8126A-89EE-4426-BAF3-9966886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460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Train a custom model to improve spoken-move recognition.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EEE1DD-BFB8-41E7-9902-8163A35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816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8A53F88-B86E-4CF3-AE8E-2A8110C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816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C8942ED-8DA3-40B4-AC34-82AA6F6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48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A43524-F4FE-4801-9E9D-9BD9FA90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028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Long-term player profile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6B0B3CB-CCB5-4273-84CD-97A82AB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316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Track progress and weaknesses across many sessions.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CBC71A-9D15-41D3-AF94-192BFCC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72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AAA7E8-18AB-454B-8E88-641ACB5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72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03A9E8-4922-4D9E-89C3-4C39C34A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004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C0B0561-0DFF-4860-B3D7-6A72B6A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884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Deeper knowledge base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CE75ED-C334-4E65-B85A-446BB3BA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172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Add tactical motifs and endgame theory to the Prolog rules.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22A53D-6CB2-4798-961D-D62D7A5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28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9EFB264-B297-46E4-A9A3-0AEEF9BA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28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AE8C20D-335D-4069-BAD0-3A26B6BC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860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D0BADF-DF8C-4CF3-8A3B-204CFD2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740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Public deployment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8195D52-D004-4F7E-A479-355BEC0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28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Host the web app and ship an optional mobile version.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1B016E8-6164-4ED5-9EC2-FBC9E56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21ED412-D856-43BC-B443-150CFFFD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8487018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1f60ee65cb4b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DF7B89-1D41-48CE-AD33-A672607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7300"/>
            <a:ext cx="1105785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FFC24B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Sentio brings four AI experiences together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DA8E99-C41F-450A-A110-3FD5812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66750"/>
            <a:ext cx="1105785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Conclusion &amp; References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30DB5F-E13D-48CE-9354-FED7E31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EC4D8A-8571-48D2-B0A3-01D1F59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D3F8F8-38E4-4338-9073-19E522D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8288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Computer vision senses the player's current state.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2C376EC-418F-42EC-81A3-B8B5921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4016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CDFD541-7F85-40AC-91C6-0C8FD5F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3347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A9ABE2-F11B-417C-A20B-2ADC77D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54203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Stockfish adapts difficulty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DCE274-A656-45E6-BE6B-ED1D6E0B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27248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F16A520-8556-4D0B-8508-E7F06B59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4670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961790-6862-46F2-A2FA-1FCEA63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25526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Prolog explains rules; the LLM provides natural-language coaching.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9679F1-21EF-44E0-9A5D-6BE8BD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0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8E0881-BC5B-48A0-A2D3-1DE6BD3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599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E8E88D-D860-4A3B-B1D3-9EEB97C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684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Burmese voice and 3D hand tracking expand how players interact.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209B084-1017-4DB6-8DAE-582C622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0016"/>
            <a:ext cx="1105783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E1371EE-A540-4779-B25B-4C2D1FC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856979-A236-4DC9-AABD-5FE9DFF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stockfishchess.org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8CD405-DEE1-4747-8F4C-5734680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26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8220B1-041D-42D4-BEF2-82F738F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github.com/vladmandic/face-api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B353B1C-1FDA-4D5B-AD1F-DE1FF5B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125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ACE190A-E8B6-4EE0-9B6E-10299F59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717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swi-prolog.org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969268A-BCE1-452D-8D07-4515FE5F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354119B-9AA4-44CD-9A1E-0706476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github.com/SYSTRAN/faster-whisper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B82E886-371A-4F36-B92B-ED6F033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26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70C6E57-5BA7-4201-8682-F5EB5ABC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github.com/jhlywa/chess.js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9576198-C3A0-4AA2-86CA-E56A367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125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96EBD0D-A00E-441A-AAA8-1FB7C42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717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7F4EE"/>
                </a:solidFill>
                <a:latin typeface="Courier New"/>
                <a:ea typeface="Courier New"/>
                <a:cs typeface="Courier New"/>
              </a:rPr>
              <a:t>nextjs.org/docs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7592973-F299-406C-9DC5-8BFE311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53328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1400" b="1" i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One connected system: adaptive, explainable, multilingual, and playable.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A8AAAB-A856-4183-B1EC-DE9E2BB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5A344D4-AA9C-453C-A4DE-E4218D3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09334025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7cbbe3581c4b2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20202D-5CE4-4E90-9289-C02CC97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0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C07B6A-7716-4D6F-A551-8350F3D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GROUP-X  ·  SECTION-C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AB5B3D-69D4-4CC8-A3D9-C81E999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5953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666E46-54AE-40AF-9C45-42FD747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2384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/>
            </a:pPr>
            <a:r>
              <a:rPr sz="2100" b="1">
                <a:solidFill>
                  <a:srgbClr val="F7F4EE"/>
                </a:solidFill>
                <a:latin typeface="Cambria"/>
                <a:ea typeface="Cambria"/>
                <a:cs typeface="Cambria"/>
              </a:rPr>
              <a:t>Questions &amp; Discussion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3651E0-2AB1-4105-92E0-124FE65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12464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Sentio — Emotion-Adaptive Chess AI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DD7C34-BA0F-4B6A-BFEF-B468364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0832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E912B6-9BD9-42F1-9830-D3F3EBA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Built and presented by Group-X · Section-C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C2E8AF-7EAF-4A71-90AE-4A8337B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7F4EE"/>
                </a:solidFill>
                <a:latin typeface="Calibri"/>
                <a:ea typeface="Calibri"/>
                <a:cs typeface="Calibri"/>
              </a:rPr>
              <a:t>University of Information Technology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23CCBD-9B4A-4041-B096-8220DEF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>
              <a:alpha val="14000"/>
            </a:srgbClr>
          </a:solidFill>
          <a:ln xmlns:a="http://schemas.openxmlformats.org/drawingml/2006/main" w="15875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3D9322-FD6A-481E-8BE9-CB25044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AB9E3A-1D58-46BF-BFFB-A28F29E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3DFD7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365548-960A-4BDC-87CE-0727D7F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19774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2026-08-30T13:03:44.0040000Z</dcterms:created>
  <dcterms:modified xsi:type="dcterms:W3CDTF">2026-08-30T13:03:44.0040000Z</dcterms:modified>
</coreProperties>
</file>