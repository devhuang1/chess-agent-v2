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121f13be9f4159" /><Relationship Type="http://schemas.openxmlformats.org/officeDocument/2006/relationships/extended-properties" Target="/docProps/app.xml" Id="Rb561b6b687f8432b" /><Relationship Type="http://schemas.openxmlformats.org/officeDocument/2006/relationships/officeDocument" Target="/ppt/presentation.xml" Id="R583dc2f140c8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197e7cff7144b2"/>
  </p:sldMasterIdLst>
  <p:notesMasterIdLst>
    <p:notesMasterId xmlns:r="http://schemas.openxmlformats.org/officeDocument/2006/relationships" r:id="R2d3f325491ef430e"/>
  </p:notesMasterIdLst>
  <p:sldIdLst>
    <p:sldId xmlns:r="http://schemas.openxmlformats.org/officeDocument/2006/relationships" id="256" r:id="Rb11bb2532e844d9e"/>
    <p:sldId xmlns:r="http://schemas.openxmlformats.org/officeDocument/2006/relationships" id="257" r:id="R6ae36d4093e3485b"/>
    <p:sldId xmlns:r="http://schemas.openxmlformats.org/officeDocument/2006/relationships" id="258" r:id="Rcc5c16d682b34d45"/>
    <p:sldId xmlns:r="http://schemas.openxmlformats.org/officeDocument/2006/relationships" id="259" r:id="R9e7711f822ba441e"/>
    <p:sldId xmlns:r="http://schemas.openxmlformats.org/officeDocument/2006/relationships" id="260" r:id="Rd646077a63a14c4b"/>
    <p:sldId xmlns:r="http://schemas.openxmlformats.org/officeDocument/2006/relationships" id="261" r:id="R93a4485bab9248b4"/>
    <p:sldId xmlns:r="http://schemas.openxmlformats.org/officeDocument/2006/relationships" id="262" r:id="R7264f008c2604d42"/>
    <p:sldId xmlns:r="http://schemas.openxmlformats.org/officeDocument/2006/relationships" id="263" r:id="R9398b4713b234397"/>
    <p:sldId xmlns:r="http://schemas.openxmlformats.org/officeDocument/2006/relationships" id="264" r:id="R670452724d7347c0"/>
    <p:sldId xmlns:r="http://schemas.openxmlformats.org/officeDocument/2006/relationships" id="265" r:id="R696dc4fb9b164c0e"/>
    <p:sldId xmlns:r="http://schemas.openxmlformats.org/officeDocument/2006/relationships" id="266" r:id="R219cfc8eed754761"/>
    <p:sldId xmlns:r="http://schemas.openxmlformats.org/officeDocument/2006/relationships" id="267" r:id="R8a2f00fe3b9647c0"/>
    <p:sldId xmlns:r="http://schemas.openxmlformats.org/officeDocument/2006/relationships" id="268" r:id="R58e6ce1cd21c483e"/>
    <p:sldId xmlns:r="http://schemas.openxmlformats.org/officeDocument/2006/relationships" id="269" r:id="Rbf47a2fbb2454463"/>
    <p:sldId xmlns:r="http://schemas.openxmlformats.org/officeDocument/2006/relationships" id="270" r:id="R87fe3a2faa9144d6"/>
    <p:sldId xmlns:r="http://schemas.openxmlformats.org/officeDocument/2006/relationships" id="271" r:id="Rf5243f0bc78443f2"/>
    <p:sldId xmlns:r="http://schemas.openxmlformats.org/officeDocument/2006/relationships" id="272" r:id="R60cb868bfd7541e2"/>
    <p:sldId xmlns:r="http://schemas.openxmlformats.org/officeDocument/2006/relationships" id="273" r:id="Rf1f71ce6fff542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6a1dd9c1744b6a" /><Relationship Type="http://schemas.openxmlformats.org/officeDocument/2006/relationships/slideMaster" Target="/ppt/slideMasters/slideMaster1.xml" Id="R4c197e7cff7144b2" /><Relationship Type="http://schemas.openxmlformats.org/officeDocument/2006/relationships/notesMaster" Target="/ppt/notesMasters/notesMaster1.xml" Id="R2d3f325491ef430e" /><Relationship Type="http://schemas.openxmlformats.org/officeDocument/2006/relationships/presProps" Target="/ppt/presProps.xml" Id="Ra88dbef588874d01" /><Relationship Type="http://schemas.openxmlformats.org/officeDocument/2006/relationships/tableStyles" Target="/ppt/tableStyles.xml" Id="R0355f8e728534f83" /><Relationship Type="http://schemas.openxmlformats.org/officeDocument/2006/relationships/slide" Target="/ppt/slides/slide1.xml" Id="Rb11bb2532e844d9e" /><Relationship Type="http://schemas.openxmlformats.org/officeDocument/2006/relationships/slide" Target="/ppt/slides/slide2.xml" Id="R6ae36d4093e3485b" /><Relationship Type="http://schemas.openxmlformats.org/officeDocument/2006/relationships/slide" Target="/ppt/slides/slide3.xml" Id="Rcc5c16d682b34d45" /><Relationship Type="http://schemas.openxmlformats.org/officeDocument/2006/relationships/slide" Target="/ppt/slides/slide4.xml" Id="R9e7711f822ba441e" /><Relationship Type="http://schemas.openxmlformats.org/officeDocument/2006/relationships/slide" Target="/ppt/slides/slide5.xml" Id="Rd646077a63a14c4b" /><Relationship Type="http://schemas.openxmlformats.org/officeDocument/2006/relationships/slide" Target="/ppt/slides/slide6.xml" Id="R93a4485bab9248b4" /><Relationship Type="http://schemas.openxmlformats.org/officeDocument/2006/relationships/slide" Target="/ppt/slides/slide7.xml" Id="R7264f008c2604d42" /><Relationship Type="http://schemas.openxmlformats.org/officeDocument/2006/relationships/slide" Target="/ppt/slides/slide8.xml" Id="R9398b4713b234397" /><Relationship Type="http://schemas.openxmlformats.org/officeDocument/2006/relationships/slide" Target="/ppt/slides/slide9.xml" Id="R670452724d7347c0" /><Relationship Type="http://schemas.openxmlformats.org/officeDocument/2006/relationships/slide" Target="/ppt/slides/slide10.xml" Id="R696dc4fb9b164c0e" /><Relationship Type="http://schemas.openxmlformats.org/officeDocument/2006/relationships/slide" Target="/ppt/slides/slide11.xml" Id="R219cfc8eed754761" /><Relationship Type="http://schemas.openxmlformats.org/officeDocument/2006/relationships/slide" Target="/ppt/slides/slide12.xml" Id="R8a2f00fe3b9647c0" /><Relationship Type="http://schemas.openxmlformats.org/officeDocument/2006/relationships/slide" Target="/ppt/slides/slide13.xml" Id="R58e6ce1cd21c483e" /><Relationship Type="http://schemas.openxmlformats.org/officeDocument/2006/relationships/slide" Target="/ppt/slides/slide14.xml" Id="Rbf47a2fbb2454463" /><Relationship Type="http://schemas.openxmlformats.org/officeDocument/2006/relationships/slide" Target="/ppt/slides/slide15.xml" Id="R87fe3a2faa9144d6" /><Relationship Type="http://schemas.openxmlformats.org/officeDocument/2006/relationships/slide" Target="/ppt/slides/slide16.xml" Id="Rf5243f0bc78443f2" /><Relationship Type="http://schemas.openxmlformats.org/officeDocument/2006/relationships/slide" Target="/ppt/slides/slide17.xml" Id="R60cb868bfd7541e2" /><Relationship Type="http://schemas.openxmlformats.org/officeDocument/2006/relationships/slide" Target="/ppt/slides/slide18.xml" Id="Rf1f71ce6fff542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b083d6cdb7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2d4b80ce3b4fed" /><Relationship Type="http://schemas.openxmlformats.org/officeDocument/2006/relationships/notesMaster" Target="/ppt/notesMasters/notesMaster1.xml" Id="Raabb5e6f514140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a4f954fa794a48" /><Relationship Type="http://schemas.openxmlformats.org/officeDocument/2006/relationships/notesMaster" Target="/ppt/notesMasters/notesMaster1.xml" Id="R1981c572bf2a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d2df58eb374b43" /><Relationship Type="http://schemas.openxmlformats.org/officeDocument/2006/relationships/notesMaster" Target="/ppt/notesMasters/notesMaster1.xml" Id="R773a0294ca8247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44157cbe074723" /><Relationship Type="http://schemas.openxmlformats.org/officeDocument/2006/relationships/notesMaster" Target="/ppt/notesMasters/notesMaster1.xml" Id="R57637ce388054a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7c242886914e1e" /><Relationship Type="http://schemas.openxmlformats.org/officeDocument/2006/relationships/notesMaster" Target="/ppt/notesMasters/notesMaster1.xml" Id="R2383492135db4b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146b76f77d4f6e" /><Relationship Type="http://schemas.openxmlformats.org/officeDocument/2006/relationships/notesMaster" Target="/ppt/notesMasters/notesMaster1.xml" Id="R4da3e912f21d4d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9aa0b94bbe4be4" /><Relationship Type="http://schemas.openxmlformats.org/officeDocument/2006/relationships/notesMaster" Target="/ppt/notesMasters/notesMaster1.xml" Id="R4d0b1d4e15aa4d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0a93be715b4ccc" /><Relationship Type="http://schemas.openxmlformats.org/officeDocument/2006/relationships/notesMaster" Target="/ppt/notesMasters/notesMaster1.xml" Id="Rd74e9af69bd44b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80ededf27f431e" /><Relationship Type="http://schemas.openxmlformats.org/officeDocument/2006/relationships/notesMaster" Target="/ppt/notesMasters/notesMaster1.xml" Id="R19a06db13c1443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d466e05b9f4d92" /><Relationship Type="http://schemas.openxmlformats.org/officeDocument/2006/relationships/notesMaster" Target="/ppt/notesMasters/notesMaster1.xml" Id="R63ab8c4b28bd46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44c66309f24944" /><Relationship Type="http://schemas.openxmlformats.org/officeDocument/2006/relationships/notesMaster" Target="/ppt/notesMasters/notesMaster1.xml" Id="R5ab4515a7a6140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83805cfdb5497f" /><Relationship Type="http://schemas.openxmlformats.org/officeDocument/2006/relationships/notesMaster" Target="/ppt/notesMasters/notesMaster1.xml" Id="R6daa372fdd804c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b7cac72f9f4456" /><Relationship Type="http://schemas.openxmlformats.org/officeDocument/2006/relationships/notesMaster" Target="/ppt/notesMasters/notesMaster1.xml" Id="R74dc1dd5f32e4c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2a4ac70ab9455d" /><Relationship Type="http://schemas.openxmlformats.org/officeDocument/2006/relationships/notesMaster" Target="/ppt/notesMasters/notesMaster1.xml" Id="Ra17d7049511a46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b2dac090804d43" /><Relationship Type="http://schemas.openxmlformats.org/officeDocument/2006/relationships/notesMaster" Target="/ppt/notesMasters/notesMaster1.xml" Id="Rfe3fa10307364a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18ea096cb244ae" /><Relationship Type="http://schemas.openxmlformats.org/officeDocument/2006/relationships/notesMaster" Target="/ppt/notesMasters/notesMaster1.xml" Id="Raf3204df4c164d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45fa20b6bb4746" /><Relationship Type="http://schemas.openxmlformats.org/officeDocument/2006/relationships/notesMaster" Target="/ppt/notesMasters/notesMaster1.xml" Id="R413faf277c9f41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d77d6f38b24281" /><Relationship Type="http://schemas.openxmlformats.org/officeDocument/2006/relationships/notesMaster" Target="/ppt/notesMasters/notesMaster1.xml" Id="R359bda81ed7944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idea: Sentio does not use one model. It coordinates several forms of intelligence around a live chess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AI_SYSTEM.txt</a:t>
            </a:r>
          </a:p>
          <a:p xmlns:a="http://schemas.openxmlformats.org/drawingml/2006/main">
            <a:r>
              <a:t>- Local repository: app/globals.css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Sentio as a closed adaptive loop. The project responds to both chess position and player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AI_SYSTEM.txt</a:t>
            </a:r>
          </a:p>
          <a:p xmlns:a="http://schemas.openxmlformats.org/drawingml/2006/main">
            <a:r>
              <a:t>- Local repository: lib/emotionFusion.ts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these are different AI paradigms. Their value comes from division of labor rather than forcing one model to do everything.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AI_SYSTEM.txt</a:t>
            </a:r>
          </a:p>
          <a:p xmlns:a="http://schemas.openxmlformats.org/drawingml/2006/main">
            <a:r>
              <a:t>- Local repository: lib/agents.ts</a:t>
            </a:r>
          </a:p>
          <a:p xmlns:a="http://schemas.openxmlformats.org/drawingml/2006/main">
            <a:r>
              <a:t>- Local repository: prolog/ai_system.pl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architecture separates state capture, routing, engine execution, and audience-facing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backend/main.py</a:t>
            </a:r>
          </a:p>
          <a:p xmlns:a="http://schemas.openxmlformats.org/drawingml/2006/main">
            <a:r>
              <a:t>- Local repository: app/api/prolog/route.ts</a:t>
            </a:r>
          </a:p>
          <a:p xmlns:a="http://schemas.openxmlformats.org/drawingml/2006/main">
            <a:r>
              <a:t>- Local repository: app/api/coach/route.ts</a:t>
            </a:r>
          </a:p>
          <a:p xmlns:a="http://schemas.openxmlformats.org/drawingml/2006/main">
            <a:r>
              <a:t>- Local repository: app/api/transcribe/route.ts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design choice: a quiet face alone cannot reliably separate calm, neutral, and focused. Gameplay telemetry adds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lib/blendshapeEmotion.ts</a:t>
            </a:r>
          </a:p>
          <a:p xmlns:a="http://schemas.openxmlformats.org/drawingml/2006/main">
            <a:r>
              <a:t>- Local repository: lib/emotionFusion.ts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three levers: depth, Stockfish Skill Level, and UCI ELO limiting. Prolog mirrors the same static profiles as declarative 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backend/main.py</a:t>
            </a:r>
          </a:p>
          <a:p xmlns:a="http://schemas.openxmlformats.org/drawingml/2006/main">
            <a:r>
              <a:t>- Local repository: prolog/ai_system.pl</a:t>
            </a:r>
          </a:p>
          <a:p xmlns:a="http://schemas.openxmlformats.org/drawingml/2006/main">
            <a:r>
              <a:t>- Local repository: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Prolog as complementary, not competitive. It is an explainability layer and a teaching layer alongside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prolog/ai_system.pl</a:t>
            </a:r>
          </a:p>
          <a:p xmlns:a="http://schemas.openxmlformats.org/drawingml/2006/main">
            <a:r>
              <a:t>- Local repository: components/LogicianPanel.tsx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three levels. Python supplies facts. Prolog derives concepts. Advice rules convert those concepts into ranked human-readable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prolog/ai_system.pl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bridge slide. Explain the representation change: FEN is compact state; Prolog needs explicit relational 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backend/main.py</a:t>
            </a:r>
          </a:p>
          <a:p xmlns:a="http://schemas.openxmlformats.org/drawingml/2006/main">
            <a:r>
              <a:t>- Local repository: app/api/prolog/route.ts</a:t>
            </a:r>
          </a:p>
          <a:p xmlns:a="http://schemas.openxmlformats.org/drawingml/2006/main">
            <a:r>
              <a:t>- Local repository: components/LogicianPanel.tsx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concrete demonstration. The absence of defended_by is meaningful through negation-as-failure, triggering hanging_mine and advice priority 95.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prolog/ai_system.pl</a:t>
            </a:r>
          </a:p>
          <a:p xmlns:a="http://schemas.openxmlformats.org/drawingml/2006/main">
            <a:r>
              <a:t>- Local repository: backend/main.py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claiming that one paradigm is universally superior. The system is robust because responsibilities are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backend/main.py</a:t>
            </a:r>
          </a:p>
          <a:p xmlns:a="http://schemas.openxmlformats.org/drawingml/2006/main">
            <a:r>
              <a:t>- Local repository: prolog/ai_system.pl</a:t>
            </a:r>
          </a:p>
          <a:p xmlns:a="http://schemas.openxmlformats.org/drawingml/2006/main">
            <a:r>
              <a:t>- Local repository: app/api/coach/route.ts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agents are an analysis and visualization feature. They expose tradeoffs rather than replacing the production Stockfish opponent.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lib/agents.ts</a:t>
            </a:r>
          </a:p>
          <a:p xmlns:a="http://schemas.openxmlformats.org/drawingml/2006/main">
            <a:r>
              <a:t>- Local repository: lib/minimax.ts</a:t>
            </a:r>
          </a:p>
          <a:p xmlns:a="http://schemas.openxmlformats.org/drawingml/2006/main">
            <a:r>
              <a:t>- Local repository: lib/mcts.ts</a:t>
            </a:r>
          </a:p>
          <a:p xmlns:a="http://schemas.openxmlformats.org/drawingml/2006/main">
            <a:r>
              <a:t>- Local repository: components/AgentsGraph3D.tsx</a:t>
            </a:r>
          </a:p>
          <a:p xmlns:a="http://schemas.openxmlformats.org/drawingml/2006/main">
            <a:r>
              <a:t>- Local repository: Local light-mode screenshot: .presentation-light/assets/sentio-light-3d.png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graceful fallback: the route builds structured advice first, then enhances it with an LLM when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app/api/coach/route.ts</a:t>
            </a:r>
          </a:p>
          <a:p xmlns:a="http://schemas.openxmlformats.org/drawingml/2006/main">
            <a:r>
              <a:t>- Local repository: lib/coachPrompt.ts</a:t>
            </a:r>
          </a:p>
          <a:p xmlns:a="http://schemas.openxmlformats.org/drawingml/2006/main">
            <a:r>
              <a:t>- Local repository: components/AIAnalysisTab.tsx</a:t>
            </a:r>
          </a:p>
          <a:p xmlns:a="http://schemas.openxmlformats.org/drawingml/2006/main">
            <a:r>
              <a:t>- Local repository: Local light-mode screenshot: .presentation-light/assets/sentio-light-main.png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the separation of intent. Speech-to-move is command execution with validation; speech-to-coach is an editable conversational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app/api/transcribe/route.ts</a:t>
            </a:r>
          </a:p>
          <a:p xmlns:a="http://schemas.openxmlformats.org/drawingml/2006/main">
            <a:r>
              <a:t>- Local repository: lib/speechParser.ts</a:t>
            </a:r>
          </a:p>
          <a:p xmlns:a="http://schemas.openxmlformats.org/drawingml/2006/main">
            <a:r>
              <a:t>- Local repository: components/VoiceCoachControl.tsx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adaptive system exposes its current state: emotion, engine profile, evaluation, and analysis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components/BoardWorkspace.tsx</a:t>
            </a:r>
          </a:p>
          <a:p xmlns:a="http://schemas.openxmlformats.org/drawingml/2006/main">
            <a:r>
              <a:t>- Local repository: components/ControllerPanel.tsx</a:t>
            </a:r>
          </a:p>
          <a:p xmlns:a="http://schemas.openxmlformats.org/drawingml/2006/main">
            <a:r>
              <a:t>- Local repository: components/EmotionMonitor.tsx</a:t>
            </a:r>
          </a:p>
          <a:p xmlns:a="http://schemas.openxmlformats.org/drawingml/2006/main">
            <a:r>
              <a:t>- Local repository: Local light-mode screenshot: .presentation-light/assets/sentio-light-analysis.png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for technical evaluation: each optional AI service fails independently and reports a meaningful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backend/main.py</a:t>
            </a:r>
          </a:p>
          <a:p xmlns:a="http://schemas.openxmlformats.org/drawingml/2006/main">
            <a:r>
              <a:t>- Local repository: app/api/prolog/route.ts</a:t>
            </a:r>
          </a:p>
          <a:p xmlns:a="http://schemas.openxmlformats.org/drawingml/2006/main">
            <a:r>
              <a:t>- Local repository: app/api/coach/route.ts</a:t>
            </a:r>
          </a:p>
          <a:p xmlns:a="http://schemas.openxmlformats.org/drawingml/2006/main">
            <a:r>
              <a:t>- Local repository: app/api/transcribe/route.ts</a:t>
            </a:r>
          </a:p>
          <a:p xmlns:a="http://schemas.openxmlformats.org/drawingml/2006/main">
            <a:r>
              <a:t>- Local repository: components/LogicianPanel.tsx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ownership split as a rehearsal guide. Member 3 gets the largest technical Prolog sequence, matching the requested emphasis.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.presentation-build/slide-plan.txt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opening. Prolog is the bridge that turns machine-readable board state into inspectable human reasoning, inside a broader adaptive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AI_SYSTEM.txt</a:t>
            </a:r>
          </a:p>
          <a:p xmlns:a="http://schemas.openxmlformats.org/drawingml/2006/main">
            <a:r>
              <a:t>- Local repository: prolog/ai_system.pl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9447278234e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1760d3670d4802" /><Relationship Type="http://schemas.openxmlformats.org/officeDocument/2006/relationships/slideLayout" Target="/ppt/slideLayouts/slideLayout1.xml" Id="Ra24f2aeee0c24c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4f2aeee0c24c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f0ae56757407a" /><Relationship Type="http://schemas.openxmlformats.org/officeDocument/2006/relationships/notesSlide" Target="/ppt/notesSlides/notesSlide1.xml" Id="R805d51e0af4046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90cfa83b946b3" /><Relationship Type="http://schemas.openxmlformats.org/officeDocument/2006/relationships/notesSlide" Target="/ppt/notesSlides/notesSlide2.xml" Id="R42f7d6caef4c45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1194bd158423f" /><Relationship Type="http://schemas.openxmlformats.org/officeDocument/2006/relationships/notesSlide" Target="/ppt/notesSlides/notesSlide3.xml" Id="Rf0a06ec1104045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e88c589424c78" /><Relationship Type="http://schemas.openxmlformats.org/officeDocument/2006/relationships/notesSlide" Target="/ppt/notesSlides/notesSlide4.xml" Id="R815d8c2c476449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c73f947bd4f64" /><Relationship Type="http://schemas.openxmlformats.org/officeDocument/2006/relationships/notesSlide" Target="/ppt/notesSlides/notesSlide5.xml" Id="R6d61f70e2db247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8882bf6ca48e1" /><Relationship Type="http://schemas.openxmlformats.org/officeDocument/2006/relationships/notesSlide" Target="/ppt/notesSlides/notesSlide6.xml" Id="R7eb4696dd0cc40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ebca65e4b42a5" /><Relationship Type="http://schemas.openxmlformats.org/officeDocument/2006/relationships/notesSlide" Target="/ppt/notesSlides/notesSlide7.xml" Id="Rb64e061268d14e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32e920e5f4d23" /><Relationship Type="http://schemas.openxmlformats.org/officeDocument/2006/relationships/notesSlide" Target="/ppt/notesSlides/notesSlide8.xml" Id="R5d69662a815944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1fe3e58d947d8" /><Relationship Type="http://schemas.openxmlformats.org/officeDocument/2006/relationships/notesSlide" Target="/ppt/notesSlides/notesSlide9.xml" Id="R28d0525da6ac45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2b54cec1448ad" /><Relationship Type="http://schemas.openxmlformats.org/officeDocument/2006/relationships/notesSlide" Target="/ppt/notesSlides/notesSlide10.xml" Id="R4196a059b4a543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31802b43e4752" /><Relationship Type="http://schemas.openxmlformats.org/officeDocument/2006/relationships/notesSlide" Target="/ppt/notesSlides/notesSlide11.xml" Id="R406f4c45082d4d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5445f0c8947cb" /><Relationship Type="http://schemas.openxmlformats.org/officeDocument/2006/relationships/image" Target="/ppt/media/image.jpeg" Id="Rf9d5ce5c41f0425a" /><Relationship Type="http://schemas.openxmlformats.org/officeDocument/2006/relationships/notesSlide" Target="/ppt/notesSlides/notesSlide12.xml" Id="R1607e8675fcf46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68210a1c84775" /><Relationship Type="http://schemas.openxmlformats.org/officeDocument/2006/relationships/image" Target="/ppt/media/image2.jpeg" Id="R3398f3aa821b4801" /><Relationship Type="http://schemas.openxmlformats.org/officeDocument/2006/relationships/notesSlide" Target="/ppt/notesSlides/notesSlide13.xml" Id="R6c81cc8b4bdf48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4c1dd09ee48fb" /><Relationship Type="http://schemas.openxmlformats.org/officeDocument/2006/relationships/notesSlide" Target="/ppt/notesSlides/notesSlide14.xml" Id="R6664b33fa0854f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1926095c7436e" /><Relationship Type="http://schemas.openxmlformats.org/officeDocument/2006/relationships/image" Target="/ppt/media/image3.jpeg" Id="R45b49a8fec794fa3" /><Relationship Type="http://schemas.openxmlformats.org/officeDocument/2006/relationships/notesSlide" Target="/ppt/notesSlides/notesSlide15.xml" Id="R7c5e7a5f48274e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adfda640d42ab" /><Relationship Type="http://schemas.openxmlformats.org/officeDocument/2006/relationships/notesSlide" Target="/ppt/notesSlides/notesSlide16.xml" Id="R583c79f0cdb945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f394df6714442" /><Relationship Type="http://schemas.openxmlformats.org/officeDocument/2006/relationships/notesSlide" Target="/ppt/notesSlides/notesSlide17.xml" Id="R9c07c4f23e7744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aafef775142e0" /><Relationship Type="http://schemas.openxmlformats.org/officeDocument/2006/relationships/notesSlide" Target="/ppt/notesSlides/notesSlide18.xml" Id="R898f9de0f2b440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C813A-9C76-45CE-99E3-3941DFD7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F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A3B44-1117-46AC-B6CF-3FBF9B79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16F64-32DC-4106-9928-77D7AB52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7706"/>
                </a:solidFill>
              </a:defRPr>
            </a:pPr>
            <a:r>
              <a:rPr sz="1050" b="1" i="0">
                <a:solidFill>
                  <a:srgbClr val="D97706"/>
                </a:solidFill>
              </a:rPr>
              <a:t>SENTIO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BEF5A-2DF7-4021-A9AD-026E14E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52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11D18"/>
                </a:solidFill>
              </a:defRPr>
            </a:pPr>
            <a:r>
              <a:rPr sz="4350" b="1" i="0">
                <a:solidFill>
                  <a:srgbClr val="211D18"/>
                </a:solidFill>
              </a:rPr>
              <a:t>Emotion-adaptive</a:t>
            </a:r>
          </a:p>
          <a:p xmlns:a="http://schemas.openxmlformats.org/drawingml/2006/main">
            <a:pPr algn="l">
              <a:defRPr sz="4350" b="1" i="0">
                <a:solidFill>
                  <a:srgbClr val="211D18"/>
                </a:solidFill>
              </a:defRPr>
            </a:pPr>
            <a:r>
              <a:rPr sz="4350" b="1" i="0">
                <a:solidFill>
                  <a:srgbClr val="211D18"/>
                </a:solidFill>
              </a:rPr>
              <a:t>chess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0670F-429B-4E42-859E-66E9FD63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746B60"/>
                </a:solidFill>
              </a:defRPr>
            </a:pPr>
            <a:r>
              <a:rPr sz="1725" b="0" i="0">
                <a:solidFill>
                  <a:srgbClr val="746B60"/>
                </a:solidFill>
              </a:rPr>
              <a:t>A hybrid AI system combining perception, game search, symbolic reasoning, and natural-language coaching.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ABE0C-9079-4553-87D3-652DD4F1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CA6C0-E1E7-4E07-9D32-54091AF1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PROLOG SPOTLIGHT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DA9FD-B583-4FAC-B9FA-E1CE7EDA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0382F"/>
                </a:solidFill>
              </a:defRPr>
            </a:pPr>
            <a:r>
              <a:rPr sz="1650" b="0" i="0">
                <a:solidFill>
                  <a:srgbClr val="40382F"/>
                </a:solidFill>
              </a:rPr>
              <a:t>How live chess positions become transparent, prioritized advice.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5F915-263C-48F0-AE49-71F6171C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46B60"/>
                </a:solidFill>
              </a:defRPr>
            </a:pPr>
            <a:r>
              <a:rPr sz="825" b="0" i="0">
                <a:solidFill>
                  <a:srgbClr val="746B60"/>
                </a:solidFill>
              </a:rPr>
              <a:t>AI FEATURES · TECHNICAL 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F28F2-DFC4-466B-BAA8-9FEAD96D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123950"/>
            <a:ext cx="3333750" cy="4000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BBC3C-871A-4C24-821E-D1DFB343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00200"/>
            <a:ext cx="190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200" b="0" i="0">
                <a:solidFill>
                  <a:srgbClr val="D97706"/>
                </a:solidFill>
              </a:defRPr>
            </a:pPr>
            <a:r>
              <a:rPr sz="10200" b="0" i="0">
                <a:solidFill>
                  <a:srgbClr val="D97706"/>
                </a:solidFill>
              </a:rPr>
              <a:t>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C849F-9EE3-42E0-A55D-B0B46A8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PERCEIVE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6B7EB-A4BE-48C5-AC85-1CFF7A1B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BEB36-992C-4836-9F67-8BB2F618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</a:defRPr>
            </a:pPr>
            <a:r>
              <a:rPr sz="900" b="1" i="0">
                <a:solidFill>
                  <a:srgbClr val="B45309"/>
                </a:solidFill>
              </a:rPr>
              <a:t>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D2D1F-2306-4D89-854F-46CB263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14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C5CCB"/>
                </a:solidFill>
              </a:defRPr>
            </a:pPr>
            <a:r>
              <a:rPr sz="900" b="1" i="0">
                <a:solidFill>
                  <a:srgbClr val="7C5CCB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428380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05B47-2643-490F-B913-A83728A6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AI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9427B-D213-4C49-A3C3-F1770CC1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E9F1F-AA3C-4920-905B-64437C1E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9DBD3-9454-4009-8302-5B77894F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The opponent adapts to the human—not only the 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B75F7-E9FE-423C-9332-BE948EED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B60"/>
                </a:solidFill>
              </a:defRPr>
            </a:pPr>
            <a:r>
              <a:rPr sz="1350" b="0" i="0">
                <a:solidFill>
                  <a:srgbClr val="746B60"/>
                </a:solidFill>
              </a:rPr>
              <a:t>Sentio treats emotional state as a live game signal, then changes challenge and communication.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C2392-F437-4C31-88A3-3F83F212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1A7B8-B0E7-4C71-B11B-B0712B94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9DFDC-6D0E-454B-AA32-55527AD2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11D18"/>
                </a:solidFill>
              </a:defRPr>
            </a:pPr>
            <a:r>
              <a:rPr sz="2100" b="1" i="0">
                <a:solidFill>
                  <a:srgbClr val="211D18"/>
                </a:solidFill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82E35-BFFA-49D7-A40A-499A12D4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84021-BE88-44FF-811E-E754D1AC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B60"/>
                </a:solidFill>
              </a:defRPr>
            </a:pPr>
            <a:r>
              <a:rPr sz="1425" b="0" i="0">
                <a:solidFill>
                  <a:srgbClr val="746B60"/>
                </a:solidFill>
              </a:rPr>
              <a:t>Face blendshapes + game telemetry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1D5D8-93A6-4E20-B900-9626163F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240ED-9D3E-4B13-B5DA-14838237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5CCB"/>
                </a:solidFill>
              </a:defRPr>
            </a:pPr>
            <a:r>
              <a:rPr sz="1050" b="1" i="0">
                <a:solidFill>
                  <a:srgbClr val="7C5CC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2F8FB-51F7-475F-B24F-D28873F3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11D18"/>
                </a:solidFill>
              </a:defRPr>
            </a:pPr>
            <a:r>
              <a:rPr sz="2100" b="1" i="0">
                <a:solidFill>
                  <a:srgbClr val="211D18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9623B-E704-45D3-8CA6-1BEAC2D9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5449C-F4BE-4061-9DBB-3F42040C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B60"/>
                </a:solidFill>
              </a:defRPr>
            </a:pPr>
            <a:r>
              <a:rPr sz="1425" b="0" i="0">
                <a:solidFill>
                  <a:srgbClr val="746B60"/>
                </a:solidFill>
              </a:rPr>
              <a:t>Six game-relevant emotion states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975AA-F694-422A-9729-7FA814B7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FAAFB-B6B3-4521-B1E0-B95B0A40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7706"/>
                </a:solidFill>
              </a:defRPr>
            </a:pPr>
            <a:r>
              <a:rPr sz="1050" b="1" i="0">
                <a:solidFill>
                  <a:srgbClr val="D97706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1E314-8467-4E2B-83CC-273E9EA0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11D18"/>
                </a:solidFill>
              </a:defRPr>
            </a:pPr>
            <a:r>
              <a:rPr sz="2100" b="1" i="0">
                <a:solidFill>
                  <a:srgbClr val="211D18"/>
                </a:solidFill>
              </a:rPr>
              <a:t>Adapt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A6768-0040-4451-9EB7-EB5E1C92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3E156-C909-400C-9E6F-C9784B40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B60"/>
                </a:solidFill>
              </a:defRPr>
            </a:pPr>
            <a:r>
              <a:rPr sz="1425" b="0" i="0">
                <a:solidFill>
                  <a:srgbClr val="746B60"/>
                </a:solidFill>
              </a:rPr>
              <a:t>Depth, skill level, and ELO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49EF4-CAB7-4D10-A8B0-E7D41F51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36657-7DFA-4F78-A09B-1E5BBA3F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</a:defRPr>
            </a:pPr>
            <a:r>
              <a:rPr sz="1050" b="1" i="0">
                <a:solidFill>
                  <a:srgbClr val="34D399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AD152-117F-446A-8BBF-CB94DEEA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19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11D18"/>
                </a:solidFill>
              </a:defRPr>
            </a:pPr>
            <a:r>
              <a:rPr sz="2100" b="1" i="0">
                <a:solidFill>
                  <a:srgbClr val="211D18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7F0B1-BFD5-4A3E-8760-876E7DB0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53E282-B768-47BD-85B4-CC5FAA34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B60"/>
                </a:solidFill>
              </a:defRPr>
            </a:pPr>
            <a:r>
              <a:rPr sz="1425" b="0" i="0">
                <a:solidFill>
                  <a:srgbClr val="746B60"/>
                </a:solidFill>
              </a:rPr>
              <a:t>Coach language + Prolog advice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E972F-10EB-449B-8080-95F49F48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0382F"/>
                </a:solidFill>
              </a:defRPr>
            </a:pPr>
            <a:r>
              <a:rPr sz="1875" b="1" i="0">
                <a:solidFill>
                  <a:srgbClr val="40382F"/>
                </a:solidFill>
              </a:rPr>
              <a:t>Goal: sustain flow—reduce friction when the player struggles, raise challenge when confidence grows.</a:t>
            </a:r>
          </a:p>
        </p:txBody>
      </p:sp>
    </p:spTree>
    <p:extLst>
      <p:ext uri="{BB962C8B-B14F-4D97-AF65-F5344CB8AC3E}">
        <p14:creationId xmlns:p14="http://schemas.microsoft.com/office/powerpoint/2010/main" val="1631304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CFB54-ADDB-4E43-A5D3-4B38D669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AI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927F8-A0D1-454F-BB8E-E2E187DD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D01EF-E161-43A5-AE9B-566A60C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664F8-E5E6-434F-B729-C755497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Five intelligence layers cooperate in one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3342-8E1D-4046-89F8-39D924D1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PERCEPTION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EC30C-14C2-4675-BBD0-61D59267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288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286D4-A417-4AEB-8F0E-07BE8586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90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D18"/>
                </a:solidFill>
              </a:defRPr>
            </a:pPr>
            <a:r>
              <a:rPr sz="1800" b="1" i="0">
                <a:solidFill>
                  <a:srgbClr val="211D18"/>
                </a:solidFill>
              </a:rPr>
              <a:t>MediaPipe / face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F250E-B05B-4FAE-9E4A-FED43B76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192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B60"/>
                </a:solidFill>
              </a:defRPr>
            </a:pPr>
            <a:r>
              <a:rPr sz="1350" b="0" i="0">
                <a:solidFill>
                  <a:srgbClr val="746B60"/>
                </a:solidFill>
              </a:rPr>
              <a:t>Valence, arousal, expressions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78A46-93D8-49C8-87EB-62EE02A7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5CCB"/>
                </a:solidFill>
              </a:defRPr>
            </a:pPr>
            <a:r>
              <a:rPr sz="1050" b="1" i="0">
                <a:solidFill>
                  <a:srgbClr val="7C5CCB"/>
                </a:solidFill>
              </a:rPr>
              <a:t>ADAPTATION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2528A-6696-4FC7-BA3C-6467FCDE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67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33F8C-7AEC-458A-AAFA-E91B0DB5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D18"/>
                </a:solidFill>
              </a:defRPr>
            </a:pPr>
            <a:r>
              <a:rPr sz="1800" b="1" i="0">
                <a:solidFill>
                  <a:srgbClr val="211D18"/>
                </a:solidFill>
              </a:rPr>
              <a:t>Emotion fusion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B4524-B0A6-4C62-A22D-F14E99FC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574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B60"/>
                </a:solidFill>
              </a:defRPr>
            </a:pPr>
            <a:r>
              <a:rPr sz="1350" b="0" i="0">
                <a:solidFill>
                  <a:srgbClr val="746B60"/>
                </a:solidFill>
              </a:rPr>
              <a:t>Player state → engine 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DFDE4-5091-4933-AD44-FEDE817B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</a:defRPr>
            </a:pPr>
            <a:r>
              <a:rPr sz="1050" b="1" i="0">
                <a:solidFill>
                  <a:srgbClr val="34D399"/>
                </a:solidFill>
              </a:rPr>
              <a:t>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2C7FF-A919-490A-88B0-D5CE6A78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052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CA70F-A982-453A-B021-B036CD39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D18"/>
                </a:solidFill>
              </a:defRPr>
            </a:pPr>
            <a:r>
              <a:rPr sz="1800" b="1" i="0">
                <a:solidFill>
                  <a:srgbClr val="211D18"/>
                </a:solidFill>
              </a:rPr>
              <a:t>Stockfish + Minimax / MCTS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858E1-DAA8-4B2D-A6B8-C0B3A71E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B60"/>
                </a:solidFill>
              </a:defRPr>
            </a:pPr>
            <a:r>
              <a:rPr sz="1350" b="0" i="0">
                <a:solidFill>
                  <a:srgbClr val="746B60"/>
                </a:solidFill>
              </a:rPr>
              <a:t>Moves, scores, decision traces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6A134-9551-4312-8F51-D20E99D3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7706"/>
                </a:solidFill>
              </a:defRPr>
            </a:pPr>
            <a:r>
              <a:rPr sz="1050" b="1" i="0">
                <a:solidFill>
                  <a:srgbClr val="D97706"/>
                </a:solidFill>
              </a:rPr>
              <a:t>SYMBOLIC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E59AC-D1C8-498E-9BA4-60C3BB5C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43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E5532-E63F-4815-8928-BC5BCB4E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053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D18"/>
                </a:solidFill>
              </a:defRPr>
            </a:pPr>
            <a:r>
              <a:rPr sz="1800" b="1" i="0">
                <a:solidFill>
                  <a:srgbClr val="211D18"/>
                </a:solidFill>
              </a:rPr>
              <a:t>SWI-Prolog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CCBBE-17D9-4256-BAA7-531620FE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B60"/>
                </a:solidFill>
              </a:defRPr>
            </a:pPr>
            <a:r>
              <a:rPr sz="1350" b="0" i="0">
                <a:solidFill>
                  <a:srgbClr val="746B60"/>
                </a:solidFill>
              </a:rPr>
              <a:t>Explainable prioritized advice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4844F-41F8-481A-9369-827EB4CE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A7A24"/>
                </a:solidFill>
              </a:defRPr>
            </a:pPr>
            <a:r>
              <a:rPr sz="1050" b="1" i="0">
                <a:solidFill>
                  <a:srgbClr val="EA7A24"/>
                </a:solidFill>
              </a:rPr>
              <a:t>LANGUAGE &amp; VOICE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A6463-8532-4168-9253-24B01494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816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7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67421-B34E-4E50-A787-F203E0C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435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D18"/>
                </a:solidFill>
              </a:defRPr>
            </a:pPr>
            <a:r>
              <a:rPr sz="1800" b="1" i="0">
                <a:solidFill>
                  <a:srgbClr val="211D18"/>
                </a:solidFill>
              </a:rPr>
              <a:t>LLM + STT / TTS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18D28-B5BE-4490-8D7F-67558A3F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720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B60"/>
                </a:solidFill>
              </a:defRPr>
            </a:pPr>
            <a:r>
              <a:rPr sz="1350" b="0" i="0">
                <a:solidFill>
                  <a:srgbClr val="746B60"/>
                </a:solidFill>
              </a:rPr>
              <a:t>Natural coaching and Burmese access</a:t>
            </a:r>
          </a:p>
        </p:txBody>
      </p:sp>
    </p:spTree>
    <p:extLst>
      <p:ext uri="{BB962C8B-B14F-4D97-AF65-F5344CB8AC3E}">
        <p14:creationId xmlns:p14="http://schemas.microsoft.com/office/powerpoint/2010/main" val="1458385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06CA8E-1B02-4042-9C8E-7BF0CE46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1C42D-35E2-49CA-95A4-3FB98475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89BB8-D620-411C-9E71-D2A26DBE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01FFD-403F-49F6-BE32-AD43A47B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Signals become moves, advice, and explanations through explicit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C6858-99FE-4230-8BD2-F805987D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6C533-3024-4B40-AD22-6A4523F0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D3EE"/>
                </a:solidFill>
              </a:defRPr>
            </a:pPr>
            <a:r>
              <a:rPr sz="1200" b="1" i="0">
                <a:solidFill>
                  <a:srgbClr val="22D3EE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5B5A8-307C-4BAA-ABC4-42BDBAA8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Webcam · board · 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16052-F2BF-49D1-BCCE-47BC4ED4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7C5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CCCAB-B52A-4D8B-B1E1-2E36ED5C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9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C5CCB"/>
                </a:solidFill>
              </a:defRPr>
            </a:pPr>
            <a:r>
              <a:rPr sz="1200" b="1" i="0">
                <a:solidFill>
                  <a:srgbClr val="7C5CCB"/>
                </a:solidFill>
              </a:rPr>
              <a:t>NEXT.JS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0EE4F-4737-4BD4-AB01-38495F32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API routes ·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CF8CB-C4C0-4B7D-8DDF-9D6A63DE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A9F5E-FB9C-4B08-946E-FF6F58D3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09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97706"/>
                </a:solidFill>
              </a:defRPr>
            </a:pPr>
            <a:r>
              <a:rPr sz="1200" b="1" i="0">
                <a:solidFill>
                  <a:srgbClr val="D97706"/>
                </a:solidFill>
              </a:rPr>
              <a:t>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1348A-A4D5-4D76-ADE1-3FC4D91B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480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Engine pool · FEN bridge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0C267-2C25-4A2B-BE85-C652821D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E9DE1-BA66-4A5B-8635-F6861B4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4D399"/>
                </a:solidFill>
              </a:defRPr>
            </a:pPr>
            <a:r>
              <a:rPr sz="1200" b="1" i="0">
                <a:solidFill>
                  <a:srgbClr val="34D399"/>
                </a:solidFill>
              </a:rPr>
              <a:t>AI ENGINES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A9E8D-F2AA-4F2C-9F7E-CB845AFC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Stockfish · Prolog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07111-B97F-4507-BF37-93A2A27F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EA7A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01E01-1EB7-4744-A9AB-E94D1B47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09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A7A24"/>
                </a:solidFill>
              </a:defRPr>
            </a:pPr>
            <a:r>
              <a:rPr sz="1200" b="1" i="0">
                <a:solidFill>
                  <a:srgbClr val="EA7A24"/>
                </a:solidFill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A433B-1A84-4915-AC69-FAF20A3C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480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Move · advice · coach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2A87A-259F-48F5-AFAF-D5A72FB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E84A7-F308-4B48-925E-311E534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6227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72B04-07C5-43C2-B8DF-82F42ED9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8B8DA-BBA7-468B-937A-4D85DC0D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6227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14365-28A3-4140-A33E-093A7ED1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826DE-0B83-48EE-824F-D1613EE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72C82-36D9-4A1F-B9B6-1211E9CC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767B0-D9B8-4832-8A4C-880BF49E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6227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A2855-7ED3-46CE-BD92-C37FFDF2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3F9034-9BEC-4A28-AD62-EDCEE525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86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/api/bot-move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11A60F-C31B-4915-91D6-6806F688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672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706">
              <a:alpha val="13333"/>
            </a:srgbClr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3D1CD1-A41E-467D-80E0-97554CDD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/api/prolog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DCE247-1803-4258-9542-774DBF06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6720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5CCB">
              <a:alpha val="13333"/>
            </a:srgbClr>
          </a:solidFill>
          <a:ln xmlns:a="http://schemas.openxmlformats.org/drawingml/2006/main" w="9525">
            <a:solidFill>
              <a:srgbClr val="7C5CC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2B78B9-92BB-4CE9-AE97-5E8253B1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C5CCB"/>
                </a:solidFill>
              </a:defRPr>
            </a:pPr>
            <a:r>
              <a:rPr sz="900" b="1" i="0">
                <a:solidFill>
                  <a:srgbClr val="7C5CCB"/>
                </a:solidFill>
              </a:rPr>
              <a:t>/api/coach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B1290-A15C-47B9-8C88-F691E2E5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67200"/>
            <a:ext cx="1714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F318BC-5AB7-4551-9A4E-B0B761D8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86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/api/transcribe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7798D7-C7FE-421E-AC2D-BF6A76BC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0382F"/>
                </a:solidFill>
              </a:defRPr>
            </a:pPr>
            <a:r>
              <a:rPr sz="1800" b="1" i="0">
                <a:solidFill>
                  <a:srgbClr val="40382F"/>
                </a:solidFill>
              </a:rPr>
              <a:t>Every boundary has a fallback: the game stays playable even when Prolog, the LLM, or cloud speech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69037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7B99CC-3696-4DB7-9452-02192F15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PERCEPTION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2A42D-E2F1-4D96-A487-8FDB19B6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A2DCE-43E3-444C-B13C-0F3647AD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820CA-F39E-450A-A660-626551E7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Emotion estimation fuses anatomy with gameplay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D9ACE-054F-4F2F-8856-CEB4062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BE8D8-87AD-4B63-A340-5C83AEBA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FACIAL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932D6-5E94-4E40-B369-56365586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11D18"/>
                </a:solidFill>
              </a:defRPr>
            </a:pPr>
            <a:r>
              <a:rPr sz="2250" b="1" i="0">
                <a:solidFill>
                  <a:srgbClr val="211D18"/>
                </a:solidFill>
              </a:rPr>
              <a:t>52 blendshapes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60D2C-D3AF-4092-BCF8-A16AAC8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B60"/>
                </a:solidFill>
              </a:defRPr>
            </a:pPr>
            <a:r>
              <a:rPr sz="1425" b="0" i="0">
                <a:solidFill>
                  <a:srgbClr val="746B60"/>
                </a:solidFill>
              </a:rPr>
              <a:t>Smile, frown, brow, eye, jaw, and mouth motion are mixed into valence and arousal.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6F998-D80B-43C7-88EA-C9FF43B7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91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382F"/>
                </a:solidFill>
              </a:defRPr>
            </a:pPr>
            <a:r>
              <a:rPr sz="1275" b="0" i="0">
                <a:solidFill>
                  <a:srgbClr val="40382F"/>
                </a:solidFill>
              </a:rPr>
              <a:t>valence  ↔  positive / negative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5531A-331F-48A7-89EC-06D79A47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382F"/>
                </a:solidFill>
              </a:defRPr>
            </a:pPr>
            <a:r>
              <a:rPr sz="1275" b="0" i="0">
                <a:solidFill>
                  <a:srgbClr val="40382F"/>
                </a:solidFill>
              </a:rPr>
              <a:t>arousal  ↕  calm / activated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3D89F-E21E-46BC-948A-45DC6B20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334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720CF-E1D5-4B03-A3B3-5CE1DB7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5CCB"/>
                </a:solidFill>
              </a:defRPr>
            </a:pPr>
            <a:r>
              <a:rPr sz="975" b="1" i="0">
                <a:solidFill>
                  <a:srgbClr val="7C5CCB"/>
                </a:solidFill>
              </a:rPr>
              <a:t>GAME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18334-A3A7-41B0-A698-AACCCA92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11D18"/>
                </a:solidFill>
              </a:defRPr>
            </a:pPr>
            <a:r>
              <a:rPr sz="1275" b="1" i="0">
                <a:solidFill>
                  <a:srgbClr val="211D18"/>
                </a:solidFill>
              </a:rPr>
              <a:t>12s+ think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A0B4C-66A8-4EEB-A11A-8E135415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Focused / calm 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5C87F-4258-4D0F-8FD9-E1DF0C87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3B2FA-018F-422A-B6BF-6CF46BAB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11D18"/>
                </a:solidFill>
              </a:defRPr>
            </a:pPr>
            <a:r>
              <a:rPr sz="1275" b="1" i="0">
                <a:solidFill>
                  <a:srgbClr val="211D18"/>
                </a:solidFill>
              </a:rPr>
              <a:t>150cp setback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3C825-7F52-47E7-841D-C9E91AA6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Stress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8C008-E6F3-495E-AA50-87765924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6BE26-6B9F-4652-A95D-FE69137C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11D18"/>
                </a:solidFill>
              </a:defRPr>
            </a:pPr>
            <a:r>
              <a:rPr sz="1275" b="1" i="0">
                <a:solidFill>
                  <a:srgbClr val="211D18"/>
                </a:solidFill>
              </a:rPr>
              <a:t>Recent mistakes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3E252-C690-4AB1-B0B5-8290C9A1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29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Neutral dampening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A037A-8D5C-4872-9D5C-6EA314B4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44648-CDF6-4826-8F58-60E0D8EB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11D18"/>
                </a:solidFill>
              </a:defRPr>
            </a:pPr>
            <a:r>
              <a:rPr sz="1275" b="1" i="0">
                <a:solidFill>
                  <a:srgbClr val="211D18"/>
                </a:solidFill>
              </a:rPr>
              <a:t>+300cp advantage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DF9B2-4CBD-4566-BF7C-3DCF6D70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19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Confidence reinforcement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73444-D0EF-4AA0-8074-787EEA02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A1296-545D-48C7-9DCA-A47E9C48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45309"/>
                </a:solidFill>
              </a:defRPr>
            </a:pPr>
            <a:r>
              <a:rPr sz="1650" b="1" i="0">
                <a:solidFill>
                  <a:srgbClr val="B45309"/>
                </a:solidFill>
              </a:rPr>
              <a:t>Fusion adjusts soft scores; it does not blindly overwrite the face signal.</a:t>
            </a:r>
          </a:p>
        </p:txBody>
      </p:sp>
    </p:spTree>
    <p:extLst>
      <p:ext uri="{BB962C8B-B14F-4D97-AF65-F5344CB8AC3E}">
        <p14:creationId xmlns:p14="http://schemas.microsoft.com/office/powerpoint/2010/main" val="381418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D72C7E-FA85-4B8F-ACF1-35B5CAF7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ADAPTATION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C1713-2F5D-4421-85C2-CFF0F39F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75C33-95BE-4BEB-96C3-90778726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95FD8-F885-4ECF-A234-F13DD87A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Six emotion profiles reshape the engine’s challenge in real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55D52-6D2D-409E-9157-0E17F655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EMOTION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9B3B2-BFCC-4F0B-97A3-BD12B8D3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09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ELO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43A70-EC49-4BAD-8272-2EF6461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RELATIVE STRENGTH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4DB5-4C70-4AB7-9AA5-D4F0DED8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DEPTH / SKILL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8D156-DECA-4530-B5DE-6EED9B9E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C4C4C"/>
                </a:solidFill>
              </a:defRPr>
            </a:pPr>
            <a:r>
              <a:rPr sz="1350" b="1" i="0">
                <a:solidFill>
                  <a:srgbClr val="DC4C4C"/>
                </a:solidFill>
              </a:rPr>
              <a:t>Stressed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AE7B1-5A3A-4A10-A37D-CCAA9D21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1320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7D55B-D7F5-4A07-AC54-571F884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28850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4C116-4F45-469F-AAD2-C4F13B31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28850"/>
            <a:ext cx="2049517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931E4-1509-4A1D-9F07-2820C0B3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0382F"/>
                </a:solidFill>
              </a:defRPr>
            </a:pPr>
            <a:r>
              <a:rPr sz="1350" b="0" i="0">
                <a:solidFill>
                  <a:srgbClr val="40382F"/>
                </a:solidFill>
              </a:rPr>
              <a:t>1 /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FF652-6442-4730-AA03-85083FD1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A7A24"/>
                </a:solidFill>
              </a:defRPr>
            </a:pPr>
            <a:r>
              <a:rPr sz="1350" b="1" i="0">
                <a:solidFill>
                  <a:srgbClr val="EA7A24"/>
                </a:solidFill>
              </a:rPr>
              <a:t>Frustrated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BE0FC-A0CA-4D2F-807E-E1D4904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098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1320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5EED4-EB29-40B2-A81B-A9CF26B1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47975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33E44-C8CB-4F49-B5D6-BA9DA833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47975"/>
            <a:ext cx="2049517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7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27918-D59F-4346-9746-A7B3A3FB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9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0382F"/>
                </a:solidFill>
              </a:defRPr>
            </a:pPr>
            <a:r>
              <a:rPr sz="1350" b="0" i="0">
                <a:solidFill>
                  <a:srgbClr val="40382F"/>
                </a:solidFill>
              </a:rPr>
              <a:t>2 /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6E800-BA47-4E07-B8BB-D4B28847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8BDF8"/>
                </a:solidFill>
              </a:defRPr>
            </a:pPr>
            <a:r>
              <a:rPr sz="1350" b="1" i="0">
                <a:solidFill>
                  <a:srgbClr val="38BDF8"/>
                </a:solidFill>
              </a:rPr>
              <a:t>Calm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0C243-056D-4F37-AD70-F71D1D43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29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1600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B7898-8EA1-4E90-BC2C-B7FC7649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0892B-4400-4843-9128-DE493F84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24842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66EC7-9EDC-4CDE-83E3-B1854297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0382F"/>
                </a:solidFill>
              </a:defRPr>
            </a:pPr>
            <a:r>
              <a:rPr sz="1350" b="0" i="0">
                <a:solidFill>
                  <a:srgbClr val="40382F"/>
                </a:solidFill>
              </a:rPr>
              <a:t>4 / 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4CDD9-5C6D-4B4F-89D5-28425642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46B60"/>
                </a:solidFill>
              </a:defRPr>
            </a:pPr>
            <a:r>
              <a:rPr sz="1350" b="1" i="0">
                <a:solidFill>
                  <a:srgbClr val="746B60"/>
                </a:solidFill>
              </a:rPr>
              <a:t>Neutral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AADFD-74F7-4B90-B7CE-2B597F25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48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2000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F15827-AE3B-41EE-B7FD-E8532EF9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86225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C7EA0E-95A0-4649-8F77-BE8351C7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86225"/>
            <a:ext cx="3105329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6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04634-FCB0-4A89-8FCD-00D64E26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48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0382F"/>
                </a:solidFill>
              </a:defRPr>
            </a:pPr>
            <a:r>
              <a:rPr sz="1350" b="0" i="0">
                <a:solidFill>
                  <a:srgbClr val="40382F"/>
                </a:solidFill>
              </a:rPr>
              <a:t>6 / 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832026-719C-474B-A47B-F2C9FB1A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2D3EE"/>
                </a:solidFill>
              </a:defRPr>
            </a:pPr>
            <a:r>
              <a:rPr sz="1350" b="1" i="0">
                <a:solidFill>
                  <a:srgbClr val="22D3EE"/>
                </a:solidFill>
              </a:rPr>
              <a:t>Focused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036F19-99F9-4AD9-8693-8ACA8A8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67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2600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E0714-9E0D-44B3-AED7-69253972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5C5215-144E-477E-BEB9-9433EEF8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4036928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0F80CD-D215-463F-B9EE-3A2128E3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0382F"/>
                </a:solidFill>
              </a:defRPr>
            </a:pPr>
            <a:r>
              <a:rPr sz="1350" b="0" i="0">
                <a:solidFill>
                  <a:srgbClr val="40382F"/>
                </a:solidFill>
              </a:rPr>
              <a:t>8 / 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91FDE3-F520-4DA3-920B-2B346D54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D399"/>
                </a:solidFill>
              </a:defRPr>
            </a:pPr>
            <a:r>
              <a:rPr sz="1350" b="1" i="0">
                <a:solidFill>
                  <a:srgbClr val="34D399"/>
                </a:solidFill>
              </a:rPr>
              <a:t>Confident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3717D8-F446-4BA6-9B8F-3E9C4263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863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3190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24CADD-C02C-410E-BFEC-CF9F3AB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24475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F86914-83D6-4739-938E-9A741D4D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24475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0B79D8-CC1F-4B2A-947D-B964C4F1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86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0382F"/>
                </a:solidFill>
              </a:defRPr>
            </a:pPr>
            <a:r>
              <a:rPr sz="1350" b="0" i="0">
                <a:solidFill>
                  <a:srgbClr val="40382F"/>
                </a:solidFill>
              </a:rPr>
              <a:t>10 / 20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7E05EB-649E-4290-9D61-541E9FCA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B45309"/>
                </a:solidFill>
              </a:defRPr>
            </a:pPr>
            <a:r>
              <a:rPr sz="1350" b="0" i="1">
                <a:solidFill>
                  <a:srgbClr val="B45309"/>
                </a:solidFill>
              </a:rPr>
              <a:t>Hints deliberately bypass adaptation and use a stronger fixed profile for quality.</a:t>
            </a:r>
          </a:p>
        </p:txBody>
      </p:sp>
    </p:spTree>
    <p:extLst>
      <p:ext uri="{BB962C8B-B14F-4D97-AF65-F5344CB8AC3E}">
        <p14:creationId xmlns:p14="http://schemas.microsoft.com/office/powerpoint/2010/main" val="1476221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F8CA1-6BA3-4D62-90C8-80E05D71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PROLOG SPOTLIGHT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A80AC-8E58-472F-B170-2E24DC6F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AF884-5CBC-4A1A-8602-0C865E18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AED7E-BB5D-4266-A56F-F6D9EFB7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Search finds strong moves; Prolog makes reasoning inspectable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4228F-AC9F-4D50-935F-70E22F48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4D399"/>
                </a:solidFill>
              </a:defRPr>
            </a:pPr>
            <a:r>
              <a:rPr sz="1800" b="1" i="0">
                <a:solidFill>
                  <a:srgbClr val="34D399"/>
                </a:solidFill>
              </a:rPr>
              <a:t>Stockfish answers: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2819F-B9F5-4FF0-935F-B2C413EC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11D18"/>
                </a:solidFill>
              </a:defRPr>
            </a:pPr>
            <a:r>
              <a:rPr sz="2700" b="1" i="0">
                <a:solidFill>
                  <a:srgbClr val="211D18"/>
                </a:solidFill>
              </a:rPr>
              <a:t>“What move scores best?”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84D1D-D848-4DD3-8DDC-9180C33D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6B60"/>
                </a:solidFill>
              </a:defRPr>
            </a:pPr>
            <a:r>
              <a:rPr sz="1500" b="0" i="0">
                <a:solidFill>
                  <a:srgbClr val="746B60"/>
                </a:solidFill>
              </a:rPr>
              <a:t>Deep search is powerful, but its evaluation is not automatically a clear explanation for a learner.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D199B-67A4-402E-A04B-3D7E2786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85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E50AC-059F-46C7-AE19-61BA93B2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97706"/>
                </a:solidFill>
              </a:defRPr>
            </a:pPr>
            <a:r>
              <a:rPr sz="1800" b="1" i="0">
                <a:solidFill>
                  <a:srgbClr val="D97706"/>
                </a:solidFill>
              </a:rPr>
              <a:t>The Logician answers: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1629D-DDCC-43D8-BCA5-A526898D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11D18"/>
                </a:solidFill>
              </a:defRPr>
            </a:pPr>
            <a:r>
              <a:rPr sz="2700" b="1" i="0">
                <a:solidFill>
                  <a:srgbClr val="211D18"/>
                </a:solidFill>
              </a:rPr>
              <a:t>“Which rule applies—and why now?”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556C6-94F7-405F-9620-07708D66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6B60"/>
                </a:solidFill>
              </a:defRPr>
            </a:pPr>
            <a:r>
              <a:rPr sz="1500" b="0" i="0">
                <a:solidFill>
                  <a:srgbClr val="746B60"/>
                </a:solidFill>
              </a:rPr>
              <a:t>Advice is traceable to explicit facts and rules: check safety, hanging pieces, free captures, castling, development, center control, and king activation.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C679A-C36A-4BEA-B4C9-9078FC30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19750"/>
            <a:ext cx="1714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706">
              <a:alpha val="13333"/>
            </a:srgbClr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C407D-CE2F-4063-8FEF-D52BE8F4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38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SYMBOLIC AI</a:t>
            </a:r>
          </a:p>
        </p:txBody>
      </p:sp>
    </p:spTree>
    <p:extLst>
      <p:ext uri="{BB962C8B-B14F-4D97-AF65-F5344CB8AC3E}">
        <p14:creationId xmlns:p14="http://schemas.microsoft.com/office/powerpoint/2010/main" val="269578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0E8C5B-B763-4E12-99D3-8A9AE31E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PROLOG SPOTLIGHT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D331A-7BE4-4714-A2CF-BFB0AB1A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50256-DFBF-43AD-A8D4-E6D50CF5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7DCEC-11EC-40C6-A4EC-AEA8CBA0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The knowledge base separates observable facts from reusable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4CD86-4252-4613-977C-9CF99C29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1DEE1-47E4-405D-A825-C39AAA46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2D3EE"/>
                </a:solidFill>
              </a:defRPr>
            </a:pPr>
            <a:r>
              <a:rPr sz="1125" b="1" i="0">
                <a:solidFill>
                  <a:srgbClr val="22D3EE"/>
                </a:solidFill>
              </a:rPr>
              <a:t>DYNAMIC 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32957-D25C-4611-A2BE-BD57661C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C5887-B85C-4D2D-B906-482EF57E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piece(e4, white, pawn)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6D295-2944-412D-887E-F8B5F90A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turn(white)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C6097-6EF0-4BEC-8041-3446287F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move_number(7)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EC7AA-A5C2-486B-8ACF-3DCF433D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attacked_by(c3, black)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D57E6-A021-41D4-B8A9-C8DF6AD7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defended_by(c3, white)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E4819-81CF-4704-852B-7E3E3DDC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2882C-CD64-4145-A030-28BAECA1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52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C5CCB"/>
                </a:solidFill>
              </a:defRPr>
            </a:pPr>
            <a:r>
              <a:rPr sz="1125" b="1" i="0">
                <a:solidFill>
                  <a:srgbClr val="7C5CCB"/>
                </a:solidFill>
              </a:rPr>
              <a:t>DERIVED CONCEPTS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C0EC9-BAAD-4A5C-B115-273AD3D1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717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D9E87-F1CF-4535-8B0C-049A9711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14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hanging_mine/2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934D0-88D3-46BB-82FF-78CCA396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099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free_capture/2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8050E-3AF9-4DA5-9233-A0815D89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undeveloped_minor/2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23BDD-6EBB-4948-A83F-B027D6DA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00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needs_castling/0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40FC9-35C7-408A-AE35-ADFABD98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95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no_center_presence/0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92BAB-ABAA-4723-B2CC-5FB187C7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4EEBF-99C3-4290-95FA-70D00699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PRIORITIZED ADVICE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ED81D-C9DF-46C4-82CC-399C2819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16CD6-2051-4A67-A5A1-5F4704F0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14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99  safety /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B1352-577C-41A1-97AA-EB3D4C67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11D18"/>
                </a:solidFill>
              </a:defRPr>
            </a:pPr>
            <a:r>
              <a:rPr sz="1275" b="0" i="0">
                <a:solidFill>
                  <a:srgbClr val="211D18"/>
                </a:solidFill>
              </a:rPr>
              <a:t>95  tactics / hanging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419CF-80F7-47F6-AB08-C20E9496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05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90  tactics / free capture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A50D3F-CE51-4471-B9EC-010777F5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85  opening / castle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DD4EBA-9FF9-482A-8BEF-4D8C6493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B60"/>
                </a:solidFill>
              </a:defRPr>
            </a:pPr>
            <a:r>
              <a:rPr sz="1275" b="0" i="0">
                <a:solidFill>
                  <a:srgbClr val="746B60"/>
                </a:solidFill>
              </a:rPr>
              <a:t>60  endgame / activate 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8E3631-62C1-424D-B99F-0489A42C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40382F"/>
                </a:solidFill>
              </a:defRPr>
            </a:pPr>
            <a:r>
              <a:rPr sz="1575" b="1" i="0">
                <a:solidFill>
                  <a:srgbClr val="40382F"/>
                </a:solidFill>
              </a:rPr>
              <a:t>Priority is data—not hidden model behavior—so the UI can sort advice deterministically.</a:t>
            </a:r>
          </a:p>
        </p:txBody>
      </p:sp>
    </p:spTree>
    <p:extLst>
      <p:ext uri="{BB962C8B-B14F-4D97-AF65-F5344CB8AC3E}">
        <p14:creationId xmlns:p14="http://schemas.microsoft.com/office/powerpoint/2010/main" val="95701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5CCBBA-F54D-44BD-A4C5-67CDE5A7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PROLOG 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CBCC5-63A5-4A97-B2FF-649CA65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199E8-1480-4FC4-A80D-0FC1E5BD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C8445-EDDF-4D11-B9C6-C166C04A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The bridge converts an imperative board state into declarative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DFA86-3898-43D8-B4F8-FB5C824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4038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8E1B8-88EB-4FF0-BD7E-2BD2FA45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0382F"/>
                </a:solidFill>
              </a:defRPr>
            </a:pPr>
            <a:r>
              <a:rPr sz="975" b="1" i="0">
                <a:solidFill>
                  <a:srgbClr val="40382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B62FB-7C79-4556-AA03-9A2117A7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11D18"/>
                </a:solidFill>
              </a:defRPr>
            </a:pPr>
            <a:r>
              <a:rPr sz="1275" b="1" i="0">
                <a:solidFill>
                  <a:srgbClr val="211D18"/>
                </a:solidFill>
              </a:rPr>
              <a:t>FEN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7EBA4-FE79-4C3A-B47E-275E781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6B60"/>
                </a:solidFill>
              </a:defRPr>
            </a:pPr>
            <a:r>
              <a:rPr sz="1125" b="0" i="0">
                <a:solidFill>
                  <a:srgbClr val="746B60"/>
                </a:solidFill>
              </a:rPr>
              <a:t>r1bqk… w KQ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530C9-758B-4124-A870-9144E42F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95625"/>
            <a:ext cx="2095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43DF9-0EB8-4BFD-9F08-BDB732D1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4DA64-A1CB-41E1-A32B-6506B5DA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8BDF8"/>
                </a:solidFill>
              </a:defRPr>
            </a:pPr>
            <a:r>
              <a:rPr sz="975" b="1" i="0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971A8-DEAD-4329-9F5E-DBF658E5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11D18"/>
                </a:solidFill>
              </a:defRPr>
            </a:pPr>
            <a:r>
              <a:rPr sz="1275" b="1" i="0">
                <a:solidFill>
                  <a:srgbClr val="211D18"/>
                </a:solidFill>
              </a:rPr>
              <a:t>python-chess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9EA4A-87D9-467C-A171-89626B85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6B60"/>
                </a:solidFill>
              </a:defRPr>
            </a:pPr>
            <a:r>
              <a:rPr sz="1125" b="0" i="0">
                <a:solidFill>
                  <a:srgbClr val="746B60"/>
                </a:solidFill>
              </a:rPr>
              <a:t>parse 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069BB-ECFB-421B-9976-149B408D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095625"/>
            <a:ext cx="2095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ABFD1-0994-4C9B-96FF-39C22768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A7C12-FCB7-40DE-B8DC-66DF2AC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FF052-27CB-40DE-B0DE-9DDC6DDA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11D18"/>
                </a:solidFill>
              </a:defRPr>
            </a:pPr>
            <a:r>
              <a:rPr sz="1275" b="1" i="0">
                <a:solidFill>
                  <a:srgbClr val="211D18"/>
                </a:solidFill>
              </a:rPr>
              <a:t>FACT ASSERTION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41EBB-D643-42D2-B674-2B41055E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6B60"/>
                </a:solidFill>
              </a:defRPr>
            </a:pPr>
            <a:r>
              <a:rPr sz="1125" b="0" i="0">
                <a:solidFill>
                  <a:srgbClr val="746B60"/>
                </a:solidFill>
              </a:rPr>
              <a:t>piece · turn · attacks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9E138-B819-4874-8858-E1B09D53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2095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D1DE1-FCFF-457B-85CE-41120882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88EC4-BB67-45E1-BF0B-CD7BBECC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97706"/>
                </a:solidFill>
              </a:defRPr>
            </a:pPr>
            <a:r>
              <a:rPr sz="975" b="1" i="0">
                <a:solidFill>
                  <a:srgbClr val="D97706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52102-F3E3-4ED4-A5CB-B399271E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11D18"/>
                </a:solidFill>
              </a:defRPr>
            </a:pPr>
            <a:r>
              <a:rPr sz="1275" b="1" i="0">
                <a:solidFill>
                  <a:srgbClr val="211D18"/>
                </a:solidFill>
              </a:rPr>
              <a:t>PROLOG QUERY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CEB01-0D24-494E-9925-B3E4DFD2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6B60"/>
                </a:solidFill>
              </a:defRPr>
            </a:pPr>
            <a:r>
              <a:rPr sz="1125" b="0" i="0">
                <a:solidFill>
                  <a:srgbClr val="746B60"/>
                </a:solidFill>
              </a:rPr>
              <a:t>advice(P,C,T)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A760C-48E8-41A9-82A3-9E20B39E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5625"/>
            <a:ext cx="2095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8EF418-1E69-4096-A5E6-72381D38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30682-CDF3-487A-A7D5-E72DEA0F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D399"/>
                </a:solidFill>
              </a:defRPr>
            </a:pPr>
            <a:r>
              <a:rPr sz="975" b="1" i="0">
                <a:solidFill>
                  <a:srgbClr val="34D399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0DA8F9-9D40-4C6A-A122-86BD4957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11D18"/>
                </a:solidFill>
              </a:defRPr>
            </a:pPr>
            <a:r>
              <a:rPr sz="1275" b="1" i="0">
                <a:solidFill>
                  <a:srgbClr val="211D18"/>
                </a:solidFill>
              </a:rPr>
              <a:t>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E75BA-D4B7-4EB8-946F-FEED1C6B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6B60"/>
                </a:solidFill>
              </a:defRPr>
            </a:pPr>
            <a:r>
              <a:rPr sz="1125" b="0" i="0">
                <a:solidFill>
                  <a:srgbClr val="746B60"/>
                </a:solidFill>
              </a:rPr>
              <a:t>top 6 sorted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9B2F0-2562-4186-9EDE-D5147AD7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95625"/>
            <a:ext cx="2095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2DB2A-EA33-4660-A01A-F2B035DD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7C5C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7D0B6B-20AB-4B43-9B43-EB2A271E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5CCB"/>
                </a:solidFill>
              </a:defRPr>
            </a:pPr>
            <a:r>
              <a:rPr sz="975" b="1" i="0">
                <a:solidFill>
                  <a:srgbClr val="7C5CCB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CDF031-E293-44E1-9995-4371E95B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11D18"/>
                </a:solidFill>
              </a:defRPr>
            </a:pPr>
            <a:r>
              <a:rPr sz="1275" b="1" i="0">
                <a:solidFill>
                  <a:srgbClr val="211D18"/>
                </a:solidFill>
              </a:rPr>
              <a:t>LOGICIAN UI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5EB607-C5FD-4B16-80BE-C13FC3E3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6B60"/>
                </a:solidFill>
              </a:defRPr>
            </a:pPr>
            <a:r>
              <a:rPr sz="1125" b="0" i="0">
                <a:solidFill>
                  <a:srgbClr val="746B60"/>
                </a:solidFill>
              </a:rPr>
              <a:t>category + reason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FEF510-1D16-463C-A9A1-EAC9E85C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7706"/>
                </a:solidFill>
              </a:defRPr>
            </a:pPr>
            <a:r>
              <a:rPr sz="1350" b="1" i="0">
                <a:solidFill>
                  <a:srgbClr val="D97706"/>
                </a:solidFill>
              </a:rPr>
              <a:t>Concurrency safeguard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E69811-6567-4581-AC8D-B1F2F612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B60"/>
                </a:solidFill>
              </a:defRPr>
            </a:pPr>
            <a:r>
              <a:rPr sz="1425" b="0" i="0">
                <a:solidFill>
                  <a:srgbClr val="746B60"/>
                </a:solidFill>
              </a:rPr>
              <a:t>A lock protects the shared Prolog instance while old facts are retracted, new facts are asserted, and the query runs.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DEE9D1-5931-41FB-9E05-6EAA861F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40382F"/>
                </a:solidFill>
              </a:defRPr>
            </a:pPr>
            <a:r>
              <a:rPr sz="1725" b="1" i="0">
                <a:solidFill>
                  <a:srgbClr val="40382F"/>
                </a:solidFill>
              </a:rPr>
              <a:t>Prolog remains observational: it never executes a chess move.</a:t>
            </a:r>
          </a:p>
        </p:txBody>
      </p:sp>
    </p:spTree>
    <p:extLst>
      <p:ext uri="{BB962C8B-B14F-4D97-AF65-F5344CB8AC3E}">
        <p14:creationId xmlns:p14="http://schemas.microsoft.com/office/powerpoint/2010/main" val="1191962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C0926-038B-4EDF-AC65-F5DD94CD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PROLOG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0CA6C-E4F2-46FD-9BE6-FDC15FB3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9701E-81CC-404A-B6E2-04C34211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D9B66-157A-480B-A713-52EE0B65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A hanging piece becomes a transparent priority-95 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B0868-FEFB-4FF6-B464-537FCFCF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762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7134B-07E5-4ECA-8C53-C882FA34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ASSERTED 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81AD8-94C3-47CD-8891-0B605AA0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0382F"/>
                </a:solidFill>
              </a:defRPr>
            </a:pPr>
            <a:r>
              <a:rPr sz="1425" b="0" i="0">
                <a:solidFill>
                  <a:srgbClr val="40382F"/>
                </a:solidFill>
              </a:rPr>
              <a:t>turn(white).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3E857-F3EA-42CD-B6D0-8C7C48C8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0382F"/>
                </a:solidFill>
              </a:defRPr>
            </a:pPr>
            <a:r>
              <a:rPr sz="1425" b="0" i="0">
                <a:solidFill>
                  <a:srgbClr val="40382F"/>
                </a:solidFill>
              </a:rPr>
              <a:t>piece(c3, white, bishop).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77800-58FE-4D6B-9063-789E6E81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0382F"/>
                </a:solidFill>
              </a:defRPr>
            </a:pPr>
            <a:r>
              <a:rPr sz="1425" b="0" i="0">
                <a:solidFill>
                  <a:srgbClr val="40382F"/>
                </a:solidFill>
              </a:rPr>
              <a:t>attacked_by(c3, black).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F3694-7917-4F22-92FA-6EA96716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B60"/>
                </a:solidFill>
              </a:defRPr>
            </a:pPr>
            <a:r>
              <a:rPr sz="1425" b="0" i="0">
                <a:solidFill>
                  <a:srgbClr val="746B60"/>
                </a:solidFill>
              </a:rPr>
              <a:t>% no defended_by(c3, white)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E54C6-6EB3-4CE1-B8B0-A4902CD6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F2994-17FB-4340-8270-134F267B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45309"/>
                </a:solidFill>
              </a:defRPr>
            </a:pPr>
            <a:r>
              <a:rPr sz="1425" b="1" i="0">
                <a:solidFill>
                  <a:srgbClr val="B45309"/>
                </a:solidFill>
              </a:rPr>
              <a:t>hanging_mine(c3, bishop).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AC0EA-5573-4CF8-A641-7E79BBA5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552450" cy="666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FE2BF-AA95-4584-BADD-8FA84D1B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5048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3DA28-37EC-4F0F-9C84-DA107245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706">
              <a:alpha val="13333"/>
            </a:srgbClr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952BF-31F3-4134-BF24-4EC5A3BF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TACTICS · PRIORITY 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5FC19-20FF-4265-8760-7471DB78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11D18"/>
                </a:solidFill>
              </a:defRPr>
            </a:pPr>
            <a:r>
              <a:rPr sz="2400" b="1" i="0">
                <a:solidFill>
                  <a:srgbClr val="211D18"/>
                </a:solidFill>
              </a:rPr>
              <a:t>Your bishop on c3 is attacked and undefended—defend it or move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77652-6CB4-4B88-8A7E-B0E41639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45309"/>
                </a:solidFill>
              </a:defRPr>
            </a:pPr>
            <a:r>
              <a:rPr sz="1350" b="1" i="0">
                <a:solidFill>
                  <a:srgbClr val="B45309"/>
                </a:solidFill>
              </a:rPr>
              <a:t>Why this is explainable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2FFE7-3C11-4605-B2A5-55CB1669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B60"/>
                </a:solidFill>
              </a:defRPr>
            </a:pPr>
            <a:r>
              <a:rPr sz="1350" b="0" i="0">
                <a:solidFill>
                  <a:srgbClr val="746B60"/>
                </a:solidFill>
              </a:rPr>
              <a:t>Every phrase is grounded in a visible predicate and a named rule.</a:t>
            </a:r>
          </a:p>
        </p:txBody>
      </p:sp>
    </p:spTree>
    <p:extLst>
      <p:ext uri="{BB962C8B-B14F-4D97-AF65-F5344CB8AC3E}">
        <p14:creationId xmlns:p14="http://schemas.microsoft.com/office/powerpoint/2010/main" val="8380802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2092E9-DD28-4977-B83A-A56045B8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HYBRID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759F2-0B07-4A80-8F9A-D35EB8BF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237D5-67AA-4236-8744-6D6EA32A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AB691-4C14-4E78-A682-DE781DC5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Each engine owns the job it can do best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51A3E-E43B-46E3-B95A-1A9C468D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429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A9E0E-3CD8-4752-95D6-FC93F17C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D399"/>
                </a:solidFill>
              </a:defRPr>
            </a:pPr>
            <a:r>
              <a:rPr sz="1350" b="1" i="0">
                <a:solidFill>
                  <a:srgbClr val="34D399"/>
                </a:solidFill>
              </a:rPr>
              <a:t>STOCKFISH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5E8B5-8BAD-4BB3-8864-89B426E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FB4D7-B42D-4A15-9CE3-5AB2EF04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43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7706"/>
                </a:solidFill>
              </a:defRPr>
            </a:pPr>
            <a:r>
              <a:rPr sz="1350" b="1" i="0">
                <a:solidFill>
                  <a:srgbClr val="D97706"/>
                </a:solidFill>
              </a:rPr>
              <a:t>PROLOG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904B5-42F9-470F-BAE1-D9A3BE7C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429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E9424-0EB8-4AB8-BD93-5DFCC49D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43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5CCB"/>
                </a:solidFill>
              </a:defRPr>
            </a:pPr>
            <a:r>
              <a:rPr sz="1350" b="1" i="0">
                <a:solidFill>
                  <a:srgbClr val="7C5CCB"/>
                </a:solidFill>
              </a:rPr>
              <a:t>LLM COACH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C9198-9342-4F07-81C6-016AA3F2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91499-0BD5-4499-A0C9-AF188962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Search and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B7F25-FE20-444D-99AD-D5EC5420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881DD-EE1A-435D-887E-6C0AD7F1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Best move ·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A0F4F-98A9-462F-BC70-7AA4CD8A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Strength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1283F-025D-485D-9B71-B15F9E60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Tactical 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71367-2C22-4C89-B2EF-A51027E7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989B1-ECC8-4741-A72D-10D9DDD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Hard to narrate directly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07B4F-E6AD-48BD-82E4-2BD218CA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146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105BB-676E-466A-904F-56363860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432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Rules and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4A07A-1B86-4654-9FD5-809494D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81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CEBF9-F3F8-491E-A41D-32C9009A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99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Ranked advice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5D8E4-D305-41C9-A37E-C008E6E9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Strength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F9EB7-0810-4A3D-89A2-EABDAC01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767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Transparent 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1F8D0B-B1A0-4AF7-846C-89A719B9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14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Limit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9A892-DB40-41C5-852E-0BF8696D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434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Narrow encoded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7CFA0-A496-4A77-9B95-1B425EE0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46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Role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FB0D3C-3595-4CB4-9300-85732BCE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432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Dialogue and language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16BE5-7F83-4F90-9B6C-BB50168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81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228AF0-8A16-47D6-AC73-E332D8AC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99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Natural coaching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09BEA6-DC21-457B-9B61-6D19B16D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48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Strength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2E4601-7D39-4A6B-8DCF-071EB2BF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767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Flexible communication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3A48DF-F140-4F69-B85C-C2CC1FB3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14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46B60"/>
                </a:solidFill>
              </a:defRPr>
            </a:pPr>
            <a:r>
              <a:rPr sz="900" b="1" i="0">
                <a:solidFill>
                  <a:srgbClr val="746B60"/>
                </a:solidFill>
              </a:rPr>
              <a:t>Limit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74747-2E32-40D2-886A-B4B89770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434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Needs grounding + fallback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615C30-C45B-4FD0-B03E-F9A84D4B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40382F"/>
                </a:solidFill>
              </a:defRPr>
            </a:pPr>
            <a:r>
              <a:rPr sz="1725" b="1" i="0">
                <a:solidFill>
                  <a:srgbClr val="40382F"/>
                </a:solidFill>
              </a:rPr>
              <a:t>Hybrid design turns one opaque ‘AI’ into accountable, composable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6618506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93CE9-E0EE-4B3D-977D-5FFB0AA2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SEARCH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E2775-6FCB-4EF7-9B65-49E5EBE5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C6AA5-78B5-4BB2-B928-D0C4023B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2CA68-7960-4894-9870-9407F607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Four agents reveal how evaluation priorities change a search tree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5ce5c41f0425a"/>
          <a:srcRect xmlns:a="http://schemas.openxmlformats.org/drawingml/2006/main" l="3561" t="0" r="35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62125"/>
            <a:ext cx="67627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8BF1B-0FE8-415B-A213-FCAA7B29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78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64981-8D82-4D92-934B-BF662637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97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7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A4BEB-6D45-49CB-A2E2-345DFBFE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11D18"/>
                </a:solidFill>
              </a:defRPr>
            </a:pPr>
            <a:r>
              <a:rPr sz="1575" b="1" i="0">
                <a:solidFill>
                  <a:srgbClr val="211D18"/>
                </a:solidFill>
              </a:rPr>
              <a:t>Materialist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AA2F0-A94B-4700-93FB-6B70A2A5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764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46B60"/>
                </a:solidFill>
              </a:defRPr>
            </a:pPr>
            <a:r>
              <a:rPr sz="1200" b="0" i="0">
                <a:solidFill>
                  <a:srgbClr val="746B60"/>
                </a:solidFill>
              </a:rPr>
              <a:t>1.8× material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C744F-3A63-4A60-BD9E-58C502AF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BCE0A-9D52-4447-ACE1-DF42C45B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717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11D18"/>
                </a:solidFill>
              </a:defRPr>
            </a:pPr>
            <a:r>
              <a:rPr sz="1575" b="1" i="0">
                <a:solidFill>
                  <a:srgbClr val="211D18"/>
                </a:solidFill>
              </a:rPr>
              <a:t>Positional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9DB56-51CA-4C13-8BAE-24A3622C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46B60"/>
                </a:solidFill>
              </a:defRPr>
            </a:pPr>
            <a:r>
              <a:rPr sz="1200" b="0" i="0">
                <a:solidFill>
                  <a:srgbClr val="746B60"/>
                </a:solidFill>
              </a:rPr>
              <a:t>1.8×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C76D0-6AF2-4CF5-AFCE-ACC64A9A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480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AE8B5-0987-4E56-9120-ACD121CA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90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11D18"/>
                </a:solidFill>
              </a:defRPr>
            </a:pPr>
            <a:r>
              <a:rPr sz="1575" b="1" i="0">
                <a:solidFill>
                  <a:srgbClr val="211D18"/>
                </a:solidFill>
              </a:rPr>
              <a:t>Defender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CA939-F661-471E-AEAE-4830C8DA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147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46B60"/>
                </a:solidFill>
              </a:defRPr>
            </a:pPr>
            <a:r>
              <a:rPr sz="1200" b="0" i="0">
                <a:solidFill>
                  <a:srgbClr val="746B60"/>
                </a:solidFill>
              </a:rPr>
              <a:t>2.1× king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D359B-B1E2-4B48-B9F8-30F9DFD4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672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D9A4-4355-4940-899E-43656359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0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11D18"/>
                </a:solidFill>
              </a:defRPr>
            </a:pPr>
            <a:r>
              <a:rPr sz="1575" b="1" i="0">
                <a:solidFill>
                  <a:srgbClr val="211D18"/>
                </a:solidFill>
              </a:rPr>
              <a:t>Tactician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02960-7B66-4E73-BC93-D2A077E7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339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46B60"/>
                </a:solidFill>
              </a:defRPr>
            </a:pPr>
            <a:r>
              <a:rPr sz="1200" b="0" i="0">
                <a:solidFill>
                  <a:srgbClr val="746B60"/>
                </a:solidFill>
              </a:rPr>
              <a:t>deeper forcing 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A072E-A76D-42B1-B5EF-77AA0DB8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0382F"/>
                </a:solidFill>
              </a:defRPr>
            </a:pPr>
            <a:r>
              <a:rPr sz="1500" b="1" i="0">
                <a:solidFill>
                  <a:srgbClr val="40382F"/>
                </a:solidFill>
              </a:rPr>
              <a:t>Same FEN. Different heuristic weights. Selectable Minimax or MCTS traces.</a:t>
            </a:r>
          </a:p>
        </p:txBody>
      </p:sp>
    </p:spTree>
    <p:extLst>
      <p:ext uri="{BB962C8B-B14F-4D97-AF65-F5344CB8AC3E}">
        <p14:creationId xmlns:p14="http://schemas.microsoft.com/office/powerpoint/2010/main" val="6242270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33D10-7599-4136-AC20-C2F613E0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LANGUAGE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D8F9C-E51D-4472-947F-FE704D96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240F8-793C-4DC0-8983-6A110C73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E3B1B-77E5-4885-8C9F-E7E2AAD8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The coach grounds natural language in the live position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8f3aa821b4801"/>
          <a:srcRect xmlns:a="http://schemas.openxmlformats.org/drawingml/2006/main" l="3338" t="0" r="33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14500"/>
            <a:ext cx="6953250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AF000-53D0-4C55-80DF-8794F609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D9867-7AA3-4348-8F30-2C1571AD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3F214-7E03-4FBC-A77C-33578D66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145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11D18"/>
                </a:solidFill>
              </a:defRPr>
            </a:pPr>
            <a:r>
              <a:rPr sz="1425" b="1" i="0">
                <a:solidFill>
                  <a:srgbClr val="211D18"/>
                </a:solidFill>
              </a:rPr>
              <a:t>FEN · emotion ·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B70EA-0FEE-454F-80C6-71618AE2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431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2E6C4-096D-405B-8DE9-2C98AC71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43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GROUNDING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5CD7A-189F-40A0-BA0E-45EA1640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11D18"/>
                </a:solidFill>
              </a:defRPr>
            </a:pPr>
            <a:r>
              <a:rPr sz="1425" b="1" i="0">
                <a:solidFill>
                  <a:srgbClr val="211D18"/>
                </a:solidFill>
              </a:rPr>
              <a:t>legal moves · best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AFBB3-EAB8-4144-B6A2-B7517214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A5C8C-6B40-4339-AF73-6E8F80E2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C5CCB"/>
                </a:solidFill>
              </a:defRPr>
            </a:pPr>
            <a:r>
              <a:rPr sz="900" b="1" i="0">
                <a:solidFill>
                  <a:srgbClr val="7C5CCB"/>
                </a:solidFill>
              </a:rPr>
              <a:t>GENERATION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E973F-BAC5-4519-BDD8-35AA2645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81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11D18"/>
                </a:solidFill>
              </a:defRPr>
            </a:pPr>
            <a:r>
              <a:rPr sz="1425" b="1" i="0">
                <a:solidFill>
                  <a:srgbClr val="211D18"/>
                </a:solidFill>
              </a:rPr>
              <a:t>Groq or local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E1E41-230A-402A-8C3B-DF0B7526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EDFE0-8F7C-4DDC-875B-D5425B4F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10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AB2E3-D824-418A-95A0-BF184994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149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11D18"/>
                </a:solidFill>
              </a:defRPr>
            </a:pPr>
            <a:r>
              <a:rPr sz="1425" b="1" i="0">
                <a:solidFill>
                  <a:srgbClr val="211D18"/>
                </a:solidFill>
              </a:rPr>
              <a:t>structured chess advice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921C7-BC9D-4AF8-8E16-C3DAFFE7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197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0382F"/>
                </a:solidFill>
              </a:defRPr>
            </a:pPr>
            <a:r>
              <a:rPr sz="1350" b="1" i="0">
                <a:solidFill>
                  <a:srgbClr val="40382F"/>
                </a:solidFill>
              </a:rPr>
              <a:t>The interface can offer a playable move, but chess.js validation remains the authority.</a:t>
            </a:r>
          </a:p>
        </p:txBody>
      </p:sp>
    </p:spTree>
    <p:extLst>
      <p:ext uri="{BB962C8B-B14F-4D97-AF65-F5344CB8AC3E}">
        <p14:creationId xmlns:p14="http://schemas.microsoft.com/office/powerpoint/2010/main" val="4981910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4010FB-5A3D-4D84-94D3-F6ACF79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VOICE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F2F18-885C-45E3-975A-4AF36CFD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1D49E-1770-477E-AF4E-1E2E8A9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96FE1-05F4-49D9-AB92-83E59A82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Burmese voice supports two separate—and safer—interaction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2CCFB-6923-4ACC-8E04-3776C436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1911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CA8AC-AED5-499A-98A3-937B5370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2D3EE"/>
                </a:solidFill>
              </a:defRPr>
            </a:pPr>
            <a:r>
              <a:rPr sz="1125" b="1" i="0">
                <a:solidFill>
                  <a:srgbClr val="22D3EE"/>
                </a:solidFill>
              </a:rPr>
              <a:t>VOICE MOVE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3C0F2-35FD-445B-BD01-A1480684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11D18"/>
                </a:solidFill>
              </a:defRPr>
            </a:pPr>
            <a:r>
              <a:rPr sz="2025" b="1" i="0">
                <a:solidFill>
                  <a:srgbClr val="211D18"/>
                </a:solidFill>
              </a:rPr>
              <a:t>Audio → transcript → parseChessMove() → legal move validation → 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1D1F4-E014-44AD-9AD2-D3049D39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B60"/>
                </a:solidFill>
              </a:defRPr>
            </a:pPr>
            <a:r>
              <a:rPr sz="1425" b="0" i="0">
                <a:solidFill>
                  <a:srgbClr val="746B60"/>
                </a:solidFill>
              </a:rPr>
              <a:t>A command executes only after it resolves to a legal move.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40D2F-661C-4945-B6FE-A89CF0F1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1911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6D192-3CC8-4080-B972-88815AB1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09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C5CCB"/>
                </a:solidFill>
              </a:defRPr>
            </a:pPr>
            <a:r>
              <a:rPr sz="1125" b="1" i="0">
                <a:solidFill>
                  <a:srgbClr val="7C5CCB"/>
                </a:solidFill>
              </a:rPr>
              <a:t>VOICE COACH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6CE86-9528-4B06-9941-41E6DE0C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24150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11D18"/>
                </a:solidFill>
              </a:defRPr>
            </a:pPr>
            <a:r>
              <a:rPr sz="2025" b="1" i="0">
                <a:solidFill>
                  <a:srgbClr val="211D18"/>
                </a:solidFill>
              </a:rPr>
              <a:t>Audio → transcript → editable text → /api/coach → Burmese answer → optional TTS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34A6F-1F30-406C-8915-ECD36755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76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B60"/>
                </a:solidFill>
              </a:defRPr>
            </a:pPr>
            <a:r>
              <a:rPr sz="1425" b="0" i="0">
                <a:solidFill>
                  <a:srgbClr val="746B60"/>
                </a:solidFill>
              </a:rPr>
              <a:t>Asking a question never auto-plays a move.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D5F6F-CB01-448C-A990-9DAF03EF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055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C1A71-91DC-4B19-80D2-660675E8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24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LOCAL WHISPER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4C573-0D9B-4DB1-8970-372BD6E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05500"/>
            <a:ext cx="1047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E0B41-CA7B-463A-A1D2-6BD8106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24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GROQ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DBB20-9E95-4667-A4A4-941D5AF9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7A24">
              <a:alpha val="13333"/>
            </a:srgbClr>
          </a:solidFill>
          <a:ln xmlns:a="http://schemas.openxmlformats.org/drawingml/2006/main" w="9525">
            <a:solidFill>
              <a:srgbClr val="EA7A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D8FBE-C409-4931-A654-CD9D9271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24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A7A24"/>
                </a:solidFill>
              </a:defRPr>
            </a:pPr>
            <a:r>
              <a:rPr sz="900" b="1" i="0">
                <a:solidFill>
                  <a:srgbClr val="EA7A24"/>
                </a:solidFill>
              </a:rPr>
              <a:t>ELEVENLABS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70666-6D18-4730-B67F-83ECCCA6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0550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5CCB">
              <a:alpha val="13333"/>
            </a:srgbClr>
          </a:solidFill>
          <a:ln xmlns:a="http://schemas.openxmlformats.org/drawingml/2006/main" w="9525">
            <a:solidFill>
              <a:srgbClr val="7C5C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CB059-77D2-4523-9565-FF1C9852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24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C5CCB"/>
                </a:solidFill>
              </a:defRPr>
            </a:pPr>
            <a:r>
              <a:rPr sz="900" b="1" i="0">
                <a:solidFill>
                  <a:srgbClr val="7C5CCB"/>
                </a:solidFill>
              </a:rPr>
              <a:t>GEMINI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B5AF0-D8F0-4465-B5E1-759511D9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4988A-F2C6-4E8B-892B-8A79FB7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24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8BDF8"/>
                </a:solidFill>
              </a:defRPr>
            </a:pPr>
            <a:r>
              <a:rPr sz="900" b="1" i="0">
                <a:solidFill>
                  <a:srgbClr val="38BDF8"/>
                </a:solidFill>
              </a:rPr>
              <a:t>ASSEMBLYAI</a:t>
            </a:r>
          </a:p>
        </p:txBody>
      </p:sp>
    </p:spTree>
    <p:extLst>
      <p:ext uri="{BB962C8B-B14F-4D97-AF65-F5344CB8AC3E}">
        <p14:creationId xmlns:p14="http://schemas.microsoft.com/office/powerpoint/2010/main" val="6530939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808E1-5743-4B15-9EEE-860CE518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PRODUCT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61688-D365-4CF8-8A23-2AE15487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08204-C909-4B34-A999-054E0090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A717F-9585-4775-B1F1-6D4D9F66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The AI remains visible, controllable, and inspectable during play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49a8fec794fa3"/>
          <a:srcRect xmlns:a="http://schemas.openxmlformats.org/drawingml/2006/main" l="195" t="0" r="1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1600200"/>
            <a:ext cx="8096250" cy="4572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0FE59-FED0-47FB-9745-B73523AB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781675"/>
            <a:ext cx="9906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DBFB6-74A6-4B48-80F1-4263CC0A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D399"/>
                </a:solidFill>
              </a:defRPr>
            </a:pPr>
            <a:r>
              <a:rPr sz="975" b="1" i="0">
                <a:solidFill>
                  <a:srgbClr val="34D399"/>
                </a:solidFill>
              </a:rPr>
              <a:t>LIVE 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3D374-4985-4A5E-8749-39258A0A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383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Stockfish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45275-CD20-4BA7-BFC7-9EC40221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EMOTION TELEMETRY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B93F2-80A5-43A7-894B-46E927DF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384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soft evidence over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B8268-138C-4FF8-9F5E-1BD9501C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97706"/>
                </a:solidFill>
              </a:defRPr>
            </a:pPr>
            <a:r>
              <a:rPr sz="975" b="1" i="0">
                <a:solidFill>
                  <a:srgbClr val="D97706"/>
                </a:solidFill>
              </a:rPr>
              <a:t>BOT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B0579-51AD-4B6A-954A-74DBB454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386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ELO · depth · 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4557E-9BAB-43B7-B081-ABF79BDD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14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5CCB"/>
                </a:solidFill>
              </a:defRPr>
            </a:pPr>
            <a:r>
              <a:rPr sz="975" b="1" i="0">
                <a:solidFill>
                  <a:srgbClr val="7C5CCB"/>
                </a:solidFill>
              </a:rPr>
              <a:t>AI TABS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7E346-1DF6-4745-95F9-AEB1B924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387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1D18"/>
                </a:solidFill>
              </a:defRPr>
            </a:pPr>
            <a:r>
              <a:rPr sz="1350" b="1" i="0">
                <a:solidFill>
                  <a:srgbClr val="211D18"/>
                </a:solidFill>
              </a:rPr>
              <a:t>coach · logic ·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B93DB-95DE-4522-97E1-6CBE8DF2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6197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0382F"/>
                </a:solidFill>
              </a:defRPr>
            </a:pPr>
            <a:r>
              <a:rPr sz="1425" b="1" i="0">
                <a:solidFill>
                  <a:srgbClr val="40382F"/>
                </a:solidFill>
              </a:rPr>
              <a:t>Manual emotion override keeps the human in control.</a:t>
            </a:r>
          </a:p>
        </p:txBody>
      </p:sp>
    </p:spTree>
    <p:extLst>
      <p:ext uri="{BB962C8B-B14F-4D97-AF65-F5344CB8AC3E}">
        <p14:creationId xmlns:p14="http://schemas.microsoft.com/office/powerpoint/2010/main" val="12410375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7CD05-0CA3-47A2-887D-261F1C25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8C919-3115-420A-8E8C-E745333B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709AC-6D75-4869-BA28-2506165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29239-8831-42AF-9366-F983E67A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Graceful degradation keeps the core game available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CB2AE-8F42-4C52-9C03-5BB3A6A0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3B79D-0343-42DE-BDCB-F165406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DDC62-2A05-46A9-B7DC-8FF98786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97706"/>
                </a:solidFill>
              </a:defRPr>
            </a:pPr>
            <a:r>
              <a:rPr sz="975" b="1" i="0">
                <a:solidFill>
                  <a:srgbClr val="D97706"/>
                </a:solidFill>
              </a:rPr>
              <a:t>PROLOG UNAVAILABLE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9D233-7D70-47C4-BD16-24C84B3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766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Logician shows setup guidance; game logic is unaffected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6D6E8-C49F-45CD-B751-F0E09F50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2D5E4-EBAD-4520-BBD1-8F6B2E05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DA7BC-9043-4D63-8482-817CEFBA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5CCB"/>
                </a:solidFill>
              </a:defRPr>
            </a:pPr>
            <a:r>
              <a:rPr sz="975" b="1" i="0">
                <a:solidFill>
                  <a:srgbClr val="7C5CCB"/>
                </a:solidFill>
              </a:rPr>
              <a:t>LLM UNAVAILABLE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4CFF3-5F72-451B-9D01-0F21003E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71775"/>
            <a:ext cx="766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Structured fallback coach still returns position-aware advice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B630A-20E2-4535-964F-4C9F6F9A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8AB25-1D30-4C36-BBC8-BD999701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592AA-EDF5-45B4-91CF-6F463E5E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CLOUD STT UNAVAILABLE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84078-7CDB-4C26-A5D0-9B608D28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90925"/>
            <a:ext cx="766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Local Whisper or another configured provider can take 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BC216-B762-4A29-9350-26D9B0FB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57B5A-01F0-4219-B0B8-071CBC9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80FBE-95FB-41E4-871A-FCA9D150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D399"/>
                </a:solidFill>
              </a:defRPr>
            </a:pPr>
            <a:r>
              <a:rPr sz="975" b="1" i="0">
                <a:solidFill>
                  <a:srgbClr val="34D399"/>
                </a:solidFill>
              </a:rPr>
              <a:t>STOCKFISH BUSY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B4213-2CE7-4C75-8248-956AB97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10075"/>
            <a:ext cx="766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Bounded engine pool returns an explicit 503 instead of corrupt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BC1BA-1964-4657-81ED-950D3599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78CA9-F7E0-4497-A7EA-0C9CCC1C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7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F899B-6578-4F0E-8B11-ED9DADD8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A7A24"/>
                </a:solidFill>
              </a:defRPr>
            </a:pPr>
            <a:r>
              <a:rPr sz="975" b="1" i="0">
                <a:solidFill>
                  <a:srgbClr val="EA7A24"/>
                </a:solidFill>
              </a:rPr>
              <a:t>STALE UI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43605-3D42-4381-84E1-7843DF82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29225"/>
            <a:ext cx="766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11D18"/>
                </a:solidFill>
              </a:defRPr>
            </a:pPr>
            <a:r>
              <a:rPr sz="1350" b="0" i="0">
                <a:solidFill>
                  <a:srgbClr val="211D18"/>
                </a:solidFill>
              </a:rPr>
              <a:t>Sequence checks ignore obsolete Logician requests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005E84-76C6-49F2-A4FF-E0F3D009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960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0382F"/>
                </a:solidFill>
              </a:defRPr>
            </a:pPr>
            <a:r>
              <a:rPr sz="1650" b="1" i="0">
                <a:solidFill>
                  <a:srgbClr val="40382F"/>
                </a:solidFill>
              </a:rPr>
              <a:t>A robust AI product is defined as much by its boundaries as by its models.</a:t>
            </a:r>
          </a:p>
        </p:txBody>
      </p:sp>
    </p:spTree>
    <p:extLst>
      <p:ext uri="{BB962C8B-B14F-4D97-AF65-F5344CB8AC3E}">
        <p14:creationId xmlns:p14="http://schemas.microsoft.com/office/powerpoint/2010/main" val="6825570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2B3AF-849F-4204-A812-5B29F96D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TEAM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38ABB-B83C-4FF9-95B3-C3B90306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2EE03-E8F8-4545-BE2D-AE834B36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6B60"/>
                </a:solidFill>
              </a:defRPr>
            </a:pPr>
            <a:r>
              <a:rPr sz="900" b="0" i="0">
                <a:solidFill>
                  <a:srgbClr val="746B60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314F1-25EC-426A-A6A1-804DB15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11D18"/>
                </a:solidFill>
              </a:defRPr>
            </a:pPr>
            <a:r>
              <a:rPr sz="2850" b="1" i="0">
                <a:solidFill>
                  <a:srgbClr val="211D18"/>
                </a:solidFill>
              </a:rPr>
              <a:t>Five presenters can tell one connected AI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33B7F-4D85-4875-9DBA-5B9569AA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0382F"/>
                </a:solidFill>
              </a:defRPr>
            </a:pPr>
            <a:r>
              <a:rPr sz="975" b="1" i="0">
                <a:solidFill>
                  <a:srgbClr val="40382F"/>
                </a:solidFill>
              </a:rPr>
              <a:t>MEMBER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C7D57-2D4B-4292-8058-F980D7C2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8592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D18"/>
                </a:solidFill>
              </a:defRPr>
            </a:pPr>
            <a:r>
              <a:rPr sz="1800" b="1" i="0">
                <a:solidFill>
                  <a:srgbClr val="211D18"/>
                </a:solidFill>
              </a:rPr>
              <a:t>Problem +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0D3D0-BC26-4CCF-8772-C8361F06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954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0382F">
              <a:alpha val="13333"/>
            </a:srgbClr>
          </a:solidFill>
          <a:ln xmlns:a="http://schemas.openxmlformats.org/drawingml/2006/main" w="9525">
            <a:solidFill>
              <a:srgbClr val="4038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935EB-A787-4FD3-A795-0112C3E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40382F"/>
                </a:solidFill>
              </a:defRPr>
            </a:pPr>
            <a:r>
              <a:rPr sz="900" b="1" i="0">
                <a:solidFill>
                  <a:srgbClr val="40382F"/>
                </a:solidFill>
              </a:rPr>
              <a:t>Slides 1–4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34D4D-5CAD-44D5-81D2-0CD0F447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D6A2E-CD6E-4C88-9642-E7B3F2F6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MEMBER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B39B4-E31A-4BE9-890B-459390F9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6222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D18"/>
                </a:solidFill>
              </a:defRPr>
            </a:pPr>
            <a:r>
              <a:rPr sz="1800" b="1" i="0">
                <a:solidFill>
                  <a:srgbClr val="211D18"/>
                </a:solidFill>
              </a:rPr>
              <a:t>Emotion perception + adaptation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A465B-8369-41EF-BA57-B071C401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6B131-0F30-48ED-9E15-F9F1D844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90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Slides 5–6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717A7-C227-45DE-A840-1808F84D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49516-700F-48F7-B0EF-CFDB9B56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97706"/>
                </a:solidFill>
              </a:defRPr>
            </a:pPr>
            <a:r>
              <a:rPr sz="975" b="1" i="0">
                <a:solidFill>
                  <a:srgbClr val="D97706"/>
                </a:solidFill>
              </a:rPr>
              <a:t>MEMBER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692A7-A0BF-4637-A280-FC8E59EB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3852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D18"/>
                </a:solidFill>
              </a:defRPr>
            </a:pPr>
            <a:r>
              <a:rPr sz="1800" b="1" i="0">
                <a:solidFill>
                  <a:srgbClr val="211D18"/>
                </a:solidFill>
              </a:rPr>
              <a:t>Prolog deep dive + 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A9B18-8A82-4CE3-8691-04536166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480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706">
              <a:alpha val="13333"/>
            </a:srgbClr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3672A-C560-4B44-9B15-FF2F250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67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Slides 7–10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1F7B0-1BAD-4C03-B82A-322D8029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E67F4-43E1-42EB-9F48-29CA00C8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D399"/>
                </a:solidFill>
              </a:defRPr>
            </a:pPr>
            <a:r>
              <a:rPr sz="975" b="1" i="0">
                <a:solidFill>
                  <a:srgbClr val="34D399"/>
                </a:solidFill>
              </a:rPr>
              <a:t>MEMBER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1DB76-AFA6-45C6-BD2C-D603C4F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D18"/>
                </a:solidFill>
              </a:defRPr>
            </a:pPr>
            <a:r>
              <a:rPr sz="1800" b="1" i="0">
                <a:solidFill>
                  <a:srgbClr val="211D18"/>
                </a:solidFill>
              </a:rPr>
              <a:t>Hybrid search + agents + coach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491E8-E28B-4B04-AE34-5717025C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243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54F5D-2BDE-4CC5-B52F-5C1C58C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43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Slides 11–13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2A678-5C78-42E9-BFD8-0F0EB9A1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672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47C23-C2F5-4687-B805-E3BA0C4C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5CCB"/>
                </a:solidFill>
              </a:defRPr>
            </a:pPr>
            <a:r>
              <a:rPr sz="975" b="1" i="0">
                <a:solidFill>
                  <a:srgbClr val="7C5CCB"/>
                </a:solidFill>
              </a:rPr>
              <a:t>MEMBER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2126C-F49E-4AA5-8075-E53C151E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9112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1D18"/>
                </a:solidFill>
              </a:defRPr>
            </a:pPr>
            <a:r>
              <a:rPr sz="1800" b="1" i="0">
                <a:solidFill>
                  <a:srgbClr val="211D18"/>
                </a:solidFill>
              </a:rPr>
              <a:t>Voice + product + reliability + 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8E7497-BCA2-4372-84F3-0B2765C7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006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5CCB">
              <a:alpha val="13333"/>
            </a:srgbClr>
          </a:solidFill>
          <a:ln xmlns:a="http://schemas.openxmlformats.org/drawingml/2006/main" w="9525">
            <a:solidFill>
              <a:srgbClr val="7C5C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585FC-2049-4308-AC9F-39DA86CB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19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C5CCB"/>
                </a:solidFill>
              </a:defRPr>
            </a:pPr>
            <a:r>
              <a:rPr sz="900" b="1" i="0">
                <a:solidFill>
                  <a:srgbClr val="7C5CCB"/>
                </a:solidFill>
              </a:rPr>
              <a:t>Slides 14–18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9021F-44AA-4B98-B59B-8A7D321C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1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97706"/>
                </a:solidFill>
              </a:defRPr>
            </a:pPr>
            <a:r>
              <a:rPr sz="975" b="1" i="0">
                <a:solidFill>
                  <a:srgbClr val="D97706"/>
                </a:solidFill>
              </a:rPr>
              <a:t>Transition phrase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164EBA-0EBD-45CC-9C16-24B431CB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40382F"/>
                </a:solidFill>
              </a:defRPr>
            </a:pPr>
            <a:r>
              <a:rPr sz="1650" b="0" i="1">
                <a:solidFill>
                  <a:srgbClr val="40382F"/>
                </a:solidFill>
              </a:rPr>
              <a:t>“That layer creates the signal the next layer needs.”</a:t>
            </a:r>
          </a:p>
        </p:txBody>
      </p:sp>
    </p:spTree>
    <p:extLst>
      <p:ext uri="{BB962C8B-B14F-4D97-AF65-F5344CB8AC3E}">
        <p14:creationId xmlns:p14="http://schemas.microsoft.com/office/powerpoint/2010/main" val="780089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9BA72-4EF4-4541-BC88-1AA32A80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7706"/>
                </a:solidFill>
              </a:defRPr>
            </a:pPr>
            <a:r>
              <a:rPr sz="900" b="1" i="0">
                <a:solidFill>
                  <a:srgbClr val="D97706"/>
                </a:solidFill>
              </a:rPr>
              <a:t>SENTIO /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BB321-48B1-4A2D-B62A-5F163437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11D18"/>
                </a:solidFill>
              </a:defRPr>
            </a:pPr>
            <a:r>
              <a:rPr sz="3900" b="1" i="0">
                <a:solidFill>
                  <a:srgbClr val="211D18"/>
                </a:solidFill>
              </a:rPr>
              <a:t>One adaptive loop.</a:t>
            </a:r>
          </a:p>
          <a:p xmlns:a="http://schemas.openxmlformats.org/drawingml/2006/main">
            <a:pPr algn="l">
              <a:defRPr sz="3900" b="1" i="0">
                <a:solidFill>
                  <a:srgbClr val="211D18"/>
                </a:solidFill>
              </a:defRPr>
            </a:pPr>
            <a:r>
              <a:rPr sz="3900" b="1" i="0">
                <a:solidFill>
                  <a:srgbClr val="211D18"/>
                </a:solidFill>
              </a:rPr>
              <a:t>Four forms of intelligence.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86447-B42C-4801-9A09-8E67D1EE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8FA63-1CCD-4E0D-93E7-92EB121D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PERCEPTION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3A616-4659-409F-88AA-7C7F6113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0382F"/>
                </a:solidFill>
              </a:defRPr>
            </a:pPr>
            <a:r>
              <a:rPr sz="1650" b="1" i="0">
                <a:solidFill>
                  <a:srgbClr val="40382F"/>
                </a:solidFill>
              </a:rPr>
              <a:t>reads the player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1A352-0772-4C99-8851-76A3AB82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8C5A1-1D04-450A-814C-0140FFB5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</a:defRPr>
            </a:pPr>
            <a:r>
              <a:rPr sz="1050" b="1" i="0">
                <a:solidFill>
                  <a:srgbClr val="34D399"/>
                </a:solidFill>
              </a:rPr>
              <a:t>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AD141-4A18-4501-88D8-1A8396FF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05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0382F"/>
                </a:solidFill>
              </a:defRPr>
            </a:pPr>
            <a:r>
              <a:rPr sz="1650" b="1" i="0">
                <a:solidFill>
                  <a:srgbClr val="40382F"/>
                </a:solidFill>
              </a:rPr>
              <a:t>reads the 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482DB-2BDB-4C8A-B2DE-A635FBDD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A0CFE-027E-44B4-8836-C4ECC5F2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7706"/>
                </a:solidFill>
              </a:defRPr>
            </a:pPr>
            <a:r>
              <a:rPr sz="1050" b="1" i="0">
                <a:solidFill>
                  <a:srgbClr val="D97706"/>
                </a:solidFill>
              </a:rPr>
              <a:t>PROLOG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7E6C3-C187-4DA0-AAC4-B3772CA0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0382F"/>
                </a:solidFill>
              </a:defRPr>
            </a:pPr>
            <a:r>
              <a:rPr sz="1650" b="1" i="0">
                <a:solidFill>
                  <a:srgbClr val="40382F"/>
                </a:solidFill>
              </a:rPr>
              <a:t>makes rules 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B87E9-3D58-49AA-A0E2-64B85A1A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38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94005-0DFF-4301-881A-A91209D3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76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5CCB"/>
                </a:solidFill>
              </a:defRPr>
            </a:pPr>
            <a:r>
              <a:rPr sz="1050" b="1" i="0">
                <a:solidFill>
                  <a:srgbClr val="7C5CCB"/>
                </a:solidFill>
              </a:rPr>
              <a:t>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D1FD1-6823-452B-83B3-D9706C14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05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0382F"/>
                </a:solidFill>
              </a:defRPr>
            </a:pPr>
            <a:r>
              <a:rPr sz="1650" b="1" i="0">
                <a:solidFill>
                  <a:srgbClr val="40382F"/>
                </a:solidFill>
              </a:rPr>
              <a:t>makes guidance usable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41CD9-27D7-4CB4-AD2E-D88FC6B0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00125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B32FD-3CCD-4978-A7BD-64471CBC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45309"/>
                </a:solidFill>
              </a:defRPr>
            </a:pPr>
            <a:r>
              <a:rPr sz="1050" b="1" i="0">
                <a:solidFill>
                  <a:srgbClr val="B45309"/>
                </a:solidFill>
              </a:rPr>
              <a:t>PROLOG’S 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FAE83-0C4C-4838-833A-26AB3D55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3355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11D18"/>
                </a:solidFill>
              </a:defRPr>
            </a:pPr>
            <a:r>
              <a:rPr sz="1725" b="1" i="0">
                <a:solidFill>
                  <a:srgbClr val="211D18"/>
                </a:solidFill>
              </a:rPr>
              <a:t>position state → explicit facts → prioritized explanation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37C7C-95B2-4A0B-87F0-2E666C0E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11D18"/>
                </a:solidFill>
              </a:defRPr>
            </a:pPr>
            <a:r>
              <a:rPr sz="2025" b="1" i="0">
                <a:solidFill>
                  <a:srgbClr val="211D18"/>
                </a:solidFill>
              </a:rPr>
              <a:t>Sentio demonstrates that trustworthy AI is not one model—it is a well-designed conversation between models, rules, state, and people.</a:t>
            </a:r>
          </a:p>
        </p:txBody>
      </p:sp>
    </p:spTree>
    <p:extLst>
      <p:ext uri="{BB962C8B-B14F-4D97-AF65-F5344CB8AC3E}">
        <p14:creationId xmlns:p14="http://schemas.microsoft.com/office/powerpoint/2010/main" val="242212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2026-08-28T19:43:43.1830000Z</dcterms:created>
  <dcterms:modified xsi:type="dcterms:W3CDTF">2026-08-28T19:43:43.1830000Z</dcterms:modified>
</coreProperties>
</file>